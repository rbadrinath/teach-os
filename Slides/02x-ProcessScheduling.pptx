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66" r:id="rId3"/>
    <p:sldId id="272" r:id="rId4"/>
    <p:sldId id="282" r:id="rId5"/>
    <p:sldId id="273" r:id="rId6"/>
    <p:sldId id="270" r:id="rId7"/>
    <p:sldId id="274" r:id="rId8"/>
    <p:sldId id="275" r:id="rId9"/>
    <p:sldId id="276" r:id="rId10"/>
    <p:sldId id="287" r:id="rId11"/>
    <p:sldId id="278" r:id="rId12"/>
    <p:sldId id="279" r:id="rId13"/>
    <p:sldId id="277" r:id="rId14"/>
    <p:sldId id="290" r:id="rId15"/>
    <p:sldId id="300" r:id="rId16"/>
    <p:sldId id="280" r:id="rId17"/>
    <p:sldId id="288" r:id="rId18"/>
    <p:sldId id="301" r:id="rId19"/>
    <p:sldId id="281" r:id="rId20"/>
    <p:sldId id="289" r:id="rId21"/>
    <p:sldId id="302" r:id="rId22"/>
    <p:sldId id="283" r:id="rId23"/>
    <p:sldId id="285" r:id="rId24"/>
    <p:sldId id="303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71" r:id="rId33"/>
    <p:sldId id="304" r:id="rId34"/>
    <p:sldId id="305" r:id="rId35"/>
    <p:sldId id="28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269" autoAdjust="0"/>
  </p:normalViewPr>
  <p:slideViewPr>
    <p:cSldViewPr snapToGrid="0">
      <p:cViewPr varScale="1">
        <p:scale>
          <a:sx n="60" d="100"/>
          <a:sy n="60" d="100"/>
        </p:scale>
        <p:origin x="11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drinath R" userId="155a43e7-1f5f-414f-9bca-c8a1af989a19" providerId="ADAL" clId="{0108DBCA-A193-487D-A34B-F9FA135F0910}"/>
    <pc:docChg chg="undo redo custSel addSld modSld">
      <pc:chgData name="Badrinath R" userId="155a43e7-1f5f-414f-9bca-c8a1af989a19" providerId="ADAL" clId="{0108DBCA-A193-487D-A34B-F9FA135F0910}" dt="2026-01-29T07:38:26.394" v="446" actId="20577"/>
      <pc:docMkLst>
        <pc:docMk/>
      </pc:docMkLst>
      <pc:sldChg chg="modSp mod">
        <pc:chgData name="Badrinath R" userId="155a43e7-1f5f-414f-9bca-c8a1af989a19" providerId="ADAL" clId="{0108DBCA-A193-487D-A34B-F9FA135F0910}" dt="2026-01-26T17:38:56.274" v="54" actId="113"/>
        <pc:sldMkLst>
          <pc:docMk/>
          <pc:sldMk cId="858303512" sldId="289"/>
        </pc:sldMkLst>
        <pc:spChg chg="mod">
          <ac:chgData name="Badrinath R" userId="155a43e7-1f5f-414f-9bca-c8a1af989a19" providerId="ADAL" clId="{0108DBCA-A193-487D-A34B-F9FA135F0910}" dt="2026-01-26T17:38:56.274" v="54" actId="113"/>
          <ac:spMkLst>
            <pc:docMk/>
            <pc:sldMk cId="858303512" sldId="289"/>
            <ac:spMk id="3" creationId="{00000000-0000-0000-0000-000000000000}"/>
          </ac:spMkLst>
        </pc:spChg>
      </pc:sldChg>
      <pc:sldChg chg="modSp mod">
        <pc:chgData name="Badrinath R" userId="155a43e7-1f5f-414f-9bca-c8a1af989a19" providerId="ADAL" clId="{0108DBCA-A193-487D-A34B-F9FA135F0910}" dt="2026-01-28T16:35:02.264" v="55" actId="6549"/>
        <pc:sldMkLst>
          <pc:docMk/>
          <pc:sldMk cId="2933629701" sldId="303"/>
        </pc:sldMkLst>
        <pc:spChg chg="mod">
          <ac:chgData name="Badrinath R" userId="155a43e7-1f5f-414f-9bca-c8a1af989a19" providerId="ADAL" clId="{0108DBCA-A193-487D-A34B-F9FA135F0910}" dt="2026-01-28T16:35:02.264" v="55" actId="6549"/>
          <ac:spMkLst>
            <pc:docMk/>
            <pc:sldMk cId="2933629701" sldId="303"/>
            <ac:spMk id="3" creationId="{00000000-0000-0000-0000-000000000000}"/>
          </ac:spMkLst>
        </pc:spChg>
      </pc:sldChg>
      <pc:sldChg chg="addSp modSp new mod">
        <pc:chgData name="Badrinath R" userId="155a43e7-1f5f-414f-9bca-c8a1af989a19" providerId="ADAL" clId="{0108DBCA-A193-487D-A34B-F9FA135F0910}" dt="2026-01-29T07:35:21.373" v="349" actId="20577"/>
        <pc:sldMkLst>
          <pc:docMk/>
          <pc:sldMk cId="812227051" sldId="304"/>
        </pc:sldMkLst>
        <pc:spChg chg="mod">
          <ac:chgData name="Badrinath R" userId="155a43e7-1f5f-414f-9bca-c8a1af989a19" providerId="ADAL" clId="{0108DBCA-A193-487D-A34B-F9FA135F0910}" dt="2026-01-29T07:30:35.926" v="96" actId="20577"/>
          <ac:spMkLst>
            <pc:docMk/>
            <pc:sldMk cId="812227051" sldId="304"/>
            <ac:spMk id="2" creationId="{9588DB4F-274D-E855-C2F3-A9B4CF41EA1B}"/>
          </ac:spMkLst>
        </pc:spChg>
        <pc:spChg chg="mod">
          <ac:chgData name="Badrinath R" userId="155a43e7-1f5f-414f-9bca-c8a1af989a19" providerId="ADAL" clId="{0108DBCA-A193-487D-A34B-F9FA135F0910}" dt="2026-01-29T07:35:21.373" v="349" actId="20577"/>
          <ac:spMkLst>
            <pc:docMk/>
            <pc:sldMk cId="812227051" sldId="304"/>
            <ac:spMk id="3" creationId="{4F718514-0E26-F1CB-1B4D-8D583767B2E4}"/>
          </ac:spMkLst>
        </pc:spChg>
        <pc:picChg chg="add mod">
          <ac:chgData name="Badrinath R" userId="155a43e7-1f5f-414f-9bca-c8a1af989a19" providerId="ADAL" clId="{0108DBCA-A193-487D-A34B-F9FA135F0910}" dt="2026-01-29T07:34:52.788" v="314" actId="1076"/>
          <ac:picMkLst>
            <pc:docMk/>
            <pc:sldMk cId="812227051" sldId="304"/>
            <ac:picMk id="5" creationId="{BD13C85C-00AD-AE2A-3C6A-F4015BB843F5}"/>
          </ac:picMkLst>
        </pc:picChg>
      </pc:sldChg>
      <pc:sldChg chg="addSp delSp modSp add mod">
        <pc:chgData name="Badrinath R" userId="155a43e7-1f5f-414f-9bca-c8a1af989a19" providerId="ADAL" clId="{0108DBCA-A193-487D-A34B-F9FA135F0910}" dt="2026-01-29T07:38:26.394" v="446" actId="20577"/>
        <pc:sldMkLst>
          <pc:docMk/>
          <pc:sldMk cId="934761521" sldId="305"/>
        </pc:sldMkLst>
        <pc:spChg chg="mod">
          <ac:chgData name="Badrinath R" userId="155a43e7-1f5f-414f-9bca-c8a1af989a19" providerId="ADAL" clId="{0108DBCA-A193-487D-A34B-F9FA135F0910}" dt="2026-01-29T07:35:48.775" v="352" actId="20577"/>
          <ac:spMkLst>
            <pc:docMk/>
            <pc:sldMk cId="934761521" sldId="305"/>
            <ac:spMk id="2" creationId="{9588DB4F-274D-E855-C2F3-A9B4CF41EA1B}"/>
          </ac:spMkLst>
        </pc:spChg>
        <pc:spChg chg="mod">
          <ac:chgData name="Badrinath R" userId="155a43e7-1f5f-414f-9bca-c8a1af989a19" providerId="ADAL" clId="{0108DBCA-A193-487D-A34B-F9FA135F0910}" dt="2026-01-29T07:38:26.394" v="446" actId="20577"/>
          <ac:spMkLst>
            <pc:docMk/>
            <pc:sldMk cId="934761521" sldId="305"/>
            <ac:spMk id="3" creationId="{4F718514-0E26-F1CB-1B4D-8D583767B2E4}"/>
          </ac:spMkLst>
        </pc:spChg>
        <pc:picChg chg="del">
          <ac:chgData name="Badrinath R" userId="155a43e7-1f5f-414f-9bca-c8a1af989a19" providerId="ADAL" clId="{0108DBCA-A193-487D-A34B-F9FA135F0910}" dt="2026-01-29T07:37:56.567" v="441" actId="478"/>
          <ac:picMkLst>
            <pc:docMk/>
            <pc:sldMk cId="934761521" sldId="305"/>
            <ac:picMk id="5" creationId="{BD13C85C-00AD-AE2A-3C6A-F4015BB843F5}"/>
          </ac:picMkLst>
        </pc:picChg>
        <pc:picChg chg="add mod">
          <ac:chgData name="Badrinath R" userId="155a43e7-1f5f-414f-9bca-c8a1af989a19" providerId="ADAL" clId="{0108DBCA-A193-487D-A34B-F9FA135F0910}" dt="2026-01-29T07:38:17.206" v="445" actId="14100"/>
          <ac:picMkLst>
            <pc:docMk/>
            <pc:sldMk cId="934761521" sldId="305"/>
            <ac:picMk id="6" creationId="{549CC215-B179-4F45-D5DB-F5815CD759E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080D66-82C9-46CA-8E2E-C2E8DB4B765B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6B583-B759-4753-83D3-B937CB125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00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Some explanation:</a:t>
            </a:r>
            <a:r>
              <a:rPr lang="en-US" baseline="0" dirty="0"/>
              <a:t> </a:t>
            </a:r>
            <a:r>
              <a:rPr lang="en-US" dirty="0"/>
              <a:t>https://opensource.com/article/19/2/fair-scheduling-linux</a:t>
            </a:r>
          </a:p>
          <a:p>
            <a:r>
              <a:rPr lang="en-US" dirty="0"/>
              <a:t>Latency computation idea: https://oakbytes.wordpress.com/2012/06/06/linux-scheduler-cfs-and-latency/</a:t>
            </a:r>
          </a:p>
          <a:p>
            <a:r>
              <a:rPr lang="en-US" dirty="0"/>
              <a:t>Detailed explanation https://www.kernel.org/doc/html/v5.5/scheduler/sched-design-CFS.html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6B583-B759-4753-83D3-B937CB12569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4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CD128-5895-433F-9750-A4E79F9AC14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8722-6812-41C3-8A0E-DD4F05582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47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CD128-5895-433F-9750-A4E79F9AC14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8722-6812-41C3-8A0E-DD4F05582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58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CD128-5895-433F-9750-A4E79F9AC14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8722-6812-41C3-8A0E-DD4F05582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81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CD128-5895-433F-9750-A4E79F9AC14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8722-6812-41C3-8A0E-DD4F05582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36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CD128-5895-433F-9750-A4E79F9AC14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8722-6812-41C3-8A0E-DD4F05582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163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CD128-5895-433F-9750-A4E79F9AC14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8722-6812-41C3-8A0E-DD4F05582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347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CD128-5895-433F-9750-A4E79F9AC14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8722-6812-41C3-8A0E-DD4F05582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45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CD128-5895-433F-9750-A4E79F9AC14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8722-6812-41C3-8A0E-DD4F05582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27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CD128-5895-433F-9750-A4E79F9AC14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8722-6812-41C3-8A0E-DD4F05582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85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CD128-5895-433F-9750-A4E79F9AC14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8722-6812-41C3-8A0E-DD4F05582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97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CD128-5895-433F-9750-A4E79F9AC14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18722-6812-41C3-8A0E-DD4F05582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67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CD128-5895-433F-9750-A4E79F9AC14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518722-6812-41C3-8A0E-DD4F05582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457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step.org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lwn.net/Articles/743740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Process Scheduling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lot of the material here is motivated by </a:t>
            </a:r>
            <a:r>
              <a:rPr lang="en-US" dirty="0" err="1"/>
              <a:t>ch</a:t>
            </a:r>
            <a:r>
              <a:rPr lang="en-US" dirty="0"/>
              <a:t> 6,7 in </a:t>
            </a:r>
            <a:r>
              <a:rPr lang="en-US" dirty="0">
                <a:hlinkClick r:id="rId2"/>
              </a:rPr>
              <a:t>www.ostep.org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4288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: Process states and transitions</a:t>
            </a:r>
          </a:p>
        </p:txBody>
      </p:sp>
      <p:sp>
        <p:nvSpPr>
          <p:cNvPr id="8" name="Oval 7"/>
          <p:cNvSpPr/>
          <p:nvPr/>
        </p:nvSpPr>
        <p:spPr>
          <a:xfrm>
            <a:off x="6991386" y="2779909"/>
            <a:ext cx="1554480" cy="142646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Running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5090160" y="3997472"/>
            <a:ext cx="3337147" cy="2464288"/>
            <a:chOff x="5090160" y="3997472"/>
            <a:chExt cx="3337147" cy="2464288"/>
          </a:xfrm>
        </p:grpSpPr>
        <p:sp>
          <p:nvSpPr>
            <p:cNvPr id="10" name="Oval 9"/>
            <p:cNvSpPr/>
            <p:nvPr/>
          </p:nvSpPr>
          <p:spPr>
            <a:xfrm>
              <a:off x="5090160" y="5035296"/>
              <a:ext cx="1554480" cy="142646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Blocked</a:t>
              </a:r>
            </a:p>
          </p:txBody>
        </p:sp>
        <p:cxnSp>
          <p:nvCxnSpPr>
            <p:cNvPr id="18" name="Straight Arrow Connector 17"/>
            <p:cNvCxnSpPr>
              <a:stCxn id="8" idx="3"/>
              <a:endCxn id="10" idx="7"/>
            </p:cNvCxnSpPr>
            <p:nvPr/>
          </p:nvCxnSpPr>
          <p:spPr>
            <a:xfrm flipH="1">
              <a:off x="6416992" y="3997472"/>
              <a:ext cx="802042" cy="12467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6644640" y="4830097"/>
              <a:ext cx="17826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Blocking Request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3074706" y="2779909"/>
            <a:ext cx="2295557" cy="2464288"/>
            <a:chOff x="3074706" y="2779909"/>
            <a:chExt cx="2295557" cy="2464288"/>
          </a:xfrm>
        </p:grpSpPr>
        <p:sp>
          <p:nvSpPr>
            <p:cNvPr id="9" name="Oval 8"/>
            <p:cNvSpPr/>
            <p:nvPr/>
          </p:nvSpPr>
          <p:spPr>
            <a:xfrm>
              <a:off x="3074706" y="2779909"/>
              <a:ext cx="1554480" cy="142646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Ready</a:t>
              </a:r>
            </a:p>
          </p:txBody>
        </p:sp>
        <p:cxnSp>
          <p:nvCxnSpPr>
            <p:cNvPr id="21" name="Straight Arrow Connector 20"/>
            <p:cNvCxnSpPr>
              <a:stCxn id="10" idx="1"/>
              <a:endCxn id="9" idx="5"/>
            </p:cNvCxnSpPr>
            <p:nvPr/>
          </p:nvCxnSpPr>
          <p:spPr>
            <a:xfrm flipH="1" flipV="1">
              <a:off x="4401538" y="3997472"/>
              <a:ext cx="916270" cy="12467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4187952" y="4639056"/>
              <a:ext cx="11823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Unblocked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4587240" y="3186276"/>
            <a:ext cx="2453640" cy="383943"/>
            <a:chOff x="4587240" y="3186276"/>
            <a:chExt cx="2453640" cy="383943"/>
          </a:xfrm>
        </p:grpSpPr>
        <p:cxnSp>
          <p:nvCxnSpPr>
            <p:cNvPr id="24" name="Straight Arrow Connector 23"/>
            <p:cNvCxnSpPr>
              <a:stCxn id="9" idx="6"/>
              <a:endCxn id="8" idx="2"/>
            </p:cNvCxnSpPr>
            <p:nvPr/>
          </p:nvCxnSpPr>
          <p:spPr>
            <a:xfrm>
              <a:off x="4629186" y="3493141"/>
              <a:ext cx="2362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flipH="1" flipV="1">
              <a:off x="4587240" y="3236976"/>
              <a:ext cx="2453640" cy="182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4773168" y="3186276"/>
              <a:ext cx="1917380" cy="38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Kernel scheduling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8318218" y="3925824"/>
            <a:ext cx="2589848" cy="1426464"/>
            <a:chOff x="8318218" y="3925824"/>
            <a:chExt cx="2589848" cy="1426464"/>
          </a:xfrm>
        </p:grpSpPr>
        <p:sp>
          <p:nvSpPr>
            <p:cNvPr id="30" name="Oval 29"/>
            <p:cNvSpPr/>
            <p:nvPr/>
          </p:nvSpPr>
          <p:spPr>
            <a:xfrm>
              <a:off x="9353586" y="3925824"/>
              <a:ext cx="1554480" cy="142646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Terminal</a:t>
              </a:r>
            </a:p>
          </p:txBody>
        </p:sp>
        <p:cxnSp>
          <p:nvCxnSpPr>
            <p:cNvPr id="32" name="Straight Arrow Connector 31"/>
            <p:cNvCxnSpPr>
              <a:stCxn id="8" idx="5"/>
              <a:endCxn id="30" idx="2"/>
            </p:cNvCxnSpPr>
            <p:nvPr/>
          </p:nvCxnSpPr>
          <p:spPr>
            <a:xfrm>
              <a:off x="8318218" y="3997472"/>
              <a:ext cx="1035368" cy="641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/>
          <p:cNvGrpSpPr/>
          <p:nvPr/>
        </p:nvGrpSpPr>
        <p:grpSpPr>
          <a:xfrm>
            <a:off x="8318218" y="1197698"/>
            <a:ext cx="2589848" cy="1794651"/>
            <a:chOff x="8318218" y="1197698"/>
            <a:chExt cx="2589848" cy="1794651"/>
          </a:xfrm>
        </p:grpSpPr>
        <p:sp>
          <p:nvSpPr>
            <p:cNvPr id="29" name="Oval 28"/>
            <p:cNvSpPr/>
            <p:nvPr/>
          </p:nvSpPr>
          <p:spPr>
            <a:xfrm>
              <a:off x="9353586" y="1197698"/>
              <a:ext cx="1554480" cy="142646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Running (U)</a:t>
              </a:r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H="1">
              <a:off x="8318218" y="2022672"/>
              <a:ext cx="1035368" cy="9696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8426548" y="2170059"/>
            <a:ext cx="1055077" cy="1016219"/>
            <a:chOff x="8426548" y="2170059"/>
            <a:chExt cx="1055077" cy="1016219"/>
          </a:xfrm>
        </p:grpSpPr>
        <p:cxnSp>
          <p:nvCxnSpPr>
            <p:cNvPr id="3" name="Straight Arrow Connector 2"/>
            <p:cNvCxnSpPr/>
            <p:nvPr/>
          </p:nvCxnSpPr>
          <p:spPr>
            <a:xfrm flipV="1">
              <a:off x="8426548" y="2213713"/>
              <a:ext cx="1055077" cy="9725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8508756" y="2170059"/>
              <a:ext cx="774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syscall</a:t>
              </a:r>
              <a:endParaRPr lang="en-US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731587" y="2623017"/>
              <a:ext cx="7303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sysret</a:t>
              </a:r>
              <a:endParaRPr lang="en-US" dirty="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559487" y="3211361"/>
            <a:ext cx="2418278" cy="1450411"/>
            <a:chOff x="6559487" y="3211361"/>
            <a:chExt cx="2418278" cy="1450411"/>
          </a:xfrm>
        </p:grpSpPr>
        <p:grpSp>
          <p:nvGrpSpPr>
            <p:cNvPr id="25" name="Group 24"/>
            <p:cNvGrpSpPr/>
            <p:nvPr/>
          </p:nvGrpSpPr>
          <p:grpSpPr>
            <a:xfrm>
              <a:off x="6559487" y="3211361"/>
              <a:ext cx="293283" cy="333771"/>
              <a:chOff x="1399309" y="5180338"/>
              <a:chExt cx="293283" cy="333771"/>
            </a:xfrm>
          </p:grpSpPr>
          <p:sp>
            <p:nvSpPr>
              <p:cNvPr id="23" name="Isosceles Triangle 22"/>
              <p:cNvSpPr/>
              <p:nvPr/>
            </p:nvSpPr>
            <p:spPr>
              <a:xfrm>
                <a:off x="1399309" y="5244197"/>
                <a:ext cx="293283" cy="269912"/>
              </a:xfrm>
              <a:prstGeom prst="triangle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Isosceles Triangle 36"/>
              <p:cNvSpPr/>
              <p:nvPr/>
            </p:nvSpPr>
            <p:spPr>
              <a:xfrm rot="10800000">
                <a:off x="1430897" y="5180338"/>
                <a:ext cx="217794" cy="278908"/>
              </a:xfrm>
              <a:prstGeom prst="triangle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6746470" y="4328001"/>
              <a:ext cx="293283" cy="333771"/>
              <a:chOff x="1399309" y="5180338"/>
              <a:chExt cx="293283" cy="333771"/>
            </a:xfrm>
          </p:grpSpPr>
          <p:sp>
            <p:nvSpPr>
              <p:cNvPr id="40" name="Isosceles Triangle 39"/>
              <p:cNvSpPr/>
              <p:nvPr/>
            </p:nvSpPr>
            <p:spPr>
              <a:xfrm>
                <a:off x="1399309" y="5244197"/>
                <a:ext cx="293283" cy="269912"/>
              </a:xfrm>
              <a:prstGeom prst="triangle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Isosceles Triangle 40"/>
              <p:cNvSpPr/>
              <p:nvPr/>
            </p:nvSpPr>
            <p:spPr>
              <a:xfrm rot="10800000">
                <a:off x="1430897" y="5180338"/>
                <a:ext cx="217794" cy="278908"/>
              </a:xfrm>
              <a:prstGeom prst="triangle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8684482" y="4161115"/>
              <a:ext cx="293283" cy="333771"/>
              <a:chOff x="1399309" y="5180338"/>
              <a:chExt cx="293283" cy="333771"/>
            </a:xfrm>
          </p:grpSpPr>
          <p:sp>
            <p:nvSpPr>
              <p:cNvPr id="43" name="Isosceles Triangle 42"/>
              <p:cNvSpPr/>
              <p:nvPr/>
            </p:nvSpPr>
            <p:spPr>
              <a:xfrm>
                <a:off x="1399309" y="5244197"/>
                <a:ext cx="293283" cy="269912"/>
              </a:xfrm>
              <a:prstGeom prst="triangle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Isosceles Triangle 43"/>
              <p:cNvSpPr/>
              <p:nvPr/>
            </p:nvSpPr>
            <p:spPr>
              <a:xfrm rot="10800000">
                <a:off x="1430897" y="5180338"/>
                <a:ext cx="217794" cy="278908"/>
              </a:xfrm>
              <a:prstGeom prst="triangle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4" name="Group 33"/>
          <p:cNvGrpSpPr/>
          <p:nvPr/>
        </p:nvGrpSpPr>
        <p:grpSpPr>
          <a:xfrm>
            <a:off x="544193" y="5077311"/>
            <a:ext cx="2681430" cy="1304710"/>
            <a:chOff x="544193" y="5077311"/>
            <a:chExt cx="2681430" cy="1304710"/>
          </a:xfrm>
        </p:grpSpPr>
        <p:grpSp>
          <p:nvGrpSpPr>
            <p:cNvPr id="45" name="Group 44"/>
            <p:cNvGrpSpPr/>
            <p:nvPr/>
          </p:nvGrpSpPr>
          <p:grpSpPr>
            <a:xfrm>
              <a:off x="544193" y="5077311"/>
              <a:ext cx="293283" cy="333771"/>
              <a:chOff x="1399309" y="5180338"/>
              <a:chExt cx="293283" cy="333771"/>
            </a:xfrm>
          </p:grpSpPr>
          <p:sp>
            <p:nvSpPr>
              <p:cNvPr id="46" name="Isosceles Triangle 45"/>
              <p:cNvSpPr/>
              <p:nvPr/>
            </p:nvSpPr>
            <p:spPr>
              <a:xfrm>
                <a:off x="1399309" y="5244197"/>
                <a:ext cx="293283" cy="269912"/>
              </a:xfrm>
              <a:prstGeom prst="triangle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Isosceles Triangle 46"/>
              <p:cNvSpPr/>
              <p:nvPr/>
            </p:nvSpPr>
            <p:spPr>
              <a:xfrm rot="10800000">
                <a:off x="1430897" y="5180338"/>
                <a:ext cx="217794" cy="278908"/>
              </a:xfrm>
              <a:prstGeom prst="triangle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1149927" y="5458691"/>
              <a:ext cx="207569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Opportunities </a:t>
              </a:r>
            </a:p>
            <a:p>
              <a:r>
                <a:rPr lang="en-US" dirty="0"/>
                <a:t>context switch to</a:t>
              </a:r>
              <a:br>
                <a:rPr lang="en-US" dirty="0"/>
              </a:br>
              <a:r>
                <a:rPr lang="en-US" dirty="0"/>
                <a:t>run another process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327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Switching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seen how context can be saved and restored.</a:t>
            </a:r>
          </a:p>
          <a:p>
            <a:r>
              <a:rPr lang="en-US" dirty="0"/>
              <a:t>Recall that the PCB holds the context when the process is not running.</a:t>
            </a:r>
          </a:p>
          <a:p>
            <a:r>
              <a:rPr lang="en-US" dirty="0"/>
              <a:t>Goals of context switching from say process A to process B</a:t>
            </a:r>
          </a:p>
          <a:p>
            <a:pPr lvl="1"/>
            <a:r>
              <a:rPr lang="en-US" dirty="0"/>
              <a:t>When process </a:t>
            </a:r>
            <a:r>
              <a:rPr lang="en-US" b="1" dirty="0"/>
              <a:t>A terminated</a:t>
            </a:r>
            <a:r>
              <a:rPr lang="en-US" dirty="0"/>
              <a:t>, then if a process </a:t>
            </a:r>
            <a:r>
              <a:rPr lang="en-US" b="1" dirty="0"/>
              <a:t>B is ready</a:t>
            </a:r>
          </a:p>
          <a:p>
            <a:pPr lvl="1"/>
            <a:r>
              <a:rPr lang="en-US" dirty="0"/>
              <a:t>When process </a:t>
            </a:r>
            <a:r>
              <a:rPr lang="en-US" b="1" dirty="0"/>
              <a:t>A is running</a:t>
            </a:r>
            <a:r>
              <a:rPr lang="en-US" dirty="0"/>
              <a:t>, but becomes blocked, then if a process </a:t>
            </a:r>
            <a:r>
              <a:rPr lang="en-US" b="1" dirty="0"/>
              <a:t>B is ready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When process </a:t>
            </a:r>
            <a:r>
              <a:rPr lang="en-US" b="1" dirty="0"/>
              <a:t>A is running</a:t>
            </a:r>
            <a:r>
              <a:rPr lang="en-US" dirty="0"/>
              <a:t>, but it is </a:t>
            </a:r>
            <a:r>
              <a:rPr lang="en-US" b="1" dirty="0"/>
              <a:t>out of its time quota</a:t>
            </a:r>
            <a:r>
              <a:rPr lang="en-US" dirty="0"/>
              <a:t>, then if process </a:t>
            </a:r>
            <a:r>
              <a:rPr lang="en-US" b="1" dirty="0"/>
              <a:t>B is ready</a:t>
            </a:r>
          </a:p>
          <a:p>
            <a:r>
              <a:rPr lang="en-US" dirty="0"/>
              <a:t>The aim is to make the CPU available to other  processes on the system…. </a:t>
            </a:r>
          </a:p>
          <a:p>
            <a:pPr lvl="1"/>
            <a:endParaRPr lang="en-US" dirty="0"/>
          </a:p>
        </p:txBody>
      </p:sp>
      <p:sp>
        <p:nvSpPr>
          <p:cNvPr id="4" name="Oval Callout 3"/>
          <p:cNvSpPr/>
          <p:nvPr/>
        </p:nvSpPr>
        <p:spPr>
          <a:xfrm>
            <a:off x="8834512" y="5882195"/>
            <a:ext cx="3149884" cy="831273"/>
          </a:xfrm>
          <a:prstGeom prst="wedgeEllipseCallout">
            <a:avLst>
              <a:gd name="adj1" fmla="val -52909"/>
              <a:gd name="adj2" fmla="val -54166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if it is a </a:t>
            </a:r>
            <a:r>
              <a:rPr lang="en-US" dirty="0" err="1">
                <a:solidFill>
                  <a:schemeClr val="tx1"/>
                </a:solidFill>
              </a:rPr>
              <a:t>uni</a:t>
            </a:r>
            <a:r>
              <a:rPr lang="en-US" dirty="0">
                <a:solidFill>
                  <a:schemeClr val="tx1"/>
                </a:solidFill>
              </a:rPr>
              <a:t>/multi-processor systems ?</a:t>
            </a:r>
          </a:p>
        </p:txBody>
      </p:sp>
    </p:spTree>
    <p:extLst>
      <p:ext uri="{BB962C8B-B14F-4D97-AF65-F5344CB8AC3E}">
        <p14:creationId xmlns:p14="http://schemas.microsoft.com/office/powerpoint/2010/main" val="3723927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Run Queue and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the processes that are in the ‘</a:t>
            </a:r>
            <a:r>
              <a:rPr lang="en-US" b="1" dirty="0"/>
              <a:t>Ready</a:t>
            </a:r>
            <a:r>
              <a:rPr lang="en-US" dirty="0"/>
              <a:t>’ state are candidates to be given the CPU.</a:t>
            </a:r>
          </a:p>
          <a:p>
            <a:r>
              <a:rPr lang="en-US" dirty="0"/>
              <a:t>These are put into a list or queue of some sort. This is called </a:t>
            </a:r>
            <a:r>
              <a:rPr lang="en-US" b="1" dirty="0"/>
              <a:t>a Run Queue.</a:t>
            </a:r>
          </a:p>
          <a:p>
            <a:r>
              <a:rPr lang="en-US" dirty="0"/>
              <a:t>In some sense </a:t>
            </a:r>
            <a:r>
              <a:rPr lang="en-US" b="1" dirty="0"/>
              <a:t>Scheduling</a:t>
            </a:r>
            <a:r>
              <a:rPr lang="en-US" dirty="0"/>
              <a:t> is about organizing the run queue and selecting processes from the run queue to be assigned to the CPU.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813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processes on the 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Scheduling is the method of deciding which process to run at a given point in time.</a:t>
            </a:r>
          </a:p>
          <a:p>
            <a:r>
              <a:rPr lang="en-US" dirty="0"/>
              <a:t>Objective of scheduling includes:</a:t>
            </a:r>
          </a:p>
          <a:p>
            <a:pPr lvl="1"/>
            <a:r>
              <a:rPr lang="en-US" dirty="0"/>
              <a:t>Keeping the CPU utilization high</a:t>
            </a:r>
          </a:p>
          <a:p>
            <a:pPr lvl="1"/>
            <a:r>
              <a:rPr lang="en-US" dirty="0"/>
              <a:t>Keeping the users/processes satisfied with their experience</a:t>
            </a:r>
          </a:p>
          <a:p>
            <a:pPr lvl="2"/>
            <a:r>
              <a:rPr lang="en-US" dirty="0"/>
              <a:t>Fairness</a:t>
            </a:r>
          </a:p>
          <a:p>
            <a:pPr lvl="2"/>
            <a:r>
              <a:rPr lang="en-US" dirty="0"/>
              <a:t>Quick response</a:t>
            </a:r>
          </a:p>
          <a:p>
            <a:pPr lvl="2"/>
            <a:r>
              <a:rPr lang="en-US" dirty="0"/>
              <a:t>Quick completion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8007928" y="2881745"/>
            <a:ext cx="1925782" cy="341139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P1    P2 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P3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P4  P5  P6 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P8   P9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...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1734800" y="2881745"/>
            <a:ext cx="27709" cy="318654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748444" y="2881745"/>
            <a:ext cx="25780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</a:t>
            </a:r>
          </a:p>
          <a:p>
            <a:endParaRPr lang="en-US" sz="1400" dirty="0"/>
          </a:p>
          <a:p>
            <a:r>
              <a:rPr lang="en-US" sz="1400" dirty="0"/>
              <a:t>1</a:t>
            </a:r>
          </a:p>
          <a:p>
            <a:endParaRPr lang="en-US" sz="1400" dirty="0"/>
          </a:p>
          <a:p>
            <a:r>
              <a:rPr lang="en-US" sz="1400" dirty="0"/>
              <a:t>2</a:t>
            </a:r>
          </a:p>
          <a:p>
            <a:endParaRPr lang="en-US" sz="1400" dirty="0"/>
          </a:p>
          <a:p>
            <a:r>
              <a:rPr lang="en-US" sz="1400" dirty="0"/>
              <a:t>3</a:t>
            </a:r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4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t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17" name="Rectangle 16"/>
          <p:cNvSpPr/>
          <p:nvPr/>
        </p:nvSpPr>
        <p:spPr>
          <a:xfrm>
            <a:off x="11090145" y="5837905"/>
            <a:ext cx="536864" cy="37407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P2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8778240" y="2881745"/>
            <a:ext cx="2845938" cy="3143197"/>
            <a:chOff x="8778240" y="2881745"/>
            <a:chExt cx="2845938" cy="3143197"/>
          </a:xfrm>
        </p:grpSpPr>
        <p:sp>
          <p:nvSpPr>
            <p:cNvPr id="10" name="Rectangle 9"/>
            <p:cNvSpPr/>
            <p:nvPr/>
          </p:nvSpPr>
          <p:spPr>
            <a:xfrm>
              <a:off x="11087314" y="2881745"/>
              <a:ext cx="536864" cy="3740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1078440" y="3269673"/>
              <a:ext cx="536864" cy="3740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P3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1078435" y="3657608"/>
              <a:ext cx="536864" cy="3740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P9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078425" y="4045536"/>
              <a:ext cx="536864" cy="3740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P2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1078425" y="4433478"/>
              <a:ext cx="536864" cy="3740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P3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1240086" y="5001490"/>
              <a:ext cx="24237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</a:t>
              </a:r>
            </a:p>
            <a:p>
              <a:r>
                <a:rPr lang="en-US" dirty="0"/>
                <a:t>.</a:t>
              </a:r>
            </a:p>
            <a:p>
              <a:r>
                <a:rPr lang="en-US" dirty="0"/>
                <a:t>.</a:t>
              </a:r>
            </a:p>
          </p:txBody>
        </p:sp>
        <p:cxnSp>
          <p:nvCxnSpPr>
            <p:cNvPr id="19" name="Elbow Connector 18"/>
            <p:cNvCxnSpPr>
              <a:endCxn id="10" idx="1"/>
            </p:cNvCxnSpPr>
            <p:nvPr/>
          </p:nvCxnSpPr>
          <p:spPr>
            <a:xfrm flipV="1">
              <a:off x="8778240" y="3068782"/>
              <a:ext cx="2309074" cy="394887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lbow Connector 20"/>
            <p:cNvCxnSpPr>
              <a:endCxn id="17" idx="1"/>
            </p:cNvCxnSpPr>
            <p:nvPr/>
          </p:nvCxnSpPr>
          <p:spPr>
            <a:xfrm rot="16200000" flipH="1">
              <a:off x="9028867" y="3963664"/>
              <a:ext cx="2258566" cy="186398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lbow Connector 37"/>
            <p:cNvCxnSpPr>
              <a:endCxn id="11" idx="1"/>
            </p:cNvCxnSpPr>
            <p:nvPr/>
          </p:nvCxnSpPr>
          <p:spPr>
            <a:xfrm flipV="1">
              <a:off x="9106644" y="3456710"/>
              <a:ext cx="1971796" cy="708572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lbow Connector 43"/>
            <p:cNvCxnSpPr>
              <a:endCxn id="14" idx="1"/>
            </p:cNvCxnSpPr>
            <p:nvPr/>
          </p:nvCxnSpPr>
          <p:spPr>
            <a:xfrm>
              <a:off x="9106644" y="4206462"/>
              <a:ext cx="1971781" cy="414053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Elbow Connector 45"/>
            <p:cNvCxnSpPr>
              <a:endCxn id="12" idx="1"/>
            </p:cNvCxnSpPr>
            <p:nvPr/>
          </p:nvCxnSpPr>
          <p:spPr>
            <a:xfrm flipV="1">
              <a:off x="9369742" y="3844645"/>
              <a:ext cx="1708693" cy="1378093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Elbow Connector 48"/>
            <p:cNvCxnSpPr>
              <a:endCxn id="13" idx="1"/>
            </p:cNvCxnSpPr>
            <p:nvPr/>
          </p:nvCxnSpPr>
          <p:spPr>
            <a:xfrm>
              <a:off x="9226155" y="3766375"/>
              <a:ext cx="1852270" cy="466198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10964536" y="1412384"/>
            <a:ext cx="639656" cy="916765"/>
            <a:chOff x="10964536" y="1412384"/>
            <a:chExt cx="639656" cy="916765"/>
          </a:xfrm>
        </p:grpSpPr>
        <p:pic>
          <p:nvPicPr>
            <p:cNvPr id="6" name="Picture 5" descr="Download Chip Transparent HQ PNG Image | FreePNGIm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73810" y="1698767"/>
              <a:ext cx="630382" cy="63038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</p:pic>
        <p:sp>
          <p:nvSpPr>
            <p:cNvPr id="50" name="TextBox 49"/>
            <p:cNvSpPr txBox="1"/>
            <p:nvPr/>
          </p:nvSpPr>
          <p:spPr>
            <a:xfrm>
              <a:off x="10964536" y="1412384"/>
              <a:ext cx="574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CPU</a:t>
              </a: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8236483" y="2800586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/>
              <a:t>Run queue</a:t>
            </a:r>
          </a:p>
        </p:txBody>
      </p:sp>
    </p:spTree>
    <p:extLst>
      <p:ext uri="{BB962C8B-B14F-4D97-AF65-F5344CB8AC3E}">
        <p14:creationId xmlns:p14="http://schemas.microsoft.com/office/powerpoint/2010/main" val="262879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/>
      <p:bldP spid="17" grpId="0" animBg="1"/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Scheduling Metrics and Job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TAT (Turnaround time) = Completion Time – Arrival Time</a:t>
            </a:r>
          </a:p>
          <a:p>
            <a:r>
              <a:rPr lang="en-US" dirty="0"/>
              <a:t>Some assumptions about processes that may or may not hold:</a:t>
            </a:r>
          </a:p>
          <a:p>
            <a:pPr lvl="1"/>
            <a:r>
              <a:rPr lang="en-US" dirty="0"/>
              <a:t>A1:  All processes have the same execution time, say 10s</a:t>
            </a:r>
          </a:p>
          <a:p>
            <a:pPr lvl="1"/>
            <a:r>
              <a:rPr lang="en-US" dirty="0"/>
              <a:t>A2: Arrive at the same time</a:t>
            </a:r>
          </a:p>
          <a:p>
            <a:pPr lvl="1"/>
            <a:r>
              <a:rPr lang="en-US" dirty="0"/>
              <a:t>A3: No preemption: once started, a process is given CPU till it is complete</a:t>
            </a:r>
          </a:p>
          <a:p>
            <a:pPr lvl="1"/>
            <a:r>
              <a:rPr lang="en-US" dirty="0"/>
              <a:t>A4: No processes are blocked (e.g., they don’t perform IO)</a:t>
            </a:r>
          </a:p>
          <a:p>
            <a:pPr lvl="1"/>
            <a:r>
              <a:rPr lang="en-US" dirty="0"/>
              <a:t>A5: We know the run time of each process</a:t>
            </a:r>
          </a:p>
          <a:p>
            <a:pPr marL="0" indent="0">
              <a:buNone/>
            </a:pPr>
            <a:r>
              <a:rPr lang="en-US" dirty="0"/>
              <a:t>Simplest method would be to schedule jobs in the order in which they arrive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372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FCFS or FIFO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run processes as they arrive and run them to completion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Average TAT = 10+20+30 / 3 = 20,    would be the same if order changed</a:t>
            </a:r>
          </a:p>
          <a:p>
            <a:endParaRPr lang="en-US" dirty="0"/>
          </a:p>
          <a:p>
            <a:r>
              <a:rPr lang="en-US" dirty="0"/>
              <a:t>What if we drop A1 – so </a:t>
            </a:r>
            <a:r>
              <a:rPr lang="en-US" dirty="0">
                <a:solidFill>
                  <a:srgbClr val="FF0000"/>
                </a:solidFill>
              </a:rPr>
              <a:t>if execution times are unequal</a:t>
            </a:r>
            <a:r>
              <a:rPr lang="en-US" dirty="0"/>
              <a:t>: </a:t>
            </a:r>
          </a:p>
          <a:p>
            <a:endParaRPr 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1042416" y="2670048"/>
            <a:ext cx="4754880" cy="844820"/>
            <a:chOff x="6858000" y="146304"/>
            <a:chExt cx="4754880" cy="844820"/>
          </a:xfrm>
        </p:grpSpPr>
        <p:cxnSp>
          <p:nvCxnSpPr>
            <p:cNvPr id="5" name="Straight Arrow Connector 4"/>
            <p:cNvCxnSpPr/>
            <p:nvPr/>
          </p:nvCxnSpPr>
          <p:spPr>
            <a:xfrm>
              <a:off x="6858000" y="603504"/>
              <a:ext cx="4754880" cy="182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/>
            <p:cNvSpPr/>
            <p:nvPr/>
          </p:nvSpPr>
          <p:spPr>
            <a:xfrm>
              <a:off x="7260336" y="146304"/>
              <a:ext cx="1024128" cy="4754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8284464" y="146304"/>
              <a:ext cx="1024128" cy="47548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9307068" y="146304"/>
              <a:ext cx="1024128" cy="47548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130847" y="621792"/>
              <a:ext cx="33842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0               10               20               30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042416" y="5752589"/>
            <a:ext cx="10675620" cy="846784"/>
            <a:chOff x="1042416" y="5752589"/>
            <a:chExt cx="10675620" cy="846784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1042416" y="6230041"/>
              <a:ext cx="4754880" cy="182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/>
            <p:cNvSpPr/>
            <p:nvPr/>
          </p:nvSpPr>
          <p:spPr>
            <a:xfrm>
              <a:off x="1444752" y="5754553"/>
              <a:ext cx="2103120" cy="4754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547872" y="5754553"/>
              <a:ext cx="1024128" cy="47548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570476" y="5754553"/>
              <a:ext cx="1024128" cy="47548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15262" y="6230041"/>
              <a:ext cx="48295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0               10               20               30                 40    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>
              <a:off x="6615684" y="6230041"/>
              <a:ext cx="4754880" cy="182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9029700" y="5754553"/>
              <a:ext cx="2103120" cy="4754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983019" y="5752589"/>
              <a:ext cx="1024128" cy="47548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005623" y="5752589"/>
              <a:ext cx="1024128" cy="47548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888530" y="6230041"/>
              <a:ext cx="48295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0               10               20               30                 40    </a:t>
              </a: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6430882" y="2388584"/>
            <a:ext cx="295613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Equal execution times (10)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arrive together (at t=0)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preemption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times known</a:t>
            </a:r>
          </a:p>
        </p:txBody>
      </p:sp>
      <p:sp>
        <p:nvSpPr>
          <p:cNvPr id="9" name="Freeform 8"/>
          <p:cNvSpPr/>
          <p:nvPr/>
        </p:nvSpPr>
        <p:spPr>
          <a:xfrm>
            <a:off x="11224260" y="5431272"/>
            <a:ext cx="365760" cy="559061"/>
          </a:xfrm>
          <a:custGeom>
            <a:avLst/>
            <a:gdLst>
              <a:gd name="connsiteX0" fmla="*/ 0 w 562708"/>
              <a:gd name="connsiteY0" fmla="*/ 618979 h 919728"/>
              <a:gd name="connsiteX1" fmla="*/ 168813 w 562708"/>
              <a:gd name="connsiteY1" fmla="*/ 731520 h 919728"/>
              <a:gd name="connsiteX2" fmla="*/ 225083 w 562708"/>
              <a:gd name="connsiteY2" fmla="*/ 914400 h 919728"/>
              <a:gd name="connsiteX3" fmla="*/ 323557 w 562708"/>
              <a:gd name="connsiteY3" fmla="*/ 506437 h 919728"/>
              <a:gd name="connsiteX4" fmla="*/ 464234 w 562708"/>
              <a:gd name="connsiteY4" fmla="*/ 168813 h 919728"/>
              <a:gd name="connsiteX5" fmla="*/ 464234 w 562708"/>
              <a:gd name="connsiteY5" fmla="*/ 168813 h 919728"/>
              <a:gd name="connsiteX6" fmla="*/ 562708 w 562708"/>
              <a:gd name="connsiteY6" fmla="*/ 0 h 919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2708" h="919728">
                <a:moveTo>
                  <a:pt x="0" y="618979"/>
                </a:moveTo>
                <a:cubicBezTo>
                  <a:pt x="65649" y="650631"/>
                  <a:pt x="131299" y="682283"/>
                  <a:pt x="168813" y="731520"/>
                </a:cubicBezTo>
                <a:cubicBezTo>
                  <a:pt x="206327" y="780757"/>
                  <a:pt x="199292" y="951914"/>
                  <a:pt x="225083" y="914400"/>
                </a:cubicBezTo>
                <a:cubicBezTo>
                  <a:pt x="250874" y="876886"/>
                  <a:pt x="283699" y="630702"/>
                  <a:pt x="323557" y="506437"/>
                </a:cubicBezTo>
                <a:cubicBezTo>
                  <a:pt x="363416" y="382172"/>
                  <a:pt x="464234" y="168813"/>
                  <a:pt x="464234" y="168813"/>
                </a:cubicBezTo>
                <a:lnTo>
                  <a:pt x="464234" y="168813"/>
                </a:lnTo>
                <a:lnTo>
                  <a:pt x="562708" y="0"/>
                </a:lnTo>
              </a:path>
            </a:pathLst>
          </a:custGeom>
          <a:noFill/>
          <a:ln w="28575"/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08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SJF – Being sensitive to the job length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A1 doesn’t hold, then it is good to schedule shorter jobs early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if assumption A2 doesn’t hold –</a:t>
            </a:r>
            <a:r>
              <a:rPr lang="en-US" dirty="0">
                <a:solidFill>
                  <a:srgbClr val="FF0000"/>
                </a:solidFill>
              </a:rPr>
              <a:t> jobs can arrive any time</a:t>
            </a:r>
            <a:r>
              <a:rPr lang="en-US" dirty="0"/>
              <a:t>? Then even SJF wouldn’t be helpful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1220724" y="2852928"/>
            <a:ext cx="4777740" cy="12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34740" y="2389561"/>
            <a:ext cx="2103120" cy="4754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1588059" y="2387597"/>
            <a:ext cx="1024128" cy="47548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7" name="Rectangle 6"/>
          <p:cNvSpPr/>
          <p:nvPr/>
        </p:nvSpPr>
        <p:spPr>
          <a:xfrm>
            <a:off x="2610663" y="2387597"/>
            <a:ext cx="1024128" cy="4754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3570" y="2865049"/>
            <a:ext cx="4829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0               10               20               30                 40    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220724" y="4620697"/>
            <a:ext cx="5102352" cy="2060079"/>
            <a:chOff x="1220724" y="4620697"/>
            <a:chExt cx="5102352" cy="2060079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1220724" y="5096185"/>
              <a:ext cx="4754880" cy="182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1623060" y="4620697"/>
              <a:ext cx="2103120" cy="4754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726180" y="4620697"/>
              <a:ext cx="1024128" cy="47548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748784" y="4620697"/>
              <a:ext cx="1024128" cy="47548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493570" y="5096185"/>
              <a:ext cx="48295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0               10               20               30                 40    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V="1">
              <a:off x="2013333" y="5105329"/>
              <a:ext cx="0" cy="72454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013333" y="5645212"/>
              <a:ext cx="1487267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B and C arrive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V="1">
              <a:off x="1623060" y="5096185"/>
              <a:ext cx="0" cy="12863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1628724" y="6311444"/>
              <a:ext cx="1001556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A arrives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9663872" y="365125"/>
            <a:ext cx="252812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>
                <a:solidFill>
                  <a:srgbClr val="FF0000"/>
                </a:solidFill>
              </a:rPr>
              <a:t>Equal execution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arrive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preemption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times known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3335" y="5096185"/>
            <a:ext cx="4183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Cant do much </a:t>
            </a:r>
            <a:r>
              <a:rPr lang="en-US" i="1" dirty="0"/>
              <a:t>unless we allow preemption</a:t>
            </a:r>
          </a:p>
        </p:txBody>
      </p:sp>
    </p:spTree>
    <p:extLst>
      <p:ext uri="{BB962C8B-B14F-4D97-AF65-F5344CB8AC3E}">
        <p14:creationId xmlns:p14="http://schemas.microsoft.com/office/powerpoint/2010/main" val="111620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STCF – Taking into account preemption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8632"/>
          </a:xfrm>
        </p:spPr>
        <p:txBody>
          <a:bodyPr/>
          <a:lstStyle/>
          <a:p>
            <a:r>
              <a:rPr lang="en-US" dirty="0"/>
              <a:t>If we additionally relax A3 – </a:t>
            </a:r>
            <a:r>
              <a:rPr lang="en-US" dirty="0" err="1"/>
              <a:t>ie</a:t>
            </a:r>
            <a:r>
              <a:rPr lang="en-US" dirty="0"/>
              <a:t> running jobs can be preempted then we have a new possibility – </a:t>
            </a:r>
          </a:p>
          <a:p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838200" y="3688009"/>
            <a:ext cx="4754880" cy="18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240536" y="3212521"/>
            <a:ext cx="3127248" cy="4754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6" name="Rectangle 5"/>
          <p:cNvSpPr/>
          <p:nvPr/>
        </p:nvSpPr>
        <p:spPr>
          <a:xfrm>
            <a:off x="4368521" y="3212521"/>
            <a:ext cx="1024128" cy="47548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3386" y="3212521"/>
            <a:ext cx="1024128" cy="47548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046" y="3688009"/>
            <a:ext cx="580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0               10               20               30                 40                50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2242271" y="3699290"/>
            <a:ext cx="0" cy="72454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42271" y="4239173"/>
            <a:ext cx="148726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B and C arrive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1230206" y="3690146"/>
            <a:ext cx="0" cy="1286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35870" y="4905405"/>
            <a:ext cx="100155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 arrives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3928" y="3364992"/>
            <a:ext cx="293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Avg</a:t>
            </a:r>
            <a:r>
              <a:rPr lang="en-US" dirty="0"/>
              <a:t> TAT=(30+30+40)/3=33.33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6086856" y="4056904"/>
            <a:ext cx="6105144" cy="2670836"/>
            <a:chOff x="6086856" y="4056904"/>
            <a:chExt cx="6105144" cy="2670836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6086856" y="5143149"/>
              <a:ext cx="4754880" cy="182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6489192" y="4667661"/>
              <a:ext cx="1022605" cy="4754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513320" y="4667661"/>
              <a:ext cx="1022605" cy="47548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535923" y="4667661"/>
              <a:ext cx="1024128" cy="47548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59702" y="5143149"/>
              <a:ext cx="58322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0               10               20               30                 40              50  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V="1">
              <a:off x="7501257" y="5152293"/>
              <a:ext cx="0" cy="724549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7501257" y="5692176"/>
              <a:ext cx="1487267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B and C arrive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V="1">
              <a:off x="6489192" y="5143149"/>
              <a:ext cx="0" cy="12863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6494856" y="6358408"/>
              <a:ext cx="1001556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A arrives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560051" y="4667661"/>
              <a:ext cx="2013205" cy="4754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819395" y="6337596"/>
              <a:ext cx="2935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Avg</a:t>
              </a:r>
              <a:r>
                <a:rPr lang="en-US" dirty="0"/>
                <a:t> TAT=(50+10+20)/3=26.66</a:t>
              </a:r>
            </a:p>
          </p:txBody>
        </p:sp>
        <p:cxnSp>
          <p:nvCxnSpPr>
            <p:cNvPr id="26" name="Curved Connector 25"/>
            <p:cNvCxnSpPr/>
            <p:nvPr/>
          </p:nvCxnSpPr>
          <p:spPr>
            <a:xfrm rot="10800000" flipV="1">
              <a:off x="7511799" y="4180321"/>
              <a:ext cx="2048253" cy="487338"/>
            </a:xfrm>
            <a:prstGeom prst="curvedConnector3">
              <a:avLst>
                <a:gd name="adj1" fmla="val 91964"/>
              </a:avLst>
            </a:prstGeom>
            <a:ln>
              <a:solidFill>
                <a:schemeClr val="accent2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9642055" y="4056904"/>
              <a:ext cx="12899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Preemption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9790481" y="168602"/>
            <a:ext cx="252812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Equal execution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>
                <a:solidFill>
                  <a:srgbClr val="FF0000"/>
                </a:solidFill>
              </a:rPr>
              <a:t>All arrive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>
                <a:solidFill>
                  <a:srgbClr val="FF0000"/>
                </a:solidFill>
              </a:rPr>
              <a:t>No preemption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times known</a:t>
            </a:r>
          </a:p>
        </p:txBody>
      </p:sp>
    </p:spTree>
    <p:extLst>
      <p:ext uri="{BB962C8B-B14F-4D97-AF65-F5344CB8AC3E}">
        <p14:creationId xmlns:p14="http://schemas.microsoft.com/office/powerpoint/2010/main" val="1828484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the above is reasonable in a few situations, it is not suitable in general.</a:t>
            </a:r>
          </a:p>
          <a:p>
            <a:r>
              <a:rPr lang="en-US" dirty="0"/>
              <a:t>Not good where we have interactive jobs, the reason is we are not measuring how responsive a system is.</a:t>
            </a:r>
          </a:p>
          <a:p>
            <a:r>
              <a:rPr lang="en-US" dirty="0"/>
              <a:t>Each user would like to get the feeling that some progress is being made on that user’s job.</a:t>
            </a:r>
          </a:p>
          <a:p>
            <a:r>
              <a:rPr lang="en-US" dirty="0"/>
              <a:t>This introduces the notion of using </a:t>
            </a:r>
            <a:r>
              <a:rPr lang="en-US" u="sng" dirty="0"/>
              <a:t>time based preemption </a:t>
            </a:r>
            <a:r>
              <a:rPr lang="en-US" dirty="0"/>
              <a:t>and resumption… perhaps using  </a:t>
            </a:r>
            <a:r>
              <a:rPr lang="en-US" u="sng" dirty="0"/>
              <a:t>time slices </a:t>
            </a:r>
            <a:r>
              <a:rPr lang="en-US" dirty="0"/>
              <a:t>as the unit of scheduling.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790481" y="168602"/>
            <a:ext cx="252812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Equal execution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All arrive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No preemption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times known</a:t>
            </a:r>
          </a:p>
        </p:txBody>
      </p:sp>
    </p:spTree>
    <p:extLst>
      <p:ext uri="{BB962C8B-B14F-4D97-AF65-F5344CB8AC3E}">
        <p14:creationId xmlns:p14="http://schemas.microsoft.com/office/powerpoint/2010/main" val="1394471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Preemption and the Response time </a:t>
            </a:r>
            <a:br>
              <a:rPr lang="en-US" dirty="0"/>
            </a:br>
            <a:r>
              <a:rPr lang="en-US" dirty="0"/>
              <a:t>metric – Round Robin (RR)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760" y="1679321"/>
            <a:ext cx="10515600" cy="5361560"/>
          </a:xfrm>
        </p:spPr>
        <p:txBody>
          <a:bodyPr>
            <a:normAutofit/>
          </a:bodyPr>
          <a:lstStyle/>
          <a:p>
            <a:r>
              <a:rPr lang="en-US" dirty="0"/>
              <a:t>For </a:t>
            </a:r>
            <a:r>
              <a:rPr lang="en-US" b="1" dirty="0"/>
              <a:t>interactive processes </a:t>
            </a:r>
            <a:r>
              <a:rPr lang="en-US" dirty="0"/>
              <a:t>it is important for the user to experience some progress – This is what we commonly have in most General Purpose OS setups.  </a:t>
            </a:r>
            <a:r>
              <a:rPr lang="en-US" b="1" dirty="0"/>
              <a:t>Response Time </a:t>
            </a:r>
            <a:r>
              <a:rPr lang="en-US" dirty="0"/>
              <a:t>is the time to wait for CPU access.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Round Robin (time slicing) </a:t>
            </a:r>
            <a:r>
              <a:rPr lang="en-US" dirty="0"/>
              <a:t>is the simplest form of preemptive scheduling to reduce response time</a:t>
            </a:r>
          </a:p>
          <a:p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838200" y="3578884"/>
            <a:ext cx="4754880" cy="844820"/>
            <a:chOff x="6858000" y="146304"/>
            <a:chExt cx="4754880" cy="844820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6858000" y="603504"/>
              <a:ext cx="4754880" cy="182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7260336" y="146304"/>
              <a:ext cx="1024128" cy="4754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284464" y="146304"/>
              <a:ext cx="1024128" cy="47548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307068" y="146304"/>
              <a:ext cx="1024128" cy="47548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30847" y="621792"/>
              <a:ext cx="33842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0               10               20               30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5995416" y="3611682"/>
            <a:ext cx="4712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Response Time = Time to first access to CPU</a:t>
            </a:r>
          </a:p>
          <a:p>
            <a:endParaRPr lang="en-US" dirty="0"/>
          </a:p>
          <a:p>
            <a:r>
              <a:rPr lang="en-US" dirty="0"/>
              <a:t>RT(A)=0,      RT(B)= 10,          RT(C)  = 20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838200" y="4951151"/>
            <a:ext cx="9258300" cy="1026414"/>
            <a:chOff x="838200" y="4951151"/>
            <a:chExt cx="9258300" cy="1026414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838200" y="5414447"/>
              <a:ext cx="4754880" cy="182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/>
            <p:cNvSpPr/>
            <p:nvPr/>
          </p:nvSpPr>
          <p:spPr>
            <a:xfrm>
              <a:off x="1240536" y="4963343"/>
              <a:ext cx="204216" cy="4754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11047" y="5432735"/>
              <a:ext cx="33842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0               10               20               30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392936" y="4963343"/>
              <a:ext cx="204216" cy="47548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545336" y="4963343"/>
              <a:ext cx="204216" cy="47548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758696" y="4951151"/>
              <a:ext cx="204216" cy="4754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911096" y="4951151"/>
              <a:ext cx="204216" cy="47548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063496" y="4951151"/>
              <a:ext cx="204216" cy="47548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289048" y="4951151"/>
              <a:ext cx="204216" cy="4754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441448" y="4951151"/>
              <a:ext cx="204216" cy="47548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593848" y="4951151"/>
              <a:ext cx="204216" cy="47548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807208" y="4957247"/>
              <a:ext cx="204216" cy="4754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2959608" y="4957247"/>
              <a:ext cx="204216" cy="47548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112008" y="4957247"/>
              <a:ext cx="204216" cy="47548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331464" y="4951151"/>
              <a:ext cx="204216" cy="4754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483864" y="4951151"/>
              <a:ext cx="204216" cy="47548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636264" y="4951151"/>
              <a:ext cx="204216" cy="47548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849624" y="4957247"/>
              <a:ext cx="204216" cy="4754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4002024" y="4957247"/>
              <a:ext cx="204216" cy="47548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154424" y="4957247"/>
              <a:ext cx="204216" cy="47548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999988" y="5331234"/>
              <a:ext cx="40965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RT(A)= 0 ,    RT(B) =  1.66,    RT(C ) = 3.3</a:t>
              </a:r>
            </a:p>
            <a:p>
              <a:endParaRPr lang="en-US" dirty="0"/>
            </a:p>
          </p:txBody>
        </p:sp>
      </p:grpSp>
      <p:sp>
        <p:nvSpPr>
          <p:cNvPr id="57" name="TextBox 56"/>
          <p:cNvSpPr txBox="1"/>
          <p:nvPr/>
        </p:nvSpPr>
        <p:spPr>
          <a:xfrm rot="19291234">
            <a:off x="9573209" y="4681949"/>
            <a:ext cx="2932213" cy="40011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228600">
              <a:srgbClr val="FFFF00">
                <a:alpha val="40000"/>
              </a:srgbClr>
            </a:glow>
          </a:effectLst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Bahnschrift SemiBold" panose="020B0502040204020203" pitchFamily="34" charset="0"/>
              </a:rPr>
              <a:t>Notice Metric Tradeoff !!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90481" y="168602"/>
            <a:ext cx="252812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Equal execution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All arrive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No preemption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times known</a:t>
            </a:r>
          </a:p>
        </p:txBody>
      </p:sp>
    </p:spTree>
    <p:extLst>
      <p:ext uri="{BB962C8B-B14F-4D97-AF65-F5344CB8AC3E}">
        <p14:creationId xmlns:p14="http://schemas.microsoft.com/office/powerpoint/2010/main" val="2024219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 Robin’s unintended overhead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Context switch overhead</a:t>
            </a:r>
          </a:p>
          <a:p>
            <a:r>
              <a:rPr lang="en-US" dirty="0"/>
              <a:t>Cache line inefficiency</a:t>
            </a:r>
          </a:p>
          <a:p>
            <a:r>
              <a:rPr lang="en-US" dirty="0"/>
              <a:t>Paging inefficiency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So one needs to balance the time slice size appropriately. </a:t>
            </a:r>
          </a:p>
          <a:p>
            <a:pPr lvl="1"/>
            <a:r>
              <a:rPr lang="en-US" dirty="0"/>
              <a:t>Too small means we have too much overhead/ inefficiencies</a:t>
            </a:r>
          </a:p>
          <a:p>
            <a:pPr lvl="1"/>
            <a:r>
              <a:rPr lang="en-US" dirty="0"/>
              <a:t>Too large means we increase response time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554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Overlap of I/O and CPU -</a:t>
            </a:r>
            <a:br>
              <a:rPr lang="en-US" dirty="0"/>
            </a:br>
            <a:r>
              <a:rPr lang="en-US" dirty="0"/>
              <a:t>Blocked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055713" cy="4351338"/>
          </a:xfrm>
        </p:spPr>
        <p:txBody>
          <a:bodyPr/>
          <a:lstStyle/>
          <a:p>
            <a:r>
              <a:rPr lang="en-US" dirty="0"/>
              <a:t>Most processes at some point in time will do IO</a:t>
            </a:r>
          </a:p>
          <a:p>
            <a:r>
              <a:rPr lang="en-US" dirty="0"/>
              <a:t>IO is significantly slow. </a:t>
            </a:r>
          </a:p>
          <a:p>
            <a:pPr lvl="1"/>
            <a:r>
              <a:rPr lang="en-US" dirty="0"/>
              <a:t>If a process is waiting for IO (hence </a:t>
            </a:r>
            <a:r>
              <a:rPr lang="en-US" b="1" dirty="0"/>
              <a:t>blocked</a:t>
            </a:r>
            <a:r>
              <a:rPr lang="en-US" dirty="0"/>
              <a:t> from making progress) it makes a lot of sense to let the CPU be used by other processes</a:t>
            </a:r>
          </a:p>
          <a:p>
            <a:pPr lvl="1"/>
            <a:r>
              <a:rPr lang="en-US" dirty="0"/>
              <a:t>A process could be </a:t>
            </a:r>
            <a:r>
              <a:rPr lang="en-US" b="1" dirty="0"/>
              <a:t>blocked</a:t>
            </a:r>
            <a:r>
              <a:rPr lang="en-US" dirty="0"/>
              <a:t> for other reasons too.</a:t>
            </a:r>
          </a:p>
          <a:p>
            <a:r>
              <a:rPr lang="en-US" dirty="0"/>
              <a:t>Thus each IO request is an opportunity to switch CPU to another process.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90481" y="168602"/>
            <a:ext cx="252812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Equal execution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All arrive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No preemption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>
                <a:solidFill>
                  <a:srgbClr val="FF0000"/>
                </a:solidFill>
              </a:rPr>
              <a:t>No 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times known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747120" y="4766282"/>
            <a:ext cx="4754880" cy="844820"/>
            <a:chOff x="6858000" y="146304"/>
            <a:chExt cx="4754880" cy="844820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6858000" y="603504"/>
              <a:ext cx="4754880" cy="182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/>
            <p:cNvSpPr/>
            <p:nvPr/>
          </p:nvSpPr>
          <p:spPr>
            <a:xfrm>
              <a:off x="7260336" y="146304"/>
              <a:ext cx="1024128" cy="4754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8284464" y="146304"/>
              <a:ext cx="1024128" cy="475488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9307068" y="146304"/>
              <a:ext cx="1024128" cy="47548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130847" y="621792"/>
              <a:ext cx="33842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0               10               20               30</a:t>
              </a:r>
            </a:p>
          </p:txBody>
        </p:sp>
      </p:grpSp>
      <p:sp>
        <p:nvSpPr>
          <p:cNvPr id="39" name="Rectangle 38"/>
          <p:cNvSpPr/>
          <p:nvPr/>
        </p:nvSpPr>
        <p:spPr>
          <a:xfrm>
            <a:off x="2585154" y="4795785"/>
            <a:ext cx="377075" cy="429768"/>
          </a:xfrm>
          <a:prstGeom prst="rect">
            <a:avLst/>
          </a:prstGeom>
          <a:pattFill prst="lgCheck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745833" y="5629390"/>
            <a:ext cx="5756167" cy="926793"/>
            <a:chOff x="745833" y="5629390"/>
            <a:chExt cx="5756167" cy="926793"/>
          </a:xfrm>
        </p:grpSpPr>
        <p:grpSp>
          <p:nvGrpSpPr>
            <p:cNvPr id="33" name="Group 32"/>
            <p:cNvGrpSpPr/>
            <p:nvPr/>
          </p:nvGrpSpPr>
          <p:grpSpPr>
            <a:xfrm>
              <a:off x="1747120" y="5629390"/>
              <a:ext cx="4754880" cy="844820"/>
              <a:chOff x="6858000" y="146304"/>
              <a:chExt cx="4754880" cy="844820"/>
            </a:xfrm>
          </p:grpSpPr>
          <p:cxnSp>
            <p:nvCxnSpPr>
              <p:cNvPr id="34" name="Straight Arrow Connector 33"/>
              <p:cNvCxnSpPr/>
              <p:nvPr/>
            </p:nvCxnSpPr>
            <p:spPr>
              <a:xfrm>
                <a:off x="6858000" y="603504"/>
                <a:ext cx="4754880" cy="1828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Rectangle 34"/>
              <p:cNvSpPr/>
              <p:nvPr/>
            </p:nvSpPr>
            <p:spPr>
              <a:xfrm>
                <a:off x="7260336" y="146304"/>
                <a:ext cx="1024128" cy="47548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A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7688961" y="147471"/>
                <a:ext cx="1318852" cy="475488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9007813" y="148386"/>
                <a:ext cx="1024128" cy="475488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7130847" y="621792"/>
                <a:ext cx="33842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0               10               20               30</a:t>
                </a:r>
              </a:p>
            </p:txBody>
          </p:sp>
        </p:grpSp>
        <p:sp>
          <p:nvSpPr>
            <p:cNvPr id="40" name="Rectangle 39"/>
            <p:cNvSpPr/>
            <p:nvPr/>
          </p:nvSpPr>
          <p:spPr>
            <a:xfrm>
              <a:off x="2585154" y="6126415"/>
              <a:ext cx="377075" cy="429768"/>
            </a:xfrm>
            <a:prstGeom prst="rect">
              <a:avLst/>
            </a:prstGeom>
            <a:pattFill prst="lgCheck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2986199" y="5641522"/>
              <a:ext cx="187385" cy="4572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45833" y="5706091"/>
              <a:ext cx="808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CPU--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61813" y="6095734"/>
              <a:ext cx="8081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  IO--</a:t>
              </a: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8077351" y="4795785"/>
            <a:ext cx="31593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One might of course combine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IO overlap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FIFO and Round Robin too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With RR we don’t need </a:t>
            </a:r>
            <a:br>
              <a:rPr lang="en-US" dirty="0"/>
            </a:br>
            <a:r>
              <a:rPr lang="en-US" dirty="0"/>
              <a:t>to know process times</a:t>
            </a:r>
          </a:p>
        </p:txBody>
      </p:sp>
      <p:sp>
        <p:nvSpPr>
          <p:cNvPr id="58" name="Up-Down Arrow 57"/>
          <p:cNvSpPr/>
          <p:nvPr/>
        </p:nvSpPr>
        <p:spPr>
          <a:xfrm>
            <a:off x="2636004" y="5819697"/>
            <a:ext cx="326225" cy="550568"/>
          </a:xfrm>
          <a:prstGeom prst="upDownArrow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63"/>
          <p:cNvGrpSpPr/>
          <p:nvPr/>
        </p:nvGrpSpPr>
        <p:grpSpPr>
          <a:xfrm>
            <a:off x="2519356" y="4914629"/>
            <a:ext cx="549287" cy="936450"/>
            <a:chOff x="2519356" y="4914629"/>
            <a:chExt cx="549287" cy="936450"/>
          </a:xfrm>
        </p:grpSpPr>
        <p:cxnSp>
          <p:nvCxnSpPr>
            <p:cNvPr id="60" name="Straight Connector 59"/>
            <p:cNvCxnSpPr/>
            <p:nvPr/>
          </p:nvCxnSpPr>
          <p:spPr>
            <a:xfrm rot="20820000" flipV="1">
              <a:off x="2519356" y="4914629"/>
              <a:ext cx="182880" cy="82296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20820000" flipV="1">
              <a:off x="2885763" y="5028119"/>
              <a:ext cx="182880" cy="82296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447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5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 general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of A1-A5 are reasonable in real-time systems.</a:t>
            </a:r>
          </a:p>
          <a:p>
            <a:pPr lvl="1"/>
            <a:r>
              <a:rPr lang="en-US" dirty="0"/>
              <a:t>So FCFS with IO overlap is quite reasonable</a:t>
            </a:r>
          </a:p>
          <a:p>
            <a:r>
              <a:rPr lang="en-US" dirty="0"/>
              <a:t>Often we can use a combination Round-Robin and overlapping IO and execution in other systems.</a:t>
            </a:r>
          </a:p>
          <a:p>
            <a:r>
              <a:rPr lang="en-US" dirty="0"/>
              <a:t>In general there could be a combination of different kinds of processes:</a:t>
            </a:r>
          </a:p>
          <a:p>
            <a:pPr lvl="1"/>
            <a:r>
              <a:rPr lang="en-US" dirty="0"/>
              <a:t>Time-critical processes, perhaps with deadlines (real-time)</a:t>
            </a:r>
          </a:p>
          <a:p>
            <a:pPr lvl="1"/>
            <a:r>
              <a:rPr lang="en-US" dirty="0"/>
              <a:t>CPU bound processes (insignificant IO)</a:t>
            </a:r>
          </a:p>
          <a:p>
            <a:pPr lvl="1"/>
            <a:r>
              <a:rPr lang="en-US" dirty="0"/>
              <a:t>Interactive processes (significant IO and/or user interaction)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790481" y="168602"/>
            <a:ext cx="2528128" cy="14773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Equal execution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All arrive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No preemption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No 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trike="sngStrike" dirty="0"/>
              <a:t>All times known</a:t>
            </a:r>
          </a:p>
        </p:txBody>
      </p:sp>
    </p:spTree>
    <p:extLst>
      <p:ext uri="{BB962C8B-B14F-4D97-AF65-F5344CB8AC3E}">
        <p14:creationId xmlns:p14="http://schemas.microsoft.com/office/powerpoint/2010/main" val="3062039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Priorities in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addition to the above, we may want to explicitly prioritize some processes for execution</a:t>
            </a:r>
          </a:p>
          <a:p>
            <a:r>
              <a:rPr lang="en-US" dirty="0"/>
              <a:t>This is often the case with real-time systems.</a:t>
            </a:r>
          </a:p>
          <a:p>
            <a:r>
              <a:rPr lang="en-US" dirty="0"/>
              <a:t>Each process is given a priority. A higher priority process is given more CPU time than a lower priority process.</a:t>
            </a:r>
          </a:p>
          <a:p>
            <a:pPr lvl="1"/>
            <a:r>
              <a:rPr lang="en-US" dirty="0"/>
              <a:t>Nice values are an example of this. The nice value is translated to a priority.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916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the TAT vs RT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would like to deal with the tradeoff between STCF and RR. So that jobs get over soon, however processes(and users) still feel the system is responsive….</a:t>
            </a:r>
          </a:p>
          <a:p>
            <a:r>
              <a:rPr lang="en-US" dirty="0"/>
              <a:t>We do this by basically predicting the characteristics of a process and using that to improve </a:t>
            </a:r>
            <a:r>
              <a:rPr lang="en-US" dirty="0" err="1"/>
              <a:t>avg</a:t>
            </a:r>
            <a:r>
              <a:rPr lang="en-US" dirty="0"/>
              <a:t> TAT as well as </a:t>
            </a:r>
            <a:r>
              <a:rPr lang="en-US" dirty="0" err="1"/>
              <a:t>avg</a:t>
            </a:r>
            <a:r>
              <a:rPr lang="en-US" dirty="0"/>
              <a:t> RT</a:t>
            </a:r>
          </a:p>
          <a:p>
            <a:r>
              <a:rPr lang="en-US" dirty="0"/>
              <a:t>This is done by associating a priority with a process that is used in scheduling decisions.</a:t>
            </a:r>
          </a:p>
          <a:p>
            <a:r>
              <a:rPr lang="en-US" dirty="0"/>
              <a:t>Perhaps interactive processes should have high priority and CPU bound processes should have low priority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043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 Level  Queues for scheduling with per-process </a:t>
            </a:r>
            <a:r>
              <a:rPr lang="en-US" b="1" dirty="0"/>
              <a:t>fixed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782056" cy="4203319"/>
          </a:xfrm>
        </p:spPr>
        <p:txBody>
          <a:bodyPr>
            <a:normAutofit/>
          </a:bodyPr>
          <a:lstStyle/>
          <a:p>
            <a:r>
              <a:rPr lang="en-US" dirty="0"/>
              <a:t>Associate priority with each process</a:t>
            </a:r>
          </a:p>
          <a:p>
            <a:r>
              <a:rPr lang="en-US" dirty="0"/>
              <a:t>Create a queue of processes according to the </a:t>
            </a:r>
            <a:r>
              <a:rPr lang="en-US" b="1" dirty="0"/>
              <a:t>priorities</a:t>
            </a:r>
          </a:p>
          <a:p>
            <a:r>
              <a:rPr lang="en-US" dirty="0"/>
              <a:t>Rule 1 if Priority(P) &gt; Priority(Q) then Run P</a:t>
            </a:r>
          </a:p>
          <a:p>
            <a:r>
              <a:rPr lang="en-US" dirty="0"/>
              <a:t>Rule 2 if Priority(P) = Priority(Q) then Run them in Round Robin</a:t>
            </a:r>
          </a:p>
          <a:p>
            <a:r>
              <a:rPr lang="en-US" dirty="0"/>
              <a:t>Rule 3 new processes are inserted in the appropriate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993392"/>
            <a:ext cx="487634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Q8</a:t>
            </a:r>
          </a:p>
          <a:p>
            <a:endParaRPr lang="en-US" sz="2000" dirty="0"/>
          </a:p>
          <a:p>
            <a:r>
              <a:rPr lang="en-US" sz="2000" dirty="0"/>
              <a:t>Q7</a:t>
            </a:r>
          </a:p>
          <a:p>
            <a:endParaRPr lang="en-US" sz="2000" dirty="0"/>
          </a:p>
          <a:p>
            <a:r>
              <a:rPr lang="en-US" sz="2000" dirty="0"/>
              <a:t>Q6</a:t>
            </a:r>
          </a:p>
          <a:p>
            <a:endParaRPr lang="en-US" sz="2000" dirty="0"/>
          </a:p>
          <a:p>
            <a:r>
              <a:rPr lang="en-US" sz="2000" dirty="0"/>
              <a:t>Q5</a:t>
            </a:r>
          </a:p>
          <a:p>
            <a:endParaRPr lang="en-US" sz="2000" dirty="0"/>
          </a:p>
          <a:p>
            <a:r>
              <a:rPr lang="en-US" sz="2000" dirty="0"/>
              <a:t>Q4</a:t>
            </a:r>
          </a:p>
          <a:p>
            <a:endParaRPr lang="en-US" sz="2000" dirty="0"/>
          </a:p>
          <a:p>
            <a:r>
              <a:rPr lang="en-US" sz="2000" dirty="0"/>
              <a:t>Q3</a:t>
            </a:r>
          </a:p>
          <a:p>
            <a:endParaRPr lang="en-US" sz="2000" dirty="0"/>
          </a:p>
          <a:p>
            <a:r>
              <a:rPr lang="en-US" sz="2000" dirty="0"/>
              <a:t>Q2</a:t>
            </a:r>
          </a:p>
          <a:p>
            <a:endParaRPr lang="en-US" sz="2000" dirty="0"/>
          </a:p>
          <a:p>
            <a:r>
              <a:rPr lang="en-US" sz="2000" dirty="0"/>
              <a:t>Q1</a:t>
            </a:r>
          </a:p>
        </p:txBody>
      </p:sp>
      <p:sp>
        <p:nvSpPr>
          <p:cNvPr id="5" name="Oval 4"/>
          <p:cNvSpPr/>
          <p:nvPr/>
        </p:nvSpPr>
        <p:spPr>
          <a:xfrm>
            <a:off x="9012844" y="1993392"/>
            <a:ext cx="53035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Oval 5"/>
          <p:cNvSpPr/>
          <p:nvPr/>
        </p:nvSpPr>
        <p:spPr>
          <a:xfrm>
            <a:off x="9796226" y="1993392"/>
            <a:ext cx="53035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9067846" y="3206496"/>
            <a:ext cx="53035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0" name="Straight Arrow Connector 9"/>
          <p:cNvCxnSpPr>
            <a:endCxn id="5" idx="2"/>
          </p:cNvCxnSpPr>
          <p:nvPr/>
        </p:nvCxnSpPr>
        <p:spPr>
          <a:xfrm>
            <a:off x="8717234" y="2212848"/>
            <a:ext cx="2956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8741618" y="3444240"/>
            <a:ext cx="2956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127482" y="6226885"/>
            <a:ext cx="53035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8801254" y="6464629"/>
            <a:ext cx="2956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62672" y="1956816"/>
            <a:ext cx="598241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[Hi]</a:t>
            </a:r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[Lo]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2462" y="2096086"/>
            <a:ext cx="1249316" cy="646331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none" rtlCol="0">
            <a:spAutoFit/>
          </a:bodyPr>
          <a:lstStyle/>
          <a:p>
            <a:r>
              <a:rPr lang="en-US" dirty="0"/>
              <a:t>High </a:t>
            </a:r>
            <a:r>
              <a:rPr lang="en-US" dirty="0" err="1"/>
              <a:t>prio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? </a:t>
            </a:r>
            <a:r>
              <a:rPr lang="en-US" dirty="0" err="1"/>
              <a:t>Reat</a:t>
            </a:r>
            <a:r>
              <a:rPr lang="en-US" dirty="0"/>
              <a:t>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02462" y="2883330"/>
            <a:ext cx="1050993" cy="369332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none" rtlCol="0">
            <a:spAutoFit/>
          </a:bodyPr>
          <a:lstStyle/>
          <a:p>
            <a:r>
              <a:rPr lang="en-US" dirty="0"/>
              <a:t>Low </a:t>
            </a:r>
            <a:r>
              <a:rPr lang="en-US" dirty="0" err="1"/>
              <a:t>prio</a:t>
            </a:r>
            <a:r>
              <a:rPr lang="en-US" dirty="0"/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02462" y="6019466"/>
            <a:ext cx="1289539" cy="646331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/>
              <a:t>Non time-critical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96226" y="1247056"/>
            <a:ext cx="2272422" cy="646331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/>
              <a:t>To deal with multiple priority jobs</a:t>
            </a:r>
          </a:p>
        </p:txBody>
      </p:sp>
      <p:sp>
        <p:nvSpPr>
          <p:cNvPr id="19" name="Oval 18"/>
          <p:cNvSpPr/>
          <p:nvPr/>
        </p:nvSpPr>
        <p:spPr>
          <a:xfrm>
            <a:off x="9811140" y="3224784"/>
            <a:ext cx="53035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046" y="6464629"/>
            <a:ext cx="577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Linux the scheduling policies RR and FIFO use these ideas</a:t>
            </a:r>
          </a:p>
        </p:txBody>
      </p:sp>
    </p:spTree>
    <p:extLst>
      <p:ext uri="{BB962C8B-B14F-4D97-AF65-F5344CB8AC3E}">
        <p14:creationId xmlns:p14="http://schemas.microsoft.com/office/powerpoint/2010/main" val="416655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Real-Time Scheduling – </a:t>
            </a:r>
            <a:r>
              <a:rPr lang="en-US" i="1" dirty="0"/>
              <a:t>NOT for normal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 Linux they use the term “Scheduling policy”</a:t>
            </a:r>
          </a:p>
          <a:p>
            <a:r>
              <a:rPr lang="en-US" dirty="0"/>
              <a:t>Two real-time scheduling policies are:</a:t>
            </a:r>
          </a:p>
          <a:p>
            <a:pPr lvl="1"/>
            <a:r>
              <a:rPr lang="en-US" dirty="0"/>
              <a:t>Round Robin (SCHED_RR policy)  and (run for fixed time slices)</a:t>
            </a:r>
          </a:p>
          <a:p>
            <a:pPr lvl="1"/>
            <a:r>
              <a:rPr lang="en-US" dirty="0"/>
              <a:t>First-in-First-out (SCHED_FIFO policy) (run till completion)</a:t>
            </a:r>
          </a:p>
          <a:p>
            <a:pPr lvl="1"/>
            <a:r>
              <a:rPr lang="en-US" dirty="0"/>
              <a:t>100 priority levels, higher priority process is always run before lower priority level process</a:t>
            </a:r>
          </a:p>
          <a:p>
            <a:pPr lvl="1"/>
            <a:r>
              <a:rPr lang="en-US" dirty="0"/>
              <a:t>Within a priority level FIFO is prioritized over RR</a:t>
            </a:r>
          </a:p>
          <a:p>
            <a:pPr lvl="1"/>
            <a:r>
              <a:rPr lang="en-US" dirty="0"/>
              <a:t>Need </a:t>
            </a:r>
            <a:r>
              <a:rPr lang="en-US" dirty="0" err="1"/>
              <a:t>superuser</a:t>
            </a:r>
            <a:r>
              <a:rPr lang="en-US" dirty="0"/>
              <a:t> </a:t>
            </a:r>
            <a:r>
              <a:rPr lang="en-US" dirty="0" err="1"/>
              <a:t>previlages</a:t>
            </a:r>
            <a:r>
              <a:rPr lang="en-US" dirty="0"/>
              <a:t> to set and reset real time priority levels -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chrt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  <a:r>
              <a:rPr lang="en-US" dirty="0"/>
              <a:t> command.</a:t>
            </a:r>
          </a:p>
          <a:p>
            <a:r>
              <a:rPr lang="en-US" dirty="0"/>
              <a:t>Normal process are under SCHED_OTHER policy and are lower priority than the above but still allocated a guaranteed small fraction of CPU time (like 5% - configurable) </a:t>
            </a:r>
          </a:p>
          <a:p>
            <a:r>
              <a:rPr lang="en-US" dirty="0"/>
              <a:t>See some examples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_*.c </a:t>
            </a:r>
            <a:r>
              <a:rPr lang="en-US" dirty="0"/>
              <a:t>in the repository – and know the system calls to change policy and priority.</a:t>
            </a:r>
          </a:p>
          <a:p>
            <a:r>
              <a:rPr lang="en-US" dirty="0" err="1"/>
              <a:t>Todo</a:t>
            </a:r>
            <a:r>
              <a:rPr lang="en-US" dirty="0"/>
              <a:t> - Play with </a:t>
            </a:r>
            <a:r>
              <a:rPr lang="en-US" dirty="0" err="1"/>
              <a:t>chrt</a:t>
            </a:r>
            <a:r>
              <a:rPr lang="en-US" dirty="0"/>
              <a:t>(1) to see some interactive examples.</a:t>
            </a:r>
          </a:p>
          <a:p>
            <a:r>
              <a:rPr lang="en-US" dirty="0"/>
              <a:t>Normal processes are scheduled using the CFS scheduler, also referred as  SCHED_OTHER policy in Linux commands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486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 Level Feedback Queue based Scheduling (</a:t>
            </a:r>
            <a:r>
              <a:rPr lang="en-US" b="1" dirty="0"/>
              <a:t>priority change over time</a:t>
            </a:r>
            <a:r>
              <a:rPr lang="en-US" dirty="0"/>
              <a:t>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782056" cy="484017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process is allotted a certain time according to its priority.</a:t>
            </a:r>
          </a:p>
          <a:p>
            <a:r>
              <a:rPr lang="en-US" dirty="0"/>
              <a:t>Create a queue of processes according to the </a:t>
            </a:r>
            <a:r>
              <a:rPr lang="en-US" b="1" dirty="0"/>
              <a:t>priorities</a:t>
            </a:r>
          </a:p>
          <a:p>
            <a:r>
              <a:rPr lang="en-US" dirty="0"/>
              <a:t>Rule 1 if Priority(P) &gt; Priority(Q) then Run P</a:t>
            </a:r>
          </a:p>
          <a:p>
            <a:r>
              <a:rPr lang="en-US" dirty="0"/>
              <a:t>Rule 2 if Priority(P) = Priority(Q) then Run them in Round Robin</a:t>
            </a:r>
          </a:p>
          <a:p>
            <a:r>
              <a:rPr lang="en-US" dirty="0"/>
              <a:t>Rule 3 new processes are at the</a:t>
            </a:r>
            <a:r>
              <a:rPr lang="en-US" b="1" dirty="0"/>
              <a:t> </a:t>
            </a:r>
            <a:r>
              <a:rPr lang="en-US" b="1" u="sng" dirty="0"/>
              <a:t>highest priority</a:t>
            </a:r>
          </a:p>
          <a:p>
            <a:r>
              <a:rPr lang="en-US" dirty="0"/>
              <a:t>Rule 4 </a:t>
            </a:r>
            <a:r>
              <a:rPr lang="en-US" b="1" dirty="0">
                <a:solidFill>
                  <a:srgbClr val="FF0000"/>
                </a:solidFill>
              </a:rPr>
              <a:t>Reduce</a:t>
            </a:r>
            <a:r>
              <a:rPr lang="en-US" dirty="0"/>
              <a:t> the priority of a process based on how much </a:t>
            </a:r>
            <a:r>
              <a:rPr lang="en-US" b="1" dirty="0"/>
              <a:t>time</a:t>
            </a:r>
            <a:r>
              <a:rPr lang="en-US" dirty="0"/>
              <a:t> it uses up.</a:t>
            </a:r>
          </a:p>
          <a:p>
            <a:r>
              <a:rPr lang="en-US" dirty="0"/>
              <a:t>Rule 5 </a:t>
            </a:r>
            <a:r>
              <a:rPr lang="en-US" dirty="0">
                <a:solidFill>
                  <a:srgbClr val="00B050"/>
                </a:solidFill>
              </a:rPr>
              <a:t>Periodically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boost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the priority of all processes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229600" y="1993392"/>
            <a:ext cx="487634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Q8</a:t>
            </a:r>
          </a:p>
          <a:p>
            <a:endParaRPr lang="en-US" sz="2000" dirty="0"/>
          </a:p>
          <a:p>
            <a:r>
              <a:rPr lang="en-US" sz="2000" dirty="0"/>
              <a:t>Q7</a:t>
            </a:r>
          </a:p>
          <a:p>
            <a:endParaRPr lang="en-US" sz="2000" dirty="0"/>
          </a:p>
          <a:p>
            <a:r>
              <a:rPr lang="en-US" sz="2000" dirty="0"/>
              <a:t>Q6</a:t>
            </a:r>
          </a:p>
          <a:p>
            <a:endParaRPr lang="en-US" sz="2000" dirty="0"/>
          </a:p>
          <a:p>
            <a:r>
              <a:rPr lang="en-US" sz="2000" dirty="0"/>
              <a:t>Q5</a:t>
            </a:r>
          </a:p>
          <a:p>
            <a:endParaRPr lang="en-US" sz="2000" dirty="0"/>
          </a:p>
          <a:p>
            <a:r>
              <a:rPr lang="en-US" sz="2000" dirty="0"/>
              <a:t>Q4</a:t>
            </a:r>
          </a:p>
          <a:p>
            <a:endParaRPr lang="en-US" sz="2000" dirty="0"/>
          </a:p>
          <a:p>
            <a:r>
              <a:rPr lang="en-US" sz="2000" dirty="0"/>
              <a:t>Q3</a:t>
            </a:r>
          </a:p>
          <a:p>
            <a:endParaRPr lang="en-US" sz="2000" dirty="0"/>
          </a:p>
          <a:p>
            <a:r>
              <a:rPr lang="en-US" sz="2000" dirty="0"/>
              <a:t>Q2</a:t>
            </a:r>
          </a:p>
          <a:p>
            <a:endParaRPr lang="en-US" sz="2000" dirty="0"/>
          </a:p>
          <a:p>
            <a:r>
              <a:rPr lang="en-US" sz="2000" dirty="0"/>
              <a:t>Q1</a:t>
            </a:r>
          </a:p>
        </p:txBody>
      </p:sp>
      <p:sp>
        <p:nvSpPr>
          <p:cNvPr id="5" name="Oval 4"/>
          <p:cNvSpPr/>
          <p:nvPr/>
        </p:nvSpPr>
        <p:spPr>
          <a:xfrm>
            <a:off x="9012844" y="1993392"/>
            <a:ext cx="53035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Oval 5"/>
          <p:cNvSpPr/>
          <p:nvPr/>
        </p:nvSpPr>
        <p:spPr>
          <a:xfrm>
            <a:off x="9796226" y="1993392"/>
            <a:ext cx="53035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9067846" y="3206496"/>
            <a:ext cx="53035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0" name="Straight Arrow Connector 9"/>
          <p:cNvCxnSpPr>
            <a:endCxn id="5" idx="2"/>
          </p:cNvCxnSpPr>
          <p:nvPr/>
        </p:nvCxnSpPr>
        <p:spPr>
          <a:xfrm>
            <a:off x="8717234" y="2212848"/>
            <a:ext cx="2956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8741618" y="3444240"/>
            <a:ext cx="2956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079992" y="5590032"/>
            <a:ext cx="53035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8753764" y="5827776"/>
            <a:ext cx="2956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62672" y="1956816"/>
            <a:ext cx="598241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[Hi]</a:t>
            </a:r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[Lo]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97399" y="230188"/>
            <a:ext cx="2194601" cy="1477328"/>
          </a:xfrm>
          <a:prstGeom prst="rect">
            <a:avLst/>
          </a:prstGeom>
          <a:gradFill flip="none" rotWithShape="1">
            <a:gsLst>
              <a:gs pos="0">
                <a:srgbClr val="FFFF00"/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/>
              <a:t>If we don’t know which processes should get a priority to give better TAT, while improving RT</a:t>
            </a:r>
          </a:p>
        </p:txBody>
      </p:sp>
      <p:sp>
        <p:nvSpPr>
          <p:cNvPr id="17" name="Oval 16"/>
          <p:cNvSpPr/>
          <p:nvPr/>
        </p:nvSpPr>
        <p:spPr>
          <a:xfrm>
            <a:off x="9811140" y="3224784"/>
            <a:ext cx="530352" cy="4389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0502630" y="2178996"/>
            <a:ext cx="194638" cy="4338525"/>
            <a:chOff x="10502630" y="2178996"/>
            <a:chExt cx="194638" cy="4338525"/>
          </a:xfrm>
        </p:grpSpPr>
        <p:sp>
          <p:nvSpPr>
            <p:cNvPr id="9" name="Freeform 8"/>
            <p:cNvSpPr/>
            <p:nvPr/>
          </p:nvSpPr>
          <p:spPr>
            <a:xfrm>
              <a:off x="10502630" y="2178996"/>
              <a:ext cx="194638" cy="505838"/>
            </a:xfrm>
            <a:custGeom>
              <a:avLst/>
              <a:gdLst>
                <a:gd name="connsiteX0" fmla="*/ 0 w 194638"/>
                <a:gd name="connsiteY0" fmla="*/ 0 h 505838"/>
                <a:gd name="connsiteX1" fmla="*/ 194553 w 194638"/>
                <a:gd name="connsiteY1" fmla="*/ 233464 h 505838"/>
                <a:gd name="connsiteX2" fmla="*/ 19455 w 194638"/>
                <a:gd name="connsiteY2" fmla="*/ 505838 h 505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638" h="505838">
                  <a:moveTo>
                    <a:pt x="0" y="0"/>
                  </a:moveTo>
                  <a:cubicBezTo>
                    <a:pt x="95655" y="74579"/>
                    <a:pt x="191310" y="149158"/>
                    <a:pt x="194553" y="233464"/>
                  </a:cubicBezTo>
                  <a:cubicBezTo>
                    <a:pt x="197796" y="317770"/>
                    <a:pt x="108625" y="411804"/>
                    <a:pt x="19455" y="50583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0502630" y="2817778"/>
              <a:ext cx="194638" cy="505838"/>
            </a:xfrm>
            <a:custGeom>
              <a:avLst/>
              <a:gdLst>
                <a:gd name="connsiteX0" fmla="*/ 0 w 194638"/>
                <a:gd name="connsiteY0" fmla="*/ 0 h 505838"/>
                <a:gd name="connsiteX1" fmla="*/ 194553 w 194638"/>
                <a:gd name="connsiteY1" fmla="*/ 233464 h 505838"/>
                <a:gd name="connsiteX2" fmla="*/ 19455 w 194638"/>
                <a:gd name="connsiteY2" fmla="*/ 505838 h 505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638" h="505838">
                  <a:moveTo>
                    <a:pt x="0" y="0"/>
                  </a:moveTo>
                  <a:cubicBezTo>
                    <a:pt x="95655" y="74579"/>
                    <a:pt x="191310" y="149158"/>
                    <a:pt x="194553" y="233464"/>
                  </a:cubicBezTo>
                  <a:cubicBezTo>
                    <a:pt x="197796" y="317770"/>
                    <a:pt x="108625" y="411804"/>
                    <a:pt x="19455" y="50583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0502630" y="3514923"/>
              <a:ext cx="194638" cy="505838"/>
            </a:xfrm>
            <a:custGeom>
              <a:avLst/>
              <a:gdLst>
                <a:gd name="connsiteX0" fmla="*/ 0 w 194638"/>
                <a:gd name="connsiteY0" fmla="*/ 0 h 505838"/>
                <a:gd name="connsiteX1" fmla="*/ 194553 w 194638"/>
                <a:gd name="connsiteY1" fmla="*/ 233464 h 505838"/>
                <a:gd name="connsiteX2" fmla="*/ 19455 w 194638"/>
                <a:gd name="connsiteY2" fmla="*/ 505838 h 505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638" h="505838">
                  <a:moveTo>
                    <a:pt x="0" y="0"/>
                  </a:moveTo>
                  <a:cubicBezTo>
                    <a:pt x="95655" y="74579"/>
                    <a:pt x="191310" y="149158"/>
                    <a:pt x="194553" y="233464"/>
                  </a:cubicBezTo>
                  <a:cubicBezTo>
                    <a:pt x="197796" y="317770"/>
                    <a:pt x="108625" y="411804"/>
                    <a:pt x="19455" y="50583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0502630" y="4153705"/>
              <a:ext cx="194638" cy="505838"/>
            </a:xfrm>
            <a:custGeom>
              <a:avLst/>
              <a:gdLst>
                <a:gd name="connsiteX0" fmla="*/ 0 w 194638"/>
                <a:gd name="connsiteY0" fmla="*/ 0 h 505838"/>
                <a:gd name="connsiteX1" fmla="*/ 194553 w 194638"/>
                <a:gd name="connsiteY1" fmla="*/ 233464 h 505838"/>
                <a:gd name="connsiteX2" fmla="*/ 19455 w 194638"/>
                <a:gd name="connsiteY2" fmla="*/ 505838 h 505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638" h="505838">
                  <a:moveTo>
                    <a:pt x="0" y="0"/>
                  </a:moveTo>
                  <a:cubicBezTo>
                    <a:pt x="95655" y="74579"/>
                    <a:pt x="191310" y="149158"/>
                    <a:pt x="194553" y="233464"/>
                  </a:cubicBezTo>
                  <a:cubicBezTo>
                    <a:pt x="197796" y="317770"/>
                    <a:pt x="108625" y="411804"/>
                    <a:pt x="19455" y="50583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502630" y="4773032"/>
              <a:ext cx="194638" cy="505838"/>
            </a:xfrm>
            <a:custGeom>
              <a:avLst/>
              <a:gdLst>
                <a:gd name="connsiteX0" fmla="*/ 0 w 194638"/>
                <a:gd name="connsiteY0" fmla="*/ 0 h 505838"/>
                <a:gd name="connsiteX1" fmla="*/ 194553 w 194638"/>
                <a:gd name="connsiteY1" fmla="*/ 233464 h 505838"/>
                <a:gd name="connsiteX2" fmla="*/ 19455 w 194638"/>
                <a:gd name="connsiteY2" fmla="*/ 505838 h 505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638" h="505838">
                  <a:moveTo>
                    <a:pt x="0" y="0"/>
                  </a:moveTo>
                  <a:cubicBezTo>
                    <a:pt x="95655" y="74579"/>
                    <a:pt x="191310" y="149158"/>
                    <a:pt x="194553" y="233464"/>
                  </a:cubicBezTo>
                  <a:cubicBezTo>
                    <a:pt x="197796" y="317770"/>
                    <a:pt x="108625" y="411804"/>
                    <a:pt x="19455" y="50583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0502630" y="5431267"/>
              <a:ext cx="194638" cy="505838"/>
            </a:xfrm>
            <a:custGeom>
              <a:avLst/>
              <a:gdLst>
                <a:gd name="connsiteX0" fmla="*/ 0 w 194638"/>
                <a:gd name="connsiteY0" fmla="*/ 0 h 505838"/>
                <a:gd name="connsiteX1" fmla="*/ 194553 w 194638"/>
                <a:gd name="connsiteY1" fmla="*/ 233464 h 505838"/>
                <a:gd name="connsiteX2" fmla="*/ 19455 w 194638"/>
                <a:gd name="connsiteY2" fmla="*/ 505838 h 505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638" h="505838">
                  <a:moveTo>
                    <a:pt x="0" y="0"/>
                  </a:moveTo>
                  <a:cubicBezTo>
                    <a:pt x="95655" y="74579"/>
                    <a:pt x="191310" y="149158"/>
                    <a:pt x="194553" y="233464"/>
                  </a:cubicBezTo>
                  <a:cubicBezTo>
                    <a:pt x="197796" y="317770"/>
                    <a:pt x="108625" y="411804"/>
                    <a:pt x="19455" y="50583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0502630" y="6011683"/>
              <a:ext cx="194638" cy="505838"/>
            </a:xfrm>
            <a:custGeom>
              <a:avLst/>
              <a:gdLst>
                <a:gd name="connsiteX0" fmla="*/ 0 w 194638"/>
                <a:gd name="connsiteY0" fmla="*/ 0 h 505838"/>
                <a:gd name="connsiteX1" fmla="*/ 194553 w 194638"/>
                <a:gd name="connsiteY1" fmla="*/ 233464 h 505838"/>
                <a:gd name="connsiteX2" fmla="*/ 19455 w 194638"/>
                <a:gd name="connsiteY2" fmla="*/ 505838 h 505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638" h="505838">
                  <a:moveTo>
                    <a:pt x="0" y="0"/>
                  </a:moveTo>
                  <a:cubicBezTo>
                    <a:pt x="95655" y="74579"/>
                    <a:pt x="191310" y="149158"/>
                    <a:pt x="194553" y="233464"/>
                  </a:cubicBezTo>
                  <a:cubicBezTo>
                    <a:pt x="197796" y="317770"/>
                    <a:pt x="108625" y="411804"/>
                    <a:pt x="19455" y="50583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Freeform 23"/>
          <p:cNvSpPr/>
          <p:nvPr/>
        </p:nvSpPr>
        <p:spPr>
          <a:xfrm>
            <a:off x="10894979" y="2276272"/>
            <a:ext cx="389147" cy="1206230"/>
          </a:xfrm>
          <a:custGeom>
            <a:avLst/>
            <a:gdLst>
              <a:gd name="connsiteX0" fmla="*/ 0 w 389147"/>
              <a:gd name="connsiteY0" fmla="*/ 1206230 h 1206230"/>
              <a:gd name="connsiteX1" fmla="*/ 389106 w 389147"/>
              <a:gd name="connsiteY1" fmla="*/ 525294 h 1206230"/>
              <a:gd name="connsiteX2" fmla="*/ 19455 w 389147"/>
              <a:gd name="connsiteY2" fmla="*/ 0 h 120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9147" h="1206230">
                <a:moveTo>
                  <a:pt x="0" y="1206230"/>
                </a:moveTo>
                <a:cubicBezTo>
                  <a:pt x="192932" y="966281"/>
                  <a:pt x="385864" y="726332"/>
                  <a:pt x="389106" y="525294"/>
                </a:cubicBezTo>
                <a:cubicBezTo>
                  <a:pt x="392348" y="324256"/>
                  <a:pt x="205901" y="162128"/>
                  <a:pt x="19455" y="0"/>
                </a:cubicBezTo>
              </a:path>
            </a:pathLst>
          </a:custGeom>
          <a:noFill/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/>
          <p:cNvSpPr/>
          <p:nvPr/>
        </p:nvSpPr>
        <p:spPr>
          <a:xfrm>
            <a:off x="11225719" y="2256817"/>
            <a:ext cx="758758" cy="4182894"/>
          </a:xfrm>
          <a:custGeom>
            <a:avLst/>
            <a:gdLst>
              <a:gd name="connsiteX0" fmla="*/ 0 w 758758"/>
              <a:gd name="connsiteY0" fmla="*/ 4182894 h 4182894"/>
              <a:gd name="connsiteX1" fmla="*/ 758758 w 758758"/>
              <a:gd name="connsiteY1" fmla="*/ 1731523 h 4182894"/>
              <a:gd name="connsiteX2" fmla="*/ 0 w 758758"/>
              <a:gd name="connsiteY2" fmla="*/ 0 h 418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8758" h="4182894">
                <a:moveTo>
                  <a:pt x="0" y="4182894"/>
                </a:moveTo>
                <a:cubicBezTo>
                  <a:pt x="379379" y="3305783"/>
                  <a:pt x="758758" y="2428672"/>
                  <a:pt x="758758" y="1731523"/>
                </a:cubicBezTo>
                <a:cubicBezTo>
                  <a:pt x="758758" y="1034374"/>
                  <a:pt x="379379" y="517187"/>
                  <a:pt x="0" y="0"/>
                </a:cubicBezTo>
              </a:path>
            </a:pathLst>
          </a:custGeom>
          <a:noFill/>
          <a:ln w="38100">
            <a:solidFill>
              <a:srgbClr val="00B05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22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Linux Fair scheduling (CFS) for </a:t>
            </a:r>
            <a:r>
              <a:rPr lang="en-US" b="1" dirty="0"/>
              <a:t>normal processes – </a:t>
            </a:r>
            <a:r>
              <a:rPr lang="en-US" i="1" dirty="0"/>
              <a:t>NOT for real-time processes – Simplified explanation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Linux decided it would be fair to all processes and be responsive</a:t>
                </a:r>
              </a:p>
              <a:p>
                <a:pPr lvl="1"/>
                <a:r>
                  <a:rPr lang="en-US" dirty="0"/>
                  <a:t>Idea is to consider a </a:t>
                </a:r>
                <a:r>
                  <a:rPr lang="en-US" b="1" dirty="0"/>
                  <a:t>maximum latency </a:t>
                </a:r>
                <a:r>
                  <a:rPr lang="en-US" dirty="0"/>
                  <a:t>(say</a:t>
                </a:r>
                <a:r>
                  <a:rPr lang="en-US" b="1" dirty="0"/>
                  <a:t> L</a:t>
                </a:r>
                <a:r>
                  <a:rPr lang="en-US" dirty="0"/>
                  <a:t>) – so every process must get the CPU once in L units of time for sure.</a:t>
                </a:r>
              </a:p>
              <a:p>
                <a:pPr lvl="1"/>
                <a:r>
                  <a:rPr lang="en-US" dirty="0"/>
                  <a:t>Let the number of </a:t>
                </a:r>
                <a:r>
                  <a:rPr lang="en-US" b="1" dirty="0"/>
                  <a:t>ready to run </a:t>
                </a:r>
                <a:r>
                  <a:rPr lang="en-US" dirty="0"/>
                  <a:t>processes be N</a:t>
                </a:r>
              </a:p>
              <a:p>
                <a:pPr lvl="1"/>
                <a:r>
                  <a:rPr lang="en-US" dirty="0"/>
                  <a:t>Then we give 1/N * L as a first estimate of the time slice to each process (notice this depends on N and L)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Take into account the nice value</a:t>
                </a:r>
              </a:p>
              <a:p>
                <a:pPr lvl="1"/>
                <a:r>
                  <a:rPr lang="en-US" dirty="0"/>
                  <a:t>For each </a:t>
                </a:r>
                <a:r>
                  <a:rPr lang="en-US" b="1" dirty="0"/>
                  <a:t>nice</a:t>
                </a:r>
                <a:r>
                  <a:rPr lang="en-US" dirty="0"/>
                  <a:t> value assign a numeric weight w. – </a:t>
                </a:r>
                <a:r>
                  <a:rPr lang="en-US" i="1" dirty="0"/>
                  <a:t>TODO:</a:t>
                </a:r>
                <a:r>
                  <a:rPr lang="en-US" dirty="0"/>
                  <a:t> use </a:t>
                </a:r>
                <a:r>
                  <a:rPr lang="en-US" dirty="0" err="1"/>
                  <a:t>renice</a:t>
                </a:r>
                <a:r>
                  <a:rPr lang="en-US" dirty="0"/>
                  <a:t> or nice to play with nice values</a:t>
                </a:r>
              </a:p>
              <a:p>
                <a:pPr lvl="1"/>
                <a:r>
                  <a:rPr lang="en-US" dirty="0"/>
                  <a:t>Now </a:t>
                </a:r>
                <a:r>
                  <a:rPr lang="en-US" sz="2900" b="1" i="1" dirty="0">
                    <a:solidFill>
                      <a:schemeClr val="accent2"/>
                    </a:solidFill>
                  </a:rPr>
                  <a:t>compute the time slice for a process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/>
                        </m:sSub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 </a:t>
                </a:r>
                <a:r>
                  <a:rPr lang="en-US" dirty="0" err="1"/>
                  <a:t>ie</a:t>
                </a:r>
                <a:r>
                  <a:rPr lang="en-US" dirty="0"/>
                  <a:t> the maximum latency is still L, however higher priority processes still get a larger slice.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However each process is given a minimum slice time guarantee. This implies L is at least </a:t>
                </a:r>
                <a14:m>
                  <m:oMath xmlns:m="http://schemas.openxmlformats.org/officeDocument/2006/math">
                    <m:r>
                      <a:rPr lang="en-US" sz="2600" b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600" b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600" b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𝐦𝐢𝐧</m:t>
                    </m:r>
                    <m:r>
                      <a:rPr lang="en-US" sz="2600" b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600" b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𝒈𝒖𝒂𝒓𝒂𝒏𝒕𝒆𝒆𝒅</m:t>
                    </m:r>
                    <m:r>
                      <a:rPr lang="en-US" sz="2600" b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2600" b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𝒔𝒍𝒊𝒄𝒆</m:t>
                    </m:r>
                  </m:oMath>
                </a14:m>
                <a:endParaRPr lang="en-US" sz="2600" b="1" dirty="0">
                  <a:solidFill>
                    <a:schemeClr val="accent2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Now </a:t>
                </a:r>
                <a:r>
                  <a:rPr lang="en-US" sz="2600" b="1" i="1" dirty="0">
                    <a:solidFill>
                      <a:schemeClr val="accent2"/>
                    </a:solidFill>
                  </a:rPr>
                  <a:t>determine who runs next </a:t>
                </a:r>
                <a:r>
                  <a:rPr lang="en-US" dirty="0"/>
                  <a:t>by maintaining a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vruntime</a:t>
                </a:r>
                <a:r>
                  <a:rPr lang="en-US" dirty="0"/>
                  <a:t> for processes indicating </a:t>
                </a:r>
                <a:r>
                  <a:rPr lang="en-US" dirty="0" err="1"/>
                  <a:t>howmuch</a:t>
                </a:r>
                <a:r>
                  <a:rPr lang="en-US" dirty="0"/>
                  <a:t> time they have spent on the CPU.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dirty="0"/>
                  <a:t>This is updated when the process is running by timer ticks and also when the process blocks. (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update_curr</a:t>
                </a:r>
                <a:r>
                  <a:rPr lang="en-US" dirty="0"/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To read more, see: https://opensource.com/article/19/2/fair-scheduling-linux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38" t="-2661" r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8303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Real-Time Scheduling … but with a deadline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SCHED_DEADLINE  is used to schedule jobs with</a:t>
            </a:r>
          </a:p>
          <a:p>
            <a:pPr lvl="1"/>
            <a:r>
              <a:rPr lang="en-US" dirty="0"/>
              <a:t>A periodic execution</a:t>
            </a:r>
          </a:p>
          <a:p>
            <a:pPr lvl="1"/>
            <a:r>
              <a:rPr lang="en-US" dirty="0"/>
              <a:t>A deadline to react (sometimes same as period)</a:t>
            </a:r>
          </a:p>
          <a:p>
            <a:pPr lvl="1"/>
            <a:r>
              <a:rPr lang="en-US" dirty="0"/>
              <a:t>A required guaranteed run time before that deadline</a:t>
            </a:r>
          </a:p>
          <a:p>
            <a:pPr lvl="1"/>
            <a:endParaRPr lang="en-US" dirty="0"/>
          </a:p>
          <a:p>
            <a:r>
              <a:rPr lang="en-US" dirty="0"/>
              <a:t>Execution is expected to be interleaved with other processes with other scheduling policies.</a:t>
            </a:r>
          </a:p>
          <a:p>
            <a:endParaRPr lang="en-US" dirty="0"/>
          </a:p>
          <a:p>
            <a:r>
              <a:rPr lang="en-US" dirty="0"/>
              <a:t>For those interested, see : </a:t>
            </a:r>
            <a:r>
              <a:rPr lang="en-US" dirty="0">
                <a:hlinkClick r:id="rId2"/>
              </a:rPr>
              <a:t>https://lwn.net/Articles/743740/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7620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more fairness -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6603609" cy="48283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Some times it is important that a bunch of processes belonging to one user or one session do not consume all the CPU.</a:t>
            </a:r>
          </a:p>
          <a:p>
            <a:r>
              <a:rPr lang="en-US" dirty="0"/>
              <a:t>So CPU is allocated to process groups – for example all processes of a user or all processes from one terminal.</a:t>
            </a:r>
          </a:p>
          <a:p>
            <a:r>
              <a:rPr lang="en-US" dirty="0"/>
              <a:t>The intention is that one set of processes do not consume all the resources among themselves, instead it is available to all users in a fair fashion.</a:t>
            </a:r>
          </a:p>
          <a:p>
            <a:r>
              <a:rPr lang="en-US" dirty="0"/>
              <a:t>These groups can be nested. See </a:t>
            </a:r>
            <a:r>
              <a:rPr lang="en-US" dirty="0" err="1"/>
              <a:t>autogroups</a:t>
            </a:r>
            <a:r>
              <a:rPr lang="en-US" dirty="0"/>
              <a:t> created in a shell for example.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793502" y="2096085"/>
            <a:ext cx="439849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Experiment</a:t>
            </a:r>
            <a:r>
              <a:rPr lang="en-US" dirty="0"/>
              <a:t>: See effect of </a:t>
            </a:r>
            <a:r>
              <a:rPr lang="en-US" dirty="0" err="1"/>
              <a:t>autogroup</a:t>
            </a:r>
            <a:r>
              <a:rPr lang="en-US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Have three terminals.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Run top in the first terminal.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 the second terminal start three instances of a busy loop in the background. (./loopy busy &amp;)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In another </a:t>
            </a:r>
            <a:r>
              <a:rPr lang="en-US" dirty="0" err="1"/>
              <a:t>terinmal</a:t>
            </a:r>
            <a:r>
              <a:rPr lang="en-US" dirty="0"/>
              <a:t> just start one instance. (./loopy busy)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What does top show?</a:t>
            </a:r>
          </a:p>
        </p:txBody>
      </p:sp>
    </p:spTree>
    <p:extLst>
      <p:ext uri="{BB962C8B-B14F-4D97-AF65-F5344CB8AC3E}">
        <p14:creationId xmlns:p14="http://schemas.microsoft.com/office/powerpoint/2010/main" val="823625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Notion of </a:t>
            </a:r>
            <a:r>
              <a:rPr lang="en-US" u="sng" dirty="0"/>
              <a:t>Time</a:t>
            </a:r>
            <a:r>
              <a:rPr lang="en-US" dirty="0"/>
              <a:t> in the 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4413" y="1825625"/>
            <a:ext cx="11712388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Notion of a “</a:t>
            </a:r>
            <a:r>
              <a:rPr lang="en-US" dirty="0">
                <a:solidFill>
                  <a:srgbClr val="FF0000"/>
                </a:solidFill>
              </a:rPr>
              <a:t>tick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It is a unit of time used in the kernel for its notion of time.</a:t>
            </a:r>
          </a:p>
          <a:p>
            <a:pPr lvl="1"/>
            <a:r>
              <a:rPr lang="en-US" dirty="0"/>
              <a:t>Also called a </a:t>
            </a:r>
            <a:r>
              <a:rPr lang="en-US" i="1" dirty="0">
                <a:solidFill>
                  <a:srgbClr val="FF0000"/>
                </a:solidFill>
              </a:rPr>
              <a:t>Jiffy</a:t>
            </a:r>
            <a:r>
              <a:rPr lang="en-US" dirty="0"/>
              <a:t> in Linux</a:t>
            </a:r>
          </a:p>
          <a:p>
            <a:pPr lvl="1"/>
            <a:r>
              <a:rPr lang="en-US" dirty="0"/>
              <a:t>The CPU is interrupted every jiffy and it increments a </a:t>
            </a:r>
            <a:r>
              <a:rPr lang="en-US" i="1" dirty="0">
                <a:solidFill>
                  <a:srgbClr val="FF0000"/>
                </a:solidFill>
              </a:rPr>
              <a:t>jiffies</a:t>
            </a:r>
            <a:r>
              <a:rPr lang="en-US" dirty="0"/>
              <a:t> counter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Hardware interrupt </a:t>
            </a:r>
            <a:r>
              <a:rPr lang="en-US" dirty="0"/>
              <a:t>is provided by an </a:t>
            </a:r>
            <a:r>
              <a:rPr lang="en-US" dirty="0">
                <a:solidFill>
                  <a:srgbClr val="FF0000"/>
                </a:solidFill>
              </a:rPr>
              <a:t>external timer </a:t>
            </a:r>
            <a:r>
              <a:rPr lang="en-US" dirty="0"/>
              <a:t>(like a PIC, multiple possibilities)</a:t>
            </a:r>
          </a:p>
          <a:p>
            <a:r>
              <a:rPr lang="en-US" dirty="0"/>
              <a:t>Linux Jiffy configuration and use:</a:t>
            </a:r>
          </a:p>
          <a:p>
            <a:pPr lvl="1"/>
            <a:r>
              <a:rPr lang="en-US" dirty="0"/>
              <a:t>There is a kernel constant called </a:t>
            </a:r>
            <a:r>
              <a:rPr lang="en-US" dirty="0">
                <a:solidFill>
                  <a:srgbClr val="FF0000"/>
                </a:solidFill>
              </a:rPr>
              <a:t>HZ</a:t>
            </a:r>
            <a:r>
              <a:rPr lang="en-US" dirty="0"/>
              <a:t>  or </a:t>
            </a:r>
            <a:r>
              <a:rPr lang="en-US" dirty="0">
                <a:solidFill>
                  <a:srgbClr val="FF0000"/>
                </a:solidFill>
              </a:rPr>
              <a:t>CONFIG_HZ</a:t>
            </a:r>
            <a:r>
              <a:rPr lang="en-US" dirty="0"/>
              <a:t>	   </a:t>
            </a:r>
            <a:r>
              <a:rPr lang="en-US" dirty="0">
                <a:solidFill>
                  <a:srgbClr val="FF0000"/>
                </a:solidFill>
              </a:rPr>
              <a:t>HZ  =  1000   </a:t>
            </a:r>
            <a:r>
              <a:rPr lang="en-US" dirty="0">
                <a:solidFill>
                  <a:srgbClr val="FF0000"/>
                </a:solidFill>
                <a:latin typeface="Garamond" panose="02020404030301010803" pitchFamily="18" charset="0"/>
              </a:rPr>
              <a:t>means</a:t>
            </a:r>
          </a:p>
          <a:p>
            <a:pPr lvl="1"/>
            <a:r>
              <a:rPr lang="en-US" dirty="0"/>
              <a:t>Number of times  a second that the CPU is interrupted	   </a:t>
            </a:r>
            <a:r>
              <a:rPr lang="en-US" dirty="0">
                <a:solidFill>
                  <a:srgbClr val="FF0000"/>
                </a:solidFill>
                <a:latin typeface="Garamond" panose="02020404030301010803" pitchFamily="18" charset="0"/>
              </a:rPr>
              <a:t>CPU interrupted each 1/1000 s</a:t>
            </a:r>
            <a:br>
              <a:rPr lang="en-US" dirty="0">
                <a:solidFill>
                  <a:srgbClr val="FF0000"/>
                </a:solidFill>
                <a:latin typeface="Garamond" panose="02020404030301010803" pitchFamily="18" charset="0"/>
              </a:rPr>
            </a:br>
            <a:r>
              <a:rPr lang="en-US" dirty="0">
                <a:solidFill>
                  <a:srgbClr val="FF0000"/>
                </a:solidFill>
                <a:latin typeface="Garamond" panose="02020404030301010803" pitchFamily="18" charset="0"/>
              </a:rPr>
              <a:t>                                                                                                           i.e. once each millisecond</a:t>
            </a:r>
          </a:p>
          <a:p>
            <a:pPr lvl="1"/>
            <a:r>
              <a:rPr lang="en-US" dirty="0"/>
              <a:t>This is used to control how often the timer is interrupted</a:t>
            </a:r>
          </a:p>
          <a:p>
            <a:r>
              <a:rPr lang="en-US" dirty="0"/>
              <a:t>Important from a scheduling point of view</a:t>
            </a:r>
          </a:p>
          <a:p>
            <a:pPr lvl="1"/>
            <a:r>
              <a:rPr lang="en-US" dirty="0"/>
              <a:t>At each timer interrupt the </a:t>
            </a:r>
            <a:r>
              <a:rPr lang="en-US" dirty="0">
                <a:solidFill>
                  <a:srgbClr val="FF0000"/>
                </a:solidFill>
              </a:rPr>
              <a:t>amount of time used by a process is accounted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If required the </a:t>
            </a:r>
            <a:r>
              <a:rPr lang="en-US" dirty="0">
                <a:solidFill>
                  <a:srgbClr val="FF0000"/>
                </a:solidFill>
              </a:rPr>
              <a:t>scheduler is also called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2642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sections and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Sometimes, processes compete to access resources.</a:t>
            </a:r>
          </a:p>
          <a:p>
            <a:r>
              <a:rPr lang="en-US" dirty="0"/>
              <a:t>The </a:t>
            </a:r>
            <a:r>
              <a:rPr lang="en-US" b="1" dirty="0"/>
              <a:t>resources</a:t>
            </a:r>
            <a:r>
              <a:rPr lang="en-US" dirty="0"/>
              <a:t> (</a:t>
            </a:r>
            <a:r>
              <a:rPr lang="en-US" dirty="0" err="1"/>
              <a:t>eg</a:t>
            </a:r>
            <a:r>
              <a:rPr lang="en-US" dirty="0"/>
              <a:t> shared resources like files)are guarded by some software artifacts and called </a:t>
            </a:r>
            <a:r>
              <a:rPr lang="en-US" b="1" dirty="0"/>
              <a:t>critical sections</a:t>
            </a:r>
          </a:p>
          <a:p>
            <a:r>
              <a:rPr lang="en-US" dirty="0"/>
              <a:t>They are ‘critical’ and guarded because it would only be reasonable for one process to be in that code at the same time – </a:t>
            </a:r>
            <a:r>
              <a:rPr lang="en-US"/>
              <a:t>else the </a:t>
            </a:r>
            <a:r>
              <a:rPr lang="en-US" dirty="0"/>
              <a:t>processes step over each other leading to bad(unintended) consequences.</a:t>
            </a:r>
          </a:p>
          <a:p>
            <a:r>
              <a:rPr lang="en-US" dirty="0"/>
              <a:t>More details later</a:t>
            </a:r>
          </a:p>
        </p:txBody>
      </p:sp>
    </p:spTree>
    <p:extLst>
      <p:ext uri="{BB962C8B-B14F-4D97-AF65-F5344CB8AC3E}">
        <p14:creationId xmlns:p14="http://schemas.microsoft.com/office/powerpoint/2010/main" val="2933629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Scheduler behavior with critical sections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Dealing with Critical sections</a:t>
            </a:r>
          </a:p>
          <a:p>
            <a:pPr lvl="1"/>
            <a:r>
              <a:rPr lang="en-US" dirty="0"/>
              <a:t>Simplistic approach: A process in a critical section is not be preempted</a:t>
            </a:r>
          </a:p>
          <a:p>
            <a:pPr lvl="1"/>
            <a:r>
              <a:rPr lang="en-US" dirty="0"/>
              <a:t>A better approach: Preempting is ok, but use some form of blocking when a later process arrives</a:t>
            </a:r>
          </a:p>
          <a:p>
            <a:pPr lvl="2"/>
            <a:r>
              <a:rPr lang="en-US" dirty="0"/>
              <a:t>The later arrivers discover the CS is in use</a:t>
            </a:r>
          </a:p>
          <a:p>
            <a:pPr lvl="2"/>
            <a:r>
              <a:rPr lang="en-US" dirty="0"/>
              <a:t>They wait</a:t>
            </a:r>
          </a:p>
          <a:p>
            <a:r>
              <a:rPr lang="en-US" dirty="0"/>
              <a:t>Critical sections are small, so maybe blocking is not a problem.</a:t>
            </a:r>
          </a:p>
          <a:p>
            <a:r>
              <a:rPr lang="en-US" dirty="0"/>
              <a:t>Let’s now look at this behavior in the case of the FIFO real-time scheduler where processes have priorities</a:t>
            </a:r>
          </a:p>
        </p:txBody>
      </p:sp>
    </p:spTree>
    <p:extLst>
      <p:ext uri="{BB962C8B-B14F-4D97-AF65-F5344CB8AC3E}">
        <p14:creationId xmlns:p14="http://schemas.microsoft.com/office/powerpoint/2010/main" val="20149737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5472332" y="5556738"/>
            <a:ext cx="1103927" cy="492370"/>
          </a:xfrm>
          <a:prstGeom prst="roundRect">
            <a:avLst/>
          </a:prstGeom>
          <a:solidFill>
            <a:srgbClr val="F6BA92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with priority based preemption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838200" y="4344574"/>
            <a:ext cx="1511105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2349305" y="4318781"/>
            <a:ext cx="1631852" cy="1289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4023360" y="4331677"/>
            <a:ext cx="2072640" cy="1289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838200" y="4586068"/>
            <a:ext cx="5257800" cy="281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0034" y="4696822"/>
            <a:ext cx="426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0     1      2      3      4      5      6      7       8       9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412" y="4040612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15740" y="5066154"/>
            <a:ext cx="10486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-Code--</a:t>
            </a:r>
            <a:br>
              <a:rPr lang="en-US" dirty="0"/>
            </a:br>
            <a:r>
              <a:rPr lang="en-US" dirty="0"/>
              <a:t>-----------</a:t>
            </a:r>
            <a:br>
              <a:rPr lang="en-US" dirty="0"/>
            </a:br>
            <a:r>
              <a:rPr lang="en-US" dirty="0"/>
              <a:t>--</a:t>
            </a:r>
            <a:r>
              <a:rPr lang="en-US" dirty="0">
                <a:solidFill>
                  <a:srgbClr val="FF0000"/>
                </a:solidFill>
              </a:rPr>
              <a:t>-CS-</a:t>
            </a:r>
            <a:r>
              <a:rPr lang="en-US" dirty="0"/>
              <a:t>-----</a:t>
            </a:r>
            <a:br>
              <a:rPr lang="en-US" dirty="0"/>
            </a:br>
            <a:r>
              <a:rPr lang="en-US" dirty="0"/>
              <a:t>--------</a:t>
            </a:r>
            <a:br>
              <a:rPr lang="en-US" dirty="0"/>
            </a:br>
            <a:r>
              <a:rPr lang="en-US" dirty="0"/>
              <a:t>-------</a:t>
            </a:r>
          </a:p>
        </p:txBody>
      </p:sp>
      <p:sp>
        <p:nvSpPr>
          <p:cNvPr id="30" name="Freeform 29"/>
          <p:cNvSpPr/>
          <p:nvPr/>
        </p:nvSpPr>
        <p:spPr>
          <a:xfrm>
            <a:off x="3192252" y="4515729"/>
            <a:ext cx="2139403" cy="1404100"/>
          </a:xfrm>
          <a:custGeom>
            <a:avLst/>
            <a:gdLst>
              <a:gd name="connsiteX0" fmla="*/ 43317 w 2139403"/>
              <a:gd name="connsiteY0" fmla="*/ 0 h 1404100"/>
              <a:gd name="connsiteX1" fmla="*/ 43317 w 2139403"/>
              <a:gd name="connsiteY1" fmla="*/ 1167619 h 1404100"/>
              <a:gd name="connsiteX2" fmla="*/ 493483 w 2139403"/>
              <a:gd name="connsiteY2" fmla="*/ 1392702 h 1404100"/>
              <a:gd name="connsiteX3" fmla="*/ 2139403 w 2139403"/>
              <a:gd name="connsiteY3" fmla="*/ 1350499 h 1404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9403" h="1404100">
                <a:moveTo>
                  <a:pt x="43317" y="0"/>
                </a:moveTo>
                <a:cubicBezTo>
                  <a:pt x="5803" y="467751"/>
                  <a:pt x="-31711" y="935502"/>
                  <a:pt x="43317" y="1167619"/>
                </a:cubicBezTo>
                <a:cubicBezTo>
                  <a:pt x="118345" y="1399736"/>
                  <a:pt x="144135" y="1362222"/>
                  <a:pt x="493483" y="1392702"/>
                </a:cubicBezTo>
                <a:cubicBezTo>
                  <a:pt x="842831" y="1423182"/>
                  <a:pt x="1491117" y="1386840"/>
                  <a:pt x="2139403" y="1350499"/>
                </a:cubicBezTo>
              </a:path>
            </a:pathLst>
          </a:custGeom>
          <a:noFill/>
          <a:ln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95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5472332" y="5556738"/>
            <a:ext cx="1103927" cy="492370"/>
          </a:xfrm>
          <a:prstGeom prst="roundRect">
            <a:avLst/>
          </a:prstGeom>
          <a:solidFill>
            <a:srgbClr val="F6BA92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with priority based preemption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838200" y="4331678"/>
            <a:ext cx="844131" cy="128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4304710" y="4331678"/>
            <a:ext cx="1636542" cy="1289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838200" y="4586068"/>
            <a:ext cx="5257800" cy="281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0034" y="4696822"/>
            <a:ext cx="426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0     1      2      3      4      5      6      7       8       9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412" y="4040612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729717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6863" y="2450459"/>
            <a:ext cx="3856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P2 arrives in [0 3]    it preempts  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15740" y="5066154"/>
            <a:ext cx="10486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-Code--</a:t>
            </a:r>
            <a:br>
              <a:rPr lang="en-US" dirty="0"/>
            </a:br>
            <a:r>
              <a:rPr lang="en-US" dirty="0"/>
              <a:t>-----------</a:t>
            </a:r>
            <a:br>
              <a:rPr lang="en-US" dirty="0"/>
            </a:br>
            <a:r>
              <a:rPr lang="en-US" dirty="0"/>
              <a:t>--</a:t>
            </a:r>
            <a:r>
              <a:rPr lang="en-US" dirty="0">
                <a:solidFill>
                  <a:srgbClr val="FF0000"/>
                </a:solidFill>
              </a:rPr>
              <a:t>-CS-</a:t>
            </a:r>
            <a:r>
              <a:rPr lang="en-US" dirty="0"/>
              <a:t>-----</a:t>
            </a:r>
            <a:br>
              <a:rPr lang="en-US" dirty="0"/>
            </a:br>
            <a:r>
              <a:rPr lang="en-US" dirty="0"/>
              <a:t>--------</a:t>
            </a:r>
            <a:br>
              <a:rPr lang="en-US" dirty="0"/>
            </a:br>
            <a:r>
              <a:rPr lang="en-US" dirty="0"/>
              <a:t>-------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1579684" y="2216846"/>
            <a:ext cx="14068" cy="697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779012" y="4331678"/>
            <a:ext cx="2680446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593752" y="2914383"/>
            <a:ext cx="266820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4261953" y="2216846"/>
            <a:ext cx="0" cy="697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4953784" y="4329584"/>
            <a:ext cx="1636542" cy="1289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5083" y="2717431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1302" y="4040612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Lo</a:t>
            </a: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1593752" y="2914383"/>
            <a:ext cx="0" cy="14152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4261953" y="2914383"/>
            <a:ext cx="0" cy="14152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 flipV="1">
            <a:off x="1593752" y="4040612"/>
            <a:ext cx="783689" cy="16849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23976" y="5688873"/>
            <a:ext cx="3004003" cy="647114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Premption</a:t>
            </a:r>
            <a:r>
              <a:rPr lang="en-US" dirty="0">
                <a:solidFill>
                  <a:schemeClr val="tx1"/>
                </a:solidFill>
              </a:rPr>
              <a:t>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P1 waits now until P2 finishes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5439" y="1480649"/>
            <a:ext cx="1122173" cy="647114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P2 arrives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56459" y="1534415"/>
            <a:ext cx="1366522" cy="603353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P2 finishes/ exits</a:t>
            </a:r>
          </a:p>
        </p:txBody>
      </p:sp>
      <p:sp>
        <p:nvSpPr>
          <p:cNvPr id="17" name="Freeform 16"/>
          <p:cNvSpPr/>
          <p:nvPr/>
        </p:nvSpPr>
        <p:spPr>
          <a:xfrm>
            <a:off x="1172884" y="2039815"/>
            <a:ext cx="374562" cy="492370"/>
          </a:xfrm>
          <a:custGeom>
            <a:avLst/>
            <a:gdLst>
              <a:gd name="connsiteX0" fmla="*/ 149479 w 374562"/>
              <a:gd name="connsiteY0" fmla="*/ 0 h 492370"/>
              <a:gd name="connsiteX1" fmla="*/ 8802 w 374562"/>
              <a:gd name="connsiteY1" fmla="*/ 309490 h 492370"/>
              <a:gd name="connsiteX2" fmla="*/ 374562 w 374562"/>
              <a:gd name="connsiteY2" fmla="*/ 492370 h 492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562" h="492370">
                <a:moveTo>
                  <a:pt x="149479" y="0"/>
                </a:moveTo>
                <a:cubicBezTo>
                  <a:pt x="60383" y="113714"/>
                  <a:pt x="-28712" y="227428"/>
                  <a:pt x="8802" y="309490"/>
                </a:cubicBezTo>
                <a:cubicBezTo>
                  <a:pt x="46316" y="391552"/>
                  <a:pt x="210439" y="441961"/>
                  <a:pt x="374562" y="492370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/>
        </p:nvSpPr>
        <p:spPr>
          <a:xfrm>
            <a:off x="4304714" y="1997612"/>
            <a:ext cx="490892" cy="548640"/>
          </a:xfrm>
          <a:custGeom>
            <a:avLst/>
            <a:gdLst>
              <a:gd name="connsiteX0" fmla="*/ 393895 w 490892"/>
              <a:gd name="connsiteY0" fmla="*/ 0 h 548640"/>
              <a:gd name="connsiteX1" fmla="*/ 464234 w 490892"/>
              <a:gd name="connsiteY1" fmla="*/ 309490 h 548640"/>
              <a:gd name="connsiteX2" fmla="*/ 0 w 490892"/>
              <a:gd name="connsiteY2" fmla="*/ 54864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0892" h="548640">
                <a:moveTo>
                  <a:pt x="393895" y="0"/>
                </a:moveTo>
                <a:cubicBezTo>
                  <a:pt x="461889" y="109025"/>
                  <a:pt x="529883" y="218050"/>
                  <a:pt x="464234" y="309490"/>
                </a:cubicBezTo>
                <a:cubicBezTo>
                  <a:pt x="398585" y="400930"/>
                  <a:pt x="199292" y="474785"/>
                  <a:pt x="0" y="548640"/>
                </a:cubicBezTo>
              </a:path>
            </a:pathLst>
          </a:custGeom>
          <a:noFill/>
          <a:ln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981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5472332" y="5556738"/>
            <a:ext cx="1103927" cy="492370"/>
          </a:xfrm>
          <a:prstGeom prst="roundRect">
            <a:avLst/>
          </a:prstGeom>
          <a:solidFill>
            <a:srgbClr val="F6BA92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with priority based preemption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838200" y="4344574"/>
            <a:ext cx="1511105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376326" y="4331677"/>
            <a:ext cx="475862" cy="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687568" y="4345745"/>
            <a:ext cx="731520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838200" y="4586068"/>
            <a:ext cx="5257800" cy="281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0034" y="4696822"/>
            <a:ext cx="426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0     1      2      3      4      5      6      7       8       9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412" y="4040612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729717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6863" y="2450459"/>
            <a:ext cx="39621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P2 arrives in [0 3]    it preempts  P1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P2 arrives  in [4 7]    it preempts  P1 </a:t>
            </a:r>
            <a:br>
              <a:rPr lang="en-US" b="1" dirty="0"/>
            </a:br>
            <a:r>
              <a:rPr lang="en-US" b="1" dirty="0"/>
              <a:t>    provided P2 does not need the 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15740" y="5066154"/>
            <a:ext cx="10486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-Code--</a:t>
            </a:r>
            <a:br>
              <a:rPr lang="en-US" dirty="0"/>
            </a:br>
            <a:r>
              <a:rPr lang="en-US" dirty="0"/>
              <a:t>-----------</a:t>
            </a:r>
            <a:br>
              <a:rPr lang="en-US" dirty="0"/>
            </a:br>
            <a:r>
              <a:rPr lang="en-US" dirty="0"/>
              <a:t>--</a:t>
            </a:r>
            <a:r>
              <a:rPr lang="en-US" dirty="0">
                <a:solidFill>
                  <a:srgbClr val="FF0000"/>
                </a:solidFill>
              </a:rPr>
              <a:t>-CS-</a:t>
            </a:r>
            <a:r>
              <a:rPr lang="en-US" dirty="0"/>
              <a:t>-----</a:t>
            </a:r>
            <a:br>
              <a:rPr lang="en-US" dirty="0"/>
            </a:br>
            <a:r>
              <a:rPr lang="en-US" dirty="0"/>
              <a:t>--------</a:t>
            </a:r>
            <a:br>
              <a:rPr lang="en-US" dirty="0"/>
            </a:br>
            <a:r>
              <a:rPr lang="en-US" dirty="0"/>
              <a:t>-------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2838120" y="2345826"/>
            <a:ext cx="14068" cy="697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2852188" y="3005319"/>
            <a:ext cx="1631852" cy="12896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515726" y="4344573"/>
            <a:ext cx="1127760" cy="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4484040" y="2345826"/>
            <a:ext cx="0" cy="697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2954215" y="4331678"/>
            <a:ext cx="1505243" cy="1289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25083" y="2717431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1302" y="4040612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Lo</a:t>
            </a:r>
          </a:p>
        </p:txBody>
      </p:sp>
      <p:cxnSp>
        <p:nvCxnSpPr>
          <p:cNvPr id="30" name="Straight Connector 29"/>
          <p:cNvCxnSpPr/>
          <p:nvPr/>
        </p:nvCxnSpPr>
        <p:spPr>
          <a:xfrm flipV="1">
            <a:off x="2852188" y="2929372"/>
            <a:ext cx="0" cy="14152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4498107" y="2994743"/>
            <a:ext cx="0" cy="14152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1899138" y="3671668"/>
            <a:ext cx="938982" cy="2053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723976" y="5688872"/>
            <a:ext cx="3004003" cy="854609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Premption</a:t>
            </a:r>
            <a:r>
              <a:rPr lang="en-US" dirty="0">
                <a:solidFill>
                  <a:schemeClr val="tx1"/>
                </a:solidFill>
              </a:rPr>
              <a:t>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P1 waits now until P2 finishes</a:t>
            </a:r>
          </a:p>
        </p:txBody>
      </p:sp>
    </p:spTree>
    <p:extLst>
      <p:ext uri="{BB962C8B-B14F-4D97-AF65-F5344CB8AC3E}">
        <p14:creationId xmlns:p14="http://schemas.microsoft.com/office/powerpoint/2010/main" val="33823048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5472332" y="5556738"/>
            <a:ext cx="1103927" cy="492370"/>
          </a:xfrm>
          <a:prstGeom prst="roundRect">
            <a:avLst/>
          </a:prstGeom>
          <a:solidFill>
            <a:srgbClr val="F6BA92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with priority based preemption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838200" y="4344574"/>
            <a:ext cx="1511105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376326" y="4331677"/>
            <a:ext cx="475862" cy="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728191" y="3050747"/>
            <a:ext cx="623668" cy="1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838200" y="4586068"/>
            <a:ext cx="5257800" cy="281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0034" y="4696822"/>
            <a:ext cx="426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0     1      2      3      4      5      6      7       8       9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412" y="4040612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729717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6863" y="2450459"/>
            <a:ext cx="486216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P2 arrives in [0 3]    it preempts  P1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P2 arrives  in [4 7]    it preempts  P1 </a:t>
            </a:r>
            <a:br>
              <a:rPr lang="en-US" dirty="0"/>
            </a:br>
            <a:r>
              <a:rPr lang="en-US" dirty="0"/>
              <a:t>    provided P2 does not need the CS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P2 arrives in [4 7]   and it wants to execute CS</a:t>
            </a:r>
            <a:br>
              <a:rPr lang="en-US" b="1" dirty="0"/>
            </a:br>
            <a:r>
              <a:rPr lang="en-US" b="1" dirty="0"/>
              <a:t>    then it blocked until P1 finishes its CS.</a:t>
            </a:r>
            <a:br>
              <a:rPr lang="en-US" b="1" dirty="0"/>
            </a:br>
            <a:r>
              <a:rPr lang="en-US" b="1" dirty="0"/>
              <a:t>    So P1 is scheduled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15740" y="5066154"/>
            <a:ext cx="10486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-Code--</a:t>
            </a:r>
            <a:br>
              <a:rPr lang="en-US" dirty="0"/>
            </a:br>
            <a:r>
              <a:rPr lang="en-US" dirty="0"/>
              <a:t>-----------</a:t>
            </a:r>
            <a:br>
              <a:rPr lang="en-US" dirty="0"/>
            </a:br>
            <a:r>
              <a:rPr lang="en-US" dirty="0"/>
              <a:t>--</a:t>
            </a:r>
            <a:r>
              <a:rPr lang="en-US" dirty="0">
                <a:solidFill>
                  <a:srgbClr val="FF0000"/>
                </a:solidFill>
              </a:rPr>
              <a:t>-CS-</a:t>
            </a:r>
            <a:r>
              <a:rPr lang="en-US" dirty="0"/>
              <a:t>-----</a:t>
            </a:r>
            <a:br>
              <a:rPr lang="en-US" dirty="0"/>
            </a:br>
            <a:r>
              <a:rPr lang="en-US" dirty="0"/>
              <a:t>--------</a:t>
            </a:r>
            <a:br>
              <a:rPr lang="en-US" dirty="0"/>
            </a:br>
            <a:r>
              <a:rPr lang="en-US" dirty="0"/>
              <a:t>-------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2838120" y="2345826"/>
            <a:ext cx="14068" cy="6975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-180000">
            <a:off x="2852188" y="3018215"/>
            <a:ext cx="938927" cy="46600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3903063" y="4307910"/>
            <a:ext cx="1796992" cy="23766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2954215" y="4331676"/>
            <a:ext cx="948848" cy="12899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791115" y="2959895"/>
            <a:ext cx="0" cy="257375"/>
          </a:xfrm>
          <a:prstGeom prst="line">
            <a:avLst/>
          </a:prstGeom>
          <a:ln>
            <a:solidFill>
              <a:schemeClr val="accent2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3903063" y="3058367"/>
            <a:ext cx="1712677" cy="3021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25083" y="2717431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1302" y="4040612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Lo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V="1">
            <a:off x="2852188" y="2929372"/>
            <a:ext cx="0" cy="14152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5724636" y="3018215"/>
            <a:ext cx="0" cy="14152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1899138" y="3671668"/>
            <a:ext cx="938982" cy="2053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0" y="5436687"/>
            <a:ext cx="3004003" cy="854609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</a:rPr>
              <a:t>Premption</a:t>
            </a:r>
            <a:r>
              <a:rPr lang="en-US" dirty="0">
                <a:solidFill>
                  <a:schemeClr val="tx1"/>
                </a:solidFill>
              </a:rPr>
              <a:t>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P1 waits now until P2 wishes to enter the common CS</a:t>
            </a:r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3791115" y="2994743"/>
            <a:ext cx="0" cy="14152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3428639" y="3889660"/>
            <a:ext cx="326336" cy="2401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2837320" y="5887757"/>
            <a:ext cx="2462721" cy="854609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P2 blocks and because P1 is already in the CS, So P2 executes</a:t>
            </a:r>
          </a:p>
        </p:txBody>
      </p:sp>
      <p:cxnSp>
        <p:nvCxnSpPr>
          <p:cNvPr id="38" name="Straight Arrow Connector 37"/>
          <p:cNvCxnSpPr/>
          <p:nvPr/>
        </p:nvCxnSpPr>
        <p:spPr>
          <a:xfrm flipH="1" flipV="1">
            <a:off x="5735315" y="3680670"/>
            <a:ext cx="2259823" cy="1650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7802132" y="5129433"/>
            <a:ext cx="2462721" cy="854609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P2 enters CS once P1 is done</a:t>
            </a:r>
          </a:p>
        </p:txBody>
      </p:sp>
    </p:spTree>
    <p:extLst>
      <p:ext uri="{BB962C8B-B14F-4D97-AF65-F5344CB8AC3E}">
        <p14:creationId xmlns:p14="http://schemas.microsoft.com/office/powerpoint/2010/main" val="36955066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28"/>
          <p:cNvSpPr/>
          <p:nvPr/>
        </p:nvSpPr>
        <p:spPr>
          <a:xfrm>
            <a:off x="5472332" y="5556738"/>
            <a:ext cx="1103927" cy="492370"/>
          </a:xfrm>
          <a:prstGeom prst="roundRect">
            <a:avLst/>
          </a:prstGeom>
          <a:solidFill>
            <a:srgbClr val="F6BA92"/>
          </a:solidFill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with priority based preemption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838200" y="4344574"/>
            <a:ext cx="1511105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376326" y="4331677"/>
            <a:ext cx="475862" cy="0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838200" y="4586068"/>
            <a:ext cx="5257800" cy="281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0034" y="4696822"/>
            <a:ext cx="426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0     1      2      3      4      5      6      7       8       9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412" y="4040612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729717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6863" y="2450459"/>
            <a:ext cx="478169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P2 arrives in [0 3]    it preempts  P1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P2 arrives  in [4 7]    it preempts  P1 </a:t>
            </a:r>
            <a:br>
              <a:rPr lang="en-US" dirty="0"/>
            </a:br>
            <a:r>
              <a:rPr lang="en-US" dirty="0"/>
              <a:t>    provided P2 does not need the CS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P2 arrives in [4 7]   and it wants to execute CS</a:t>
            </a:r>
            <a:br>
              <a:rPr lang="en-US" dirty="0"/>
            </a:br>
            <a:r>
              <a:rPr lang="en-US" dirty="0"/>
              <a:t>    then it blocked until P1 finishes its CS.</a:t>
            </a:r>
            <a:br>
              <a:rPr lang="en-US" dirty="0"/>
            </a:br>
            <a:r>
              <a:rPr lang="en-US" dirty="0"/>
              <a:t>    So P1 is scheduled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What happens if P3 comes in between?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Note that P3 can in effect block P2, </a:t>
            </a:r>
          </a:p>
          <a:p>
            <a:r>
              <a:rPr lang="en-US" b="1" dirty="0"/>
              <a:t>           thus getting more priority.</a:t>
            </a:r>
            <a:br>
              <a:rPr lang="en-US" b="1" dirty="0"/>
            </a:br>
            <a:r>
              <a:rPr lang="en-US" b="1" dirty="0"/>
              <a:t>          “PRIORITY INVERSION”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15740" y="5066154"/>
            <a:ext cx="10486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-Code--</a:t>
            </a:r>
            <a:br>
              <a:rPr lang="en-US" dirty="0"/>
            </a:br>
            <a:r>
              <a:rPr lang="en-US" dirty="0"/>
              <a:t>-----------</a:t>
            </a:r>
            <a:br>
              <a:rPr lang="en-US" dirty="0"/>
            </a:br>
            <a:r>
              <a:rPr lang="en-US" dirty="0"/>
              <a:t>--</a:t>
            </a:r>
            <a:r>
              <a:rPr lang="en-US" dirty="0">
                <a:solidFill>
                  <a:srgbClr val="FF0000"/>
                </a:solidFill>
              </a:rPr>
              <a:t>-CS-</a:t>
            </a:r>
            <a:r>
              <a:rPr lang="en-US" dirty="0"/>
              <a:t>-----</a:t>
            </a:r>
            <a:br>
              <a:rPr lang="en-US" dirty="0"/>
            </a:br>
            <a:r>
              <a:rPr lang="en-US" dirty="0"/>
              <a:t>--------</a:t>
            </a:r>
            <a:br>
              <a:rPr lang="en-US" dirty="0"/>
            </a:br>
            <a:r>
              <a:rPr lang="en-US" dirty="0"/>
              <a:t>-------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2838120" y="2345826"/>
            <a:ext cx="14068" cy="69753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-180000">
            <a:off x="2852188" y="3018215"/>
            <a:ext cx="938927" cy="46600"/>
          </a:xfrm>
          <a:prstGeom prst="line">
            <a:avLst/>
          </a:prstGeom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903063" y="4331676"/>
            <a:ext cx="570466" cy="6449"/>
          </a:xfrm>
          <a:prstGeom prst="line">
            <a:avLst/>
          </a:prstGeom>
          <a:ln w="38100">
            <a:solidFill>
              <a:schemeClr val="accent2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2954215" y="4331676"/>
            <a:ext cx="948848" cy="12899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791115" y="2959895"/>
            <a:ext cx="0" cy="257375"/>
          </a:xfrm>
          <a:prstGeom prst="line">
            <a:avLst/>
          </a:prstGeom>
          <a:ln>
            <a:solidFill>
              <a:schemeClr val="accent2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903063" y="3088583"/>
            <a:ext cx="2668494" cy="10466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5083" y="2717431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1302" y="4040612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847" y="3466121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" y="3519299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P3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473529" y="3385164"/>
            <a:ext cx="14068" cy="429473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501664" y="3835453"/>
            <a:ext cx="2069893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4583884" y="4326039"/>
            <a:ext cx="1987673" cy="8288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2852188" y="3018215"/>
            <a:ext cx="0" cy="13263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3791115" y="3217271"/>
            <a:ext cx="0" cy="11273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501664" y="3835453"/>
            <a:ext cx="0" cy="5091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35" idx="3"/>
          </p:cNvCxnSpPr>
          <p:nvPr/>
        </p:nvCxnSpPr>
        <p:spPr>
          <a:xfrm flipV="1">
            <a:off x="3671441" y="4138080"/>
            <a:ext cx="816156" cy="19239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194560" y="5863980"/>
            <a:ext cx="1476881" cy="396143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Preemption:</a:t>
            </a:r>
          </a:p>
        </p:txBody>
      </p:sp>
    </p:spTree>
    <p:extLst>
      <p:ext uri="{BB962C8B-B14F-4D97-AF65-F5344CB8AC3E}">
        <p14:creationId xmlns:p14="http://schemas.microsoft.com/office/powerpoint/2010/main" val="62183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inversion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This is a peculiar phenomenon where a lower priority process can make the higher priority process wait unreasonably long.</a:t>
            </a:r>
          </a:p>
          <a:p>
            <a:r>
              <a:rPr lang="en-US" dirty="0"/>
              <a:t>It happens because of the need to have ‘critical sections’ </a:t>
            </a:r>
          </a:p>
          <a:p>
            <a:pPr lvl="1"/>
            <a:r>
              <a:rPr lang="en-US" dirty="0"/>
              <a:t>Critical sections are code where only one process can be executing at a time. Thus multiple processes are excluded from entering at the same time.</a:t>
            </a:r>
          </a:p>
          <a:p>
            <a:pPr lvl="1"/>
            <a:r>
              <a:rPr lang="en-US" dirty="0"/>
              <a:t>More about critical sections later.</a:t>
            </a:r>
          </a:p>
          <a:p>
            <a:r>
              <a:rPr lang="en-US" dirty="0"/>
              <a:t>It also happens because of the way FIFO policy treats priorities</a:t>
            </a:r>
          </a:p>
          <a:p>
            <a:r>
              <a:rPr lang="en-US" dirty="0"/>
              <a:t>One way to deal with it is  called </a:t>
            </a:r>
            <a:r>
              <a:rPr lang="en-US" b="1" dirty="0"/>
              <a:t>Priority </a:t>
            </a:r>
            <a:r>
              <a:rPr lang="en-US" b="1" dirty="0" err="1"/>
              <a:t>Inheritence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/>
              <a:t>A process running the CS temporarily inherits/gets the priority of the highest priority process which is blocked on the CS</a:t>
            </a:r>
          </a:p>
          <a:p>
            <a:pPr lvl="1"/>
            <a:r>
              <a:rPr lang="en-US" dirty="0"/>
              <a:t>In our example P1 running in the CS would inherit P2’s priority when P2 blocks on the CS</a:t>
            </a:r>
          </a:p>
          <a:p>
            <a:pPr lvl="1"/>
            <a:r>
              <a:rPr lang="en-US" dirty="0"/>
              <a:t>Thus P3 can’t preempt P1</a:t>
            </a:r>
          </a:p>
          <a:p>
            <a:pPr lvl="1"/>
            <a:r>
              <a:rPr lang="en-US" dirty="0"/>
              <a:t>P1 returns to original priority the moment it exits the CS </a:t>
            </a:r>
          </a:p>
        </p:txBody>
      </p:sp>
    </p:spTree>
    <p:extLst>
      <p:ext uri="{BB962C8B-B14F-4D97-AF65-F5344CB8AC3E}">
        <p14:creationId xmlns:p14="http://schemas.microsoft.com/office/powerpoint/2010/main" val="32312186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Process Scheduling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Process states and transitions</a:t>
            </a:r>
          </a:p>
          <a:p>
            <a:r>
              <a:rPr lang="en-US" dirty="0"/>
              <a:t>What is a background process?</a:t>
            </a:r>
          </a:p>
          <a:p>
            <a:r>
              <a:rPr lang="en-US" dirty="0"/>
              <a:t>What are zombie processes and how to create them.</a:t>
            </a:r>
          </a:p>
          <a:p>
            <a:r>
              <a:rPr lang="en-US" dirty="0"/>
              <a:t>Re-parenting of (orphaned) processes</a:t>
            </a:r>
          </a:p>
          <a:p>
            <a:r>
              <a:rPr lang="en-US" dirty="0"/>
              <a:t>How to change the priority of processes?</a:t>
            </a:r>
          </a:p>
          <a:p>
            <a:r>
              <a:rPr lang="en-US" dirty="0"/>
              <a:t>Different scheduling strategies</a:t>
            </a:r>
          </a:p>
          <a:p>
            <a:r>
              <a:rPr lang="en-US" dirty="0"/>
              <a:t>Different scheduling metrics TAT and RT</a:t>
            </a:r>
          </a:p>
          <a:p>
            <a:r>
              <a:rPr lang="en-US" dirty="0"/>
              <a:t>Priorities and scheduling policies in Linux.</a:t>
            </a:r>
          </a:p>
          <a:p>
            <a:r>
              <a:rPr lang="en-US" dirty="0"/>
              <a:t>System calls: fork(), exec(), wait(), getting and setting scheduler policy  and process priority information.</a:t>
            </a:r>
          </a:p>
          <a:p>
            <a:r>
              <a:rPr lang="en-US" dirty="0"/>
              <a:t>Examples show how to change priorities and scheduling policies on Linux.</a:t>
            </a:r>
          </a:p>
          <a:p>
            <a:r>
              <a:rPr lang="en-US"/>
              <a:t>Priority Inversion</a:t>
            </a:r>
            <a:endParaRPr lang="en-US" dirty="0"/>
          </a:p>
          <a:p>
            <a:r>
              <a:rPr lang="en-US" dirty="0"/>
              <a:t>Please see example code on </a:t>
            </a:r>
            <a:r>
              <a:rPr lang="en-US" dirty="0" err="1"/>
              <a:t>gthub</a:t>
            </a:r>
            <a:r>
              <a:rPr lang="en-US" dirty="0"/>
              <a:t> under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procs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685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8DB4F-274D-E855-C2F3-A9B4CF41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priorities in Linux(1)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18514-0E26-F1CB-1B4D-8D583767B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5032375"/>
          </a:xfrm>
        </p:spPr>
        <p:txBody>
          <a:bodyPr/>
          <a:lstStyle/>
          <a:p>
            <a:r>
              <a:rPr lang="en-US" dirty="0"/>
              <a:t>The following is a useful alias</a:t>
            </a:r>
          </a:p>
          <a:p>
            <a:r>
              <a:rPr lang="it-IT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alias psprio='ps ao pid,ppid,comm,tty,stat,wchan,ni,pri,rtprio,cls’</a:t>
            </a:r>
          </a:p>
          <a:p>
            <a:r>
              <a:rPr lang="en-US" dirty="0"/>
              <a:t>Here is a sample output. Notice CLS(SCHED_OTHER) and NI (nice value)</a:t>
            </a:r>
            <a:br>
              <a:rPr lang="en-US" dirty="0"/>
            </a:br>
            <a:r>
              <a:rPr lang="en-US" dirty="0"/>
              <a:t> and STAT (state) for the loopy processes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13C85C-00AD-AE2A-3C6A-F4015BB84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605" y="3620597"/>
            <a:ext cx="8511321" cy="287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2270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8DB4F-274D-E855-C2F3-A9B4CF41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priorities in Linux(2)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18514-0E26-F1CB-1B4D-8D583767B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5032375"/>
          </a:xfrm>
        </p:spPr>
        <p:txBody>
          <a:bodyPr/>
          <a:lstStyle/>
          <a:p>
            <a:r>
              <a:rPr lang="en-US" dirty="0"/>
              <a:t>Here are some commands I used and the final process states. </a:t>
            </a:r>
            <a:r>
              <a:rPr lang="en-US"/>
              <a:t>Notice changes: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9CC215-B179-4F45-D5DB-F5815CD75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478" y="2269515"/>
            <a:ext cx="8274196" cy="457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7615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end of the topic of Process Management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43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25756</TotalTime>
  <Words>3321</Words>
  <Application>Microsoft Office PowerPoint</Application>
  <PresentationFormat>Widescreen</PresentationFormat>
  <Paragraphs>482</Paragraphs>
  <Slides>35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Bahnschrift SemiBold</vt:lpstr>
      <vt:lpstr>Calibri</vt:lpstr>
      <vt:lpstr>Calibri Light</vt:lpstr>
      <vt:lpstr>Cambria Math</vt:lpstr>
      <vt:lpstr>Courier New</vt:lpstr>
      <vt:lpstr>Garamond</vt:lpstr>
      <vt:lpstr>Times New Roman</vt:lpstr>
      <vt:lpstr>Office Theme</vt:lpstr>
      <vt:lpstr>Process Scheduling</vt:lpstr>
      <vt:lpstr>Recall : Process states and transitions</vt:lpstr>
      <vt:lpstr>Context Switching</vt:lpstr>
      <vt:lpstr>The Run Queue and Scheduling</vt:lpstr>
      <vt:lpstr>Scheduling processes on the CPU</vt:lpstr>
      <vt:lpstr>Simple Scheduling Metrics and Job assumptions</vt:lpstr>
      <vt:lpstr>FCFS or FIFO</vt:lpstr>
      <vt:lpstr>SJF – Being sensitive to the job length</vt:lpstr>
      <vt:lpstr>STCF – Taking into account preemption</vt:lpstr>
      <vt:lpstr>Response time</vt:lpstr>
      <vt:lpstr>Preemption and the Response time  metric – Round Robin (RR)</vt:lpstr>
      <vt:lpstr>Round Robin’s unintended overhead</vt:lpstr>
      <vt:lpstr>Overlap of I/O and CPU - Blocked Processes</vt:lpstr>
      <vt:lpstr>In a general context</vt:lpstr>
      <vt:lpstr>Priorities in Scheduling</vt:lpstr>
      <vt:lpstr>Dealing with the TAT vs RT tradeoff</vt:lpstr>
      <vt:lpstr>Multi Level  Queues for scheduling with per-process fixed priorities</vt:lpstr>
      <vt:lpstr>Linux Real-Time Scheduling – NOT for normal processes</vt:lpstr>
      <vt:lpstr>Multi Level Feedback Queue based Scheduling (priority change over time) </vt:lpstr>
      <vt:lpstr>Linux Fair scheduling (CFS) for normal processes – NOT for real-time processes – Simplified explanation</vt:lpstr>
      <vt:lpstr>Linux Real-Time Scheduling … but with a deadline</vt:lpstr>
      <vt:lpstr>Adding more fairness - Groups</vt:lpstr>
      <vt:lpstr>Notion of Time in the OS</vt:lpstr>
      <vt:lpstr>Critical sections and scheduling</vt:lpstr>
      <vt:lpstr>Scheduler behavior with critical sections</vt:lpstr>
      <vt:lpstr>FIFO with priority based preemption</vt:lpstr>
      <vt:lpstr>FIFO with priority based preemption</vt:lpstr>
      <vt:lpstr>FIFO with priority based preemption</vt:lpstr>
      <vt:lpstr>FIFO with priority based preemption</vt:lpstr>
      <vt:lpstr>FIFO with priority based preemption</vt:lpstr>
      <vt:lpstr>Priority inversion</vt:lpstr>
      <vt:lpstr>Summary Process Scheduling</vt:lpstr>
      <vt:lpstr>Exploring priorities in Linux(1)</vt:lpstr>
      <vt:lpstr>Exploring priorities in Linux(2)</vt:lpstr>
      <vt:lpstr>The end of the topic of Process Management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Management</dc:title>
  <dc:creator>Badrinath R</dc:creator>
  <cp:lastModifiedBy>Badrinath R</cp:lastModifiedBy>
  <cp:revision>142</cp:revision>
  <dcterms:created xsi:type="dcterms:W3CDTF">2022-02-02T12:58:27Z</dcterms:created>
  <dcterms:modified xsi:type="dcterms:W3CDTF">2026-01-29T07:39:06Z</dcterms:modified>
</cp:coreProperties>
</file>