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337" r:id="rId3"/>
    <p:sldId id="261" r:id="rId4"/>
    <p:sldId id="299" r:id="rId5"/>
    <p:sldId id="259" r:id="rId6"/>
    <p:sldId id="292" r:id="rId7"/>
    <p:sldId id="298" r:id="rId8"/>
    <p:sldId id="297" r:id="rId9"/>
    <p:sldId id="343" r:id="rId10"/>
    <p:sldId id="293" r:id="rId11"/>
    <p:sldId id="300" r:id="rId12"/>
    <p:sldId id="262" r:id="rId13"/>
    <p:sldId id="307" r:id="rId14"/>
    <p:sldId id="263" r:id="rId15"/>
    <p:sldId id="276" r:id="rId16"/>
    <p:sldId id="264" r:id="rId17"/>
    <p:sldId id="308" r:id="rId18"/>
    <p:sldId id="301" r:id="rId19"/>
    <p:sldId id="265" r:id="rId20"/>
    <p:sldId id="266" r:id="rId21"/>
    <p:sldId id="267" r:id="rId22"/>
    <p:sldId id="268" r:id="rId23"/>
    <p:sldId id="294" r:id="rId24"/>
    <p:sldId id="338" r:id="rId25"/>
    <p:sldId id="302" r:id="rId26"/>
    <p:sldId id="303" r:id="rId27"/>
    <p:sldId id="305" r:id="rId28"/>
    <p:sldId id="306" r:id="rId29"/>
    <p:sldId id="272" r:id="rId30"/>
    <p:sldId id="273" r:id="rId31"/>
    <p:sldId id="269" r:id="rId32"/>
    <p:sldId id="270" r:id="rId33"/>
    <p:sldId id="314" r:id="rId34"/>
    <p:sldId id="313" r:id="rId35"/>
    <p:sldId id="274" r:id="rId36"/>
    <p:sldId id="275" r:id="rId37"/>
    <p:sldId id="339" r:id="rId38"/>
    <p:sldId id="278" r:id="rId39"/>
    <p:sldId id="279" r:id="rId40"/>
    <p:sldId id="340" r:id="rId41"/>
    <p:sldId id="296" r:id="rId42"/>
    <p:sldId id="311" r:id="rId43"/>
    <p:sldId id="309" r:id="rId44"/>
    <p:sldId id="310" r:id="rId45"/>
    <p:sldId id="315" r:id="rId46"/>
    <p:sldId id="316" r:id="rId47"/>
    <p:sldId id="342" r:id="rId48"/>
    <p:sldId id="317" r:id="rId49"/>
    <p:sldId id="318" r:id="rId50"/>
    <p:sldId id="312" r:id="rId51"/>
    <p:sldId id="331" r:id="rId52"/>
    <p:sldId id="319" r:id="rId53"/>
    <p:sldId id="320" r:id="rId54"/>
    <p:sldId id="332" r:id="rId55"/>
    <p:sldId id="336" r:id="rId56"/>
    <p:sldId id="335" r:id="rId57"/>
    <p:sldId id="341" r:id="rId58"/>
    <p:sldId id="330" r:id="rId59"/>
    <p:sldId id="322" r:id="rId60"/>
    <p:sldId id="327" r:id="rId61"/>
    <p:sldId id="323" r:id="rId62"/>
    <p:sldId id="326" r:id="rId63"/>
    <p:sldId id="334" r:id="rId64"/>
    <p:sldId id="333" r:id="rId65"/>
    <p:sldId id="324" r:id="rId66"/>
    <p:sldId id="325" r:id="rId67"/>
    <p:sldId id="328" r:id="rId68"/>
    <p:sldId id="329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DB19"/>
    <a:srgbClr val="EBF937"/>
    <a:srgbClr val="EEC358"/>
    <a:srgbClr val="FF3300"/>
    <a:srgbClr val="EA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C30DE-225E-4727-829C-FE3CF2116E90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1D0B-B58F-440E-94AF-7A96B105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3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Trivial web server: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while : ; do ( echo -ne ``HTTP/1.1 200 OK\r\n'' ; cat index.html; ) |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-l -p 8080 ; done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BE1D0B-B58F-440E-94AF-7A96B105A5D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59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7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6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9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6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2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7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1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8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8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6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C63D-A225-47E4-A8AC-9D0C463B4E84}" type="datetimeFigureOut">
              <a:rPr lang="en-US" smtClean="0"/>
              <a:t>11-Apr-25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12099-FD01-47E4-AAB3-0F8161A99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0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step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Concurrency, Coordination and Communication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Or</a:t>
            </a:r>
          </a:p>
          <a:p>
            <a:r>
              <a:rPr lang="en-US" sz="6000" dirty="0" smtClean="0"/>
              <a:t>IPC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39133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 of Concurrency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9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 of Concurrency in Operating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Processes</a:t>
            </a:r>
          </a:p>
          <a:p>
            <a:r>
              <a:rPr lang="en-US" dirty="0" smtClean="0"/>
              <a:t>Threads (sometimes called light weight processes)</a:t>
            </a:r>
          </a:p>
          <a:p>
            <a:r>
              <a:rPr lang="en-US" dirty="0" smtClean="0"/>
              <a:t>Scheduling 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ll general purpose operating systems are preemptive!</a:t>
            </a:r>
          </a:p>
          <a:p>
            <a:pPr lvl="1"/>
            <a:r>
              <a:rPr lang="en-US" dirty="0" smtClean="0"/>
              <a:t>Single CPU systems have concurrency too</a:t>
            </a:r>
          </a:p>
          <a:p>
            <a:pPr lvl="1"/>
            <a:r>
              <a:rPr lang="en-US" dirty="0" smtClean="0"/>
              <a:t>Multiple CPUs add their own flavor to this</a:t>
            </a:r>
          </a:p>
          <a:p>
            <a:pPr lvl="1"/>
            <a:r>
              <a:rPr lang="en-US" dirty="0" smtClean="0"/>
              <a:t>Sometimes we call threads and processes together as “</a:t>
            </a:r>
            <a:r>
              <a:rPr lang="en-US" b="1" dirty="0" smtClean="0"/>
              <a:t>tasks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Note – </a:t>
            </a:r>
            <a:r>
              <a:rPr lang="en-US" i="1" dirty="0" smtClean="0"/>
              <a:t>Kernel has a lot of concurrent tasks</a:t>
            </a:r>
            <a:r>
              <a:rPr lang="en-US" dirty="0" smtClean="0"/>
              <a:t>!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7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concept of ‘threads’ and an example with Linux </a:t>
            </a:r>
            <a:r>
              <a:rPr lang="en-US" dirty="0" err="1" smtClean="0"/>
              <a:t>pthreads</a:t>
            </a:r>
            <a:r>
              <a:rPr lang="en-US" dirty="0" smtClean="0"/>
              <a:t> library functions.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another way (in addition to processes) to create concurrency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5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Concurrency with Threads (as opposed to processes)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Threads share almost everything with each other</a:t>
            </a:r>
          </a:p>
          <a:p>
            <a:pPr lvl="1"/>
            <a:r>
              <a:rPr lang="en-US" dirty="0" smtClean="0"/>
              <a:t>No parent-child relationship (in terms of PIDs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 lvl="1"/>
            <a:r>
              <a:rPr lang="en-US" b="1" u="sng" dirty="0" smtClean="0"/>
              <a:t>Shared address space </a:t>
            </a:r>
            <a:r>
              <a:rPr lang="en-US" dirty="0" smtClean="0"/>
              <a:t>– watch out – this can be dangerous! However this means they can easily share data.</a:t>
            </a:r>
          </a:p>
          <a:p>
            <a:pPr lvl="1"/>
            <a:r>
              <a:rPr lang="en-US" b="1" dirty="0" smtClean="0"/>
              <a:t>Except the call stack!</a:t>
            </a:r>
          </a:p>
          <a:p>
            <a:pPr lvl="1"/>
            <a:r>
              <a:rPr lang="en-US" dirty="0" smtClean="0"/>
              <a:t>They are identified by different thread IDs (not different PIDs)</a:t>
            </a:r>
          </a:p>
          <a:p>
            <a:pPr lvl="1"/>
            <a:r>
              <a:rPr lang="en-US" dirty="0" smtClean="0"/>
              <a:t>Linux calls them as light-weight processes(LWP) see   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eLF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/>
              <a:t>They are independently schedulable</a:t>
            </a:r>
          </a:p>
          <a:p>
            <a:r>
              <a:rPr lang="en-US" dirty="0" smtClean="0"/>
              <a:t>Note – </a:t>
            </a:r>
            <a:r>
              <a:rPr lang="en-US" i="1" dirty="0" smtClean="0"/>
              <a:t>User threads </a:t>
            </a:r>
            <a:r>
              <a:rPr lang="en-US" dirty="0" smtClean="0"/>
              <a:t>vs </a:t>
            </a:r>
            <a:r>
              <a:rPr lang="en-US" i="1" dirty="0" smtClean="0"/>
              <a:t>Kernel threads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4400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 and threads – creating and using threads in practice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119086" y="1690688"/>
            <a:ext cx="711200" cy="442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P1</a:t>
            </a:r>
            <a:endParaRPr lang="en-US" dirty="0"/>
          </a:p>
        </p:txBody>
      </p:sp>
      <p:sp>
        <p:nvSpPr>
          <p:cNvPr id="8" name="Freeform 7"/>
          <p:cNvSpPr/>
          <p:nvPr/>
        </p:nvSpPr>
        <p:spPr>
          <a:xfrm>
            <a:off x="2128276" y="2133599"/>
            <a:ext cx="557318" cy="2583543"/>
          </a:xfrm>
          <a:custGeom>
            <a:avLst/>
            <a:gdLst>
              <a:gd name="connsiteX0" fmla="*/ 324638 w 557318"/>
              <a:gd name="connsiteY0" fmla="*/ 0 h 2133600"/>
              <a:gd name="connsiteX1" fmla="*/ 5324 w 557318"/>
              <a:gd name="connsiteY1" fmla="*/ 188686 h 2133600"/>
              <a:gd name="connsiteX2" fmla="*/ 556867 w 557318"/>
              <a:gd name="connsiteY2" fmla="*/ 449943 h 2133600"/>
              <a:gd name="connsiteX3" fmla="*/ 106924 w 557318"/>
              <a:gd name="connsiteY3" fmla="*/ 696686 h 2133600"/>
              <a:gd name="connsiteX4" fmla="*/ 542353 w 557318"/>
              <a:gd name="connsiteY4" fmla="*/ 943429 h 2133600"/>
              <a:gd name="connsiteX5" fmla="*/ 106924 w 557318"/>
              <a:gd name="connsiteY5" fmla="*/ 1132114 h 2133600"/>
              <a:gd name="connsiteX6" fmla="*/ 469781 w 557318"/>
              <a:gd name="connsiteY6" fmla="*/ 1378857 h 2133600"/>
              <a:gd name="connsiteX7" fmla="*/ 48867 w 557318"/>
              <a:gd name="connsiteY7" fmla="*/ 1582057 h 2133600"/>
              <a:gd name="connsiteX8" fmla="*/ 484295 w 557318"/>
              <a:gd name="connsiteY8" fmla="*/ 1959429 h 2133600"/>
              <a:gd name="connsiteX9" fmla="*/ 48867 w 557318"/>
              <a:gd name="connsiteY9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318" h="2133600">
                <a:moveTo>
                  <a:pt x="324638" y="0"/>
                </a:moveTo>
                <a:cubicBezTo>
                  <a:pt x="145628" y="56848"/>
                  <a:pt x="-33381" y="113696"/>
                  <a:pt x="5324" y="188686"/>
                </a:cubicBezTo>
                <a:cubicBezTo>
                  <a:pt x="44029" y="263677"/>
                  <a:pt x="539934" y="365276"/>
                  <a:pt x="556867" y="449943"/>
                </a:cubicBezTo>
                <a:cubicBezTo>
                  <a:pt x="573800" y="534610"/>
                  <a:pt x="109343" y="614438"/>
                  <a:pt x="106924" y="696686"/>
                </a:cubicBezTo>
                <a:cubicBezTo>
                  <a:pt x="104505" y="778934"/>
                  <a:pt x="542353" y="870858"/>
                  <a:pt x="542353" y="943429"/>
                </a:cubicBezTo>
                <a:cubicBezTo>
                  <a:pt x="542353" y="1016000"/>
                  <a:pt x="119019" y="1059543"/>
                  <a:pt x="106924" y="1132114"/>
                </a:cubicBezTo>
                <a:cubicBezTo>
                  <a:pt x="94829" y="1204685"/>
                  <a:pt x="479457" y="1303867"/>
                  <a:pt x="469781" y="1378857"/>
                </a:cubicBezTo>
                <a:cubicBezTo>
                  <a:pt x="460105" y="1453847"/>
                  <a:pt x="46448" y="1485295"/>
                  <a:pt x="48867" y="1582057"/>
                </a:cubicBezTo>
                <a:cubicBezTo>
                  <a:pt x="51286" y="1678819"/>
                  <a:pt x="484295" y="1867505"/>
                  <a:pt x="484295" y="1959429"/>
                </a:cubicBezTo>
                <a:cubicBezTo>
                  <a:pt x="484295" y="2051353"/>
                  <a:pt x="266581" y="2092476"/>
                  <a:pt x="48867" y="21336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128276" y="2471170"/>
            <a:ext cx="899886" cy="2106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f</a:t>
            </a:r>
            <a:r>
              <a:rPr lang="en-US" dirty="0" smtClean="0">
                <a:solidFill>
                  <a:schemeClr val="accent2"/>
                </a:solidFill>
              </a:rPr>
              <a:t>ork()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028162" y="2576512"/>
            <a:ext cx="1057610" cy="1850344"/>
            <a:chOff x="3028162" y="2576512"/>
            <a:chExt cx="1057610" cy="1850344"/>
          </a:xfrm>
        </p:grpSpPr>
        <p:sp>
          <p:nvSpPr>
            <p:cNvPr id="10" name="Oval 9"/>
            <p:cNvSpPr/>
            <p:nvPr/>
          </p:nvSpPr>
          <p:spPr>
            <a:xfrm>
              <a:off x="3374572" y="2768261"/>
              <a:ext cx="711200" cy="442912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P2</a:t>
              </a:r>
              <a:endParaRPr lang="en-US" dirty="0"/>
            </a:p>
          </p:txBody>
        </p:sp>
        <p:cxnSp>
          <p:nvCxnSpPr>
            <p:cNvPr id="12" name="Straight Arrow Connector 11"/>
            <p:cNvCxnSpPr>
              <a:stCxn id="9" idx="3"/>
              <a:endCxn id="10" idx="1"/>
            </p:cNvCxnSpPr>
            <p:nvPr/>
          </p:nvCxnSpPr>
          <p:spPr>
            <a:xfrm>
              <a:off x="3028162" y="2576512"/>
              <a:ext cx="450563" cy="256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3389802" y="3222171"/>
              <a:ext cx="593033" cy="1204685"/>
            </a:xfrm>
            <a:custGeom>
              <a:avLst/>
              <a:gdLst>
                <a:gd name="connsiteX0" fmla="*/ 325855 w 593033"/>
                <a:gd name="connsiteY0" fmla="*/ 0 h 638629"/>
                <a:gd name="connsiteX1" fmla="*/ 6541 w 593033"/>
                <a:gd name="connsiteY1" fmla="*/ 72572 h 638629"/>
                <a:gd name="connsiteX2" fmla="*/ 587112 w 593033"/>
                <a:gd name="connsiteY2" fmla="*/ 217715 h 638629"/>
                <a:gd name="connsiteX3" fmla="*/ 21055 w 593033"/>
                <a:gd name="connsiteY3" fmla="*/ 333829 h 638629"/>
                <a:gd name="connsiteX4" fmla="*/ 587112 w 593033"/>
                <a:gd name="connsiteY4" fmla="*/ 449943 h 638629"/>
                <a:gd name="connsiteX5" fmla="*/ 267798 w 593033"/>
                <a:gd name="connsiteY5" fmla="*/ 638629 h 6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3033" h="638629">
                  <a:moveTo>
                    <a:pt x="325855" y="0"/>
                  </a:moveTo>
                  <a:cubicBezTo>
                    <a:pt x="144426" y="18143"/>
                    <a:pt x="-37002" y="36286"/>
                    <a:pt x="6541" y="72572"/>
                  </a:cubicBezTo>
                  <a:cubicBezTo>
                    <a:pt x="50084" y="108858"/>
                    <a:pt x="584693" y="174172"/>
                    <a:pt x="587112" y="217715"/>
                  </a:cubicBezTo>
                  <a:cubicBezTo>
                    <a:pt x="589531" y="261258"/>
                    <a:pt x="21055" y="295124"/>
                    <a:pt x="21055" y="333829"/>
                  </a:cubicBezTo>
                  <a:cubicBezTo>
                    <a:pt x="21055" y="372534"/>
                    <a:pt x="545988" y="399143"/>
                    <a:pt x="587112" y="449943"/>
                  </a:cubicBezTo>
                  <a:cubicBezTo>
                    <a:pt x="628236" y="500743"/>
                    <a:pt x="448017" y="569686"/>
                    <a:pt x="267798" y="6386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2024743" y="3684643"/>
            <a:ext cx="899886" cy="2797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2"/>
                </a:solidFill>
              </a:rPr>
              <a:t>wait()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028162" y="3947886"/>
            <a:ext cx="1151953" cy="618839"/>
            <a:chOff x="3028162" y="3947886"/>
            <a:chExt cx="1151953" cy="618839"/>
          </a:xfrm>
        </p:grpSpPr>
        <p:cxnSp>
          <p:nvCxnSpPr>
            <p:cNvPr id="16" name="Straight Arrow Connector 15"/>
            <p:cNvCxnSpPr/>
            <p:nvPr/>
          </p:nvCxnSpPr>
          <p:spPr>
            <a:xfrm flipH="1" flipV="1">
              <a:off x="3028162" y="3947886"/>
              <a:ext cx="658156" cy="4789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3280229" y="4286986"/>
              <a:ext cx="899886" cy="2797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</a:rPr>
                <a:t>exit()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38200" y="1912143"/>
            <a:ext cx="903514" cy="3153343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51491" y="2833124"/>
            <a:ext cx="903514" cy="3211399"/>
          </a:xfrm>
          <a:prstGeom prst="rect">
            <a:avLst/>
          </a:prstGeom>
          <a:pattFill prst="ltHorz">
            <a:fgClr>
              <a:schemeClr val="accent6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767386" y="1076495"/>
            <a:ext cx="2656113" cy="3918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P1</a:t>
            </a:r>
            <a:endParaRPr lang="en-US" dirty="0"/>
          </a:p>
        </p:txBody>
      </p:sp>
      <p:grpSp>
        <p:nvGrpSpPr>
          <p:cNvPr id="38" name="Group 37"/>
          <p:cNvGrpSpPr/>
          <p:nvPr/>
        </p:nvGrpSpPr>
        <p:grpSpPr>
          <a:xfrm>
            <a:off x="7464782" y="1797560"/>
            <a:ext cx="4364360" cy="3790440"/>
            <a:chOff x="7464782" y="1797560"/>
            <a:chExt cx="4364360" cy="3790440"/>
          </a:xfrm>
        </p:grpSpPr>
        <p:sp>
          <p:nvSpPr>
            <p:cNvPr id="20" name="Oval 19"/>
            <p:cNvSpPr/>
            <p:nvPr/>
          </p:nvSpPr>
          <p:spPr>
            <a:xfrm>
              <a:off x="9209314" y="1797560"/>
              <a:ext cx="711200" cy="44291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9218504" y="2240471"/>
              <a:ext cx="557318" cy="2583543"/>
            </a:xfrm>
            <a:custGeom>
              <a:avLst/>
              <a:gdLst>
                <a:gd name="connsiteX0" fmla="*/ 324638 w 557318"/>
                <a:gd name="connsiteY0" fmla="*/ 0 h 2133600"/>
                <a:gd name="connsiteX1" fmla="*/ 5324 w 557318"/>
                <a:gd name="connsiteY1" fmla="*/ 188686 h 2133600"/>
                <a:gd name="connsiteX2" fmla="*/ 556867 w 557318"/>
                <a:gd name="connsiteY2" fmla="*/ 449943 h 2133600"/>
                <a:gd name="connsiteX3" fmla="*/ 106924 w 557318"/>
                <a:gd name="connsiteY3" fmla="*/ 696686 h 2133600"/>
                <a:gd name="connsiteX4" fmla="*/ 542353 w 557318"/>
                <a:gd name="connsiteY4" fmla="*/ 943429 h 2133600"/>
                <a:gd name="connsiteX5" fmla="*/ 106924 w 557318"/>
                <a:gd name="connsiteY5" fmla="*/ 1132114 h 2133600"/>
                <a:gd name="connsiteX6" fmla="*/ 469781 w 557318"/>
                <a:gd name="connsiteY6" fmla="*/ 1378857 h 2133600"/>
                <a:gd name="connsiteX7" fmla="*/ 48867 w 557318"/>
                <a:gd name="connsiteY7" fmla="*/ 1582057 h 2133600"/>
                <a:gd name="connsiteX8" fmla="*/ 484295 w 557318"/>
                <a:gd name="connsiteY8" fmla="*/ 1959429 h 2133600"/>
                <a:gd name="connsiteX9" fmla="*/ 48867 w 557318"/>
                <a:gd name="connsiteY9" fmla="*/ 213360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7318" h="2133600">
                  <a:moveTo>
                    <a:pt x="324638" y="0"/>
                  </a:moveTo>
                  <a:cubicBezTo>
                    <a:pt x="145628" y="56848"/>
                    <a:pt x="-33381" y="113696"/>
                    <a:pt x="5324" y="188686"/>
                  </a:cubicBezTo>
                  <a:cubicBezTo>
                    <a:pt x="44029" y="263677"/>
                    <a:pt x="539934" y="365276"/>
                    <a:pt x="556867" y="449943"/>
                  </a:cubicBezTo>
                  <a:cubicBezTo>
                    <a:pt x="573800" y="534610"/>
                    <a:pt x="109343" y="614438"/>
                    <a:pt x="106924" y="696686"/>
                  </a:cubicBezTo>
                  <a:cubicBezTo>
                    <a:pt x="104505" y="778934"/>
                    <a:pt x="542353" y="870858"/>
                    <a:pt x="542353" y="943429"/>
                  </a:cubicBezTo>
                  <a:cubicBezTo>
                    <a:pt x="542353" y="1016000"/>
                    <a:pt x="119019" y="1059543"/>
                    <a:pt x="106924" y="1132114"/>
                  </a:cubicBezTo>
                  <a:cubicBezTo>
                    <a:pt x="94829" y="1204685"/>
                    <a:pt x="479457" y="1303867"/>
                    <a:pt x="469781" y="1378857"/>
                  </a:cubicBezTo>
                  <a:cubicBezTo>
                    <a:pt x="460105" y="1453847"/>
                    <a:pt x="46448" y="1485295"/>
                    <a:pt x="48867" y="1582057"/>
                  </a:cubicBezTo>
                  <a:cubicBezTo>
                    <a:pt x="51286" y="1678819"/>
                    <a:pt x="484295" y="1867505"/>
                    <a:pt x="484295" y="1959429"/>
                  </a:cubicBezTo>
                  <a:cubicBezTo>
                    <a:pt x="484295" y="2051353"/>
                    <a:pt x="266581" y="2092476"/>
                    <a:pt x="48867" y="21336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403771" y="2578042"/>
              <a:ext cx="1714619" cy="3505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2"/>
                  </a:solidFill>
                </a:rPr>
                <a:t>Thread_create</a:t>
              </a:r>
              <a:r>
                <a:rPr lang="en-US" dirty="0" smtClean="0">
                  <a:solidFill>
                    <a:schemeClr val="accent2"/>
                  </a:solidFill>
                </a:rPr>
                <a:t>()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10464800" y="2875133"/>
              <a:ext cx="711200" cy="44291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</a:t>
              </a:r>
              <a:r>
                <a:rPr lang="en-US" dirty="0" smtClean="0"/>
                <a:t>2</a:t>
              </a:r>
              <a:endParaRPr lang="en-US" dirty="0"/>
            </a:p>
          </p:txBody>
        </p:sp>
        <p:cxnSp>
          <p:nvCxnSpPr>
            <p:cNvPr id="24" name="Straight Arrow Connector 23"/>
            <p:cNvCxnSpPr>
              <a:stCxn id="22" idx="3"/>
              <a:endCxn id="23" idx="1"/>
            </p:cNvCxnSpPr>
            <p:nvPr/>
          </p:nvCxnSpPr>
          <p:spPr>
            <a:xfrm>
              <a:off x="10118390" y="2753319"/>
              <a:ext cx="450563" cy="186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/>
            <p:cNvSpPr/>
            <p:nvPr/>
          </p:nvSpPr>
          <p:spPr>
            <a:xfrm>
              <a:off x="10480030" y="3329043"/>
              <a:ext cx="593033" cy="1204685"/>
            </a:xfrm>
            <a:custGeom>
              <a:avLst/>
              <a:gdLst>
                <a:gd name="connsiteX0" fmla="*/ 325855 w 593033"/>
                <a:gd name="connsiteY0" fmla="*/ 0 h 638629"/>
                <a:gd name="connsiteX1" fmla="*/ 6541 w 593033"/>
                <a:gd name="connsiteY1" fmla="*/ 72572 h 638629"/>
                <a:gd name="connsiteX2" fmla="*/ 587112 w 593033"/>
                <a:gd name="connsiteY2" fmla="*/ 217715 h 638629"/>
                <a:gd name="connsiteX3" fmla="*/ 21055 w 593033"/>
                <a:gd name="connsiteY3" fmla="*/ 333829 h 638629"/>
                <a:gd name="connsiteX4" fmla="*/ 587112 w 593033"/>
                <a:gd name="connsiteY4" fmla="*/ 449943 h 638629"/>
                <a:gd name="connsiteX5" fmla="*/ 267798 w 593033"/>
                <a:gd name="connsiteY5" fmla="*/ 638629 h 638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93033" h="638629">
                  <a:moveTo>
                    <a:pt x="325855" y="0"/>
                  </a:moveTo>
                  <a:cubicBezTo>
                    <a:pt x="144426" y="18143"/>
                    <a:pt x="-37002" y="36286"/>
                    <a:pt x="6541" y="72572"/>
                  </a:cubicBezTo>
                  <a:cubicBezTo>
                    <a:pt x="50084" y="108858"/>
                    <a:pt x="584693" y="174172"/>
                    <a:pt x="587112" y="217715"/>
                  </a:cubicBezTo>
                  <a:cubicBezTo>
                    <a:pt x="589531" y="261258"/>
                    <a:pt x="21055" y="295124"/>
                    <a:pt x="21055" y="333829"/>
                  </a:cubicBezTo>
                  <a:cubicBezTo>
                    <a:pt x="21055" y="372534"/>
                    <a:pt x="545988" y="399143"/>
                    <a:pt x="587112" y="449943"/>
                  </a:cubicBezTo>
                  <a:cubicBezTo>
                    <a:pt x="628236" y="500743"/>
                    <a:pt x="448017" y="569686"/>
                    <a:pt x="267798" y="63862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114971" y="3791515"/>
              <a:ext cx="899886" cy="2797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2"/>
                  </a:solidFill>
                </a:rPr>
                <a:t>join()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 flipH="1" flipV="1">
              <a:off x="10118390" y="4054758"/>
              <a:ext cx="658156" cy="4789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/>
            <p:cNvSpPr/>
            <p:nvPr/>
          </p:nvSpPr>
          <p:spPr>
            <a:xfrm>
              <a:off x="10370457" y="4393858"/>
              <a:ext cx="1458685" cy="2797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accent2"/>
                  </a:solidFill>
                </a:rPr>
                <a:t>Thread_exit</a:t>
              </a:r>
              <a:r>
                <a:rPr lang="en-US" dirty="0" smtClean="0">
                  <a:solidFill>
                    <a:schemeClr val="accent2"/>
                  </a:solidFill>
                </a:rPr>
                <a:t>()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464782" y="1797560"/>
              <a:ext cx="903514" cy="3790440"/>
            </a:xfrm>
            <a:prstGeom prst="rect">
              <a:avLst/>
            </a:prstGeom>
            <a:pattFill prst="ltHorz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467673" y="2099271"/>
              <a:ext cx="913684" cy="3807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Stack_T1</a:t>
              </a:r>
              <a:endParaRPr lang="en-US" sz="140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473972" y="2526564"/>
              <a:ext cx="903514" cy="3456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Stack_T2</a:t>
              </a:r>
              <a:endParaRPr lang="en-US" sz="1400" dirty="0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5160946" y="5867513"/>
            <a:ext cx="6968339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Lets see a practical example with </a:t>
            </a:r>
            <a:r>
              <a:rPr lang="en-US" dirty="0" err="1" smtClean="0"/>
              <a:t>linux</a:t>
            </a:r>
            <a:r>
              <a:rPr lang="en-US" dirty="0" smtClean="0"/>
              <a:t> </a:t>
            </a:r>
            <a:r>
              <a:rPr lang="en-US" dirty="0" err="1" smtClean="0"/>
              <a:t>pthreads</a:t>
            </a:r>
            <a:r>
              <a:rPr lang="en-US" dirty="0" smtClean="0"/>
              <a:t> – see  </a:t>
            </a:r>
            <a:r>
              <a:rPr lang="en-US" dirty="0" err="1" smtClean="0"/>
              <a:t>pthreads</a:t>
            </a:r>
            <a:r>
              <a:rPr lang="en-US" dirty="0" smtClean="0"/>
              <a:t>/</a:t>
            </a:r>
            <a:r>
              <a:rPr lang="en-US" dirty="0" err="1" smtClean="0"/>
              <a:t>simple.c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7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30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  <a:r>
              <a:rPr lang="en-US" dirty="0" smtClean="0"/>
              <a:t> library functions create and 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>
            <a:norm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pthread_create</a:t>
            </a:r>
            <a:r>
              <a:rPr lang="en-US" sz="2400" dirty="0"/>
              <a:t>(</a:t>
            </a:r>
            <a:r>
              <a:rPr lang="en-US" sz="2400" dirty="0" err="1"/>
              <a:t>pthread_t</a:t>
            </a:r>
            <a:r>
              <a:rPr lang="en-US" sz="2400" dirty="0"/>
              <a:t> *restrict thread</a:t>
            </a:r>
            <a:r>
              <a:rPr lang="en-US" sz="2400" dirty="0" smtClean="0"/>
              <a:t>,         //returns the new threads id</a:t>
            </a:r>
            <a:endParaRPr lang="en-US" sz="2400" dirty="0"/>
          </a:p>
          <a:p>
            <a:r>
              <a:rPr lang="en-US" sz="2400" dirty="0"/>
              <a:t>                         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pthread_attr_t</a:t>
            </a:r>
            <a:r>
              <a:rPr lang="en-US" sz="2400" dirty="0"/>
              <a:t> *restrict </a:t>
            </a:r>
            <a:r>
              <a:rPr lang="en-US" sz="2400" dirty="0" err="1"/>
              <a:t>attr</a:t>
            </a:r>
            <a:r>
              <a:rPr lang="en-US" sz="2400" dirty="0" smtClean="0"/>
              <a:t>,    //specify attributes (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dirty="0" smtClean="0"/>
              <a:t>)</a:t>
            </a:r>
            <a:endParaRPr lang="en-US" sz="2400" dirty="0"/>
          </a:p>
          <a:p>
            <a:r>
              <a:rPr lang="en-US" sz="2400" dirty="0"/>
              <a:t>                          void *(*</a:t>
            </a:r>
            <a:r>
              <a:rPr lang="en-US" sz="2400" dirty="0" err="1"/>
              <a:t>start_routine</a:t>
            </a:r>
            <a:r>
              <a:rPr lang="en-US" sz="2400" dirty="0"/>
              <a:t>)(void </a:t>
            </a:r>
            <a:r>
              <a:rPr lang="en-US" sz="2400" dirty="0" smtClean="0"/>
              <a:t>*),           //specify the function to run</a:t>
            </a:r>
            <a:endParaRPr lang="en-US" sz="2400" dirty="0"/>
          </a:p>
          <a:p>
            <a:r>
              <a:rPr lang="en-US" sz="2400" dirty="0"/>
              <a:t>                          void *restrict </a:t>
            </a:r>
            <a:r>
              <a:rPr lang="en-US" sz="2400" dirty="0" err="1"/>
              <a:t>arg</a:t>
            </a:r>
            <a:r>
              <a:rPr lang="en-US" sz="2400" dirty="0" smtClean="0"/>
              <a:t>);                                //specify </a:t>
            </a:r>
            <a:r>
              <a:rPr lang="en-US" sz="2400" dirty="0" err="1" smtClean="0"/>
              <a:t>args</a:t>
            </a:r>
            <a:r>
              <a:rPr lang="en-US" sz="2400" dirty="0" smtClean="0"/>
              <a:t> to the above function</a:t>
            </a:r>
          </a:p>
          <a:p>
            <a:pPr marL="0" indent="0">
              <a:buNone/>
            </a:pPr>
            <a:r>
              <a:rPr lang="en-US" sz="2400" dirty="0" smtClean="0"/>
              <a:t>Like </a:t>
            </a:r>
            <a:r>
              <a:rPr lang="en-US" sz="2400" dirty="0"/>
              <a:t>most system calls </a:t>
            </a:r>
            <a:r>
              <a:rPr lang="en-US" sz="2400" dirty="0" err="1"/>
              <a:t>pthread_create</a:t>
            </a:r>
            <a:r>
              <a:rPr lang="en-US" sz="2400" dirty="0"/>
              <a:t> returns 0 if it </a:t>
            </a:r>
            <a:r>
              <a:rPr lang="en-US" sz="2400" dirty="0" smtClean="0"/>
              <a:t>succeeded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/>
              <a:t>pthread_join</a:t>
            </a:r>
            <a:r>
              <a:rPr lang="en-US" sz="2400" dirty="0"/>
              <a:t>(</a:t>
            </a:r>
            <a:r>
              <a:rPr lang="en-US" sz="2400" dirty="0" err="1"/>
              <a:t>pthread_t</a:t>
            </a:r>
            <a:r>
              <a:rPr lang="en-US" sz="2400" dirty="0"/>
              <a:t> thread</a:t>
            </a:r>
            <a:r>
              <a:rPr lang="en-US" sz="2400" dirty="0" smtClean="0"/>
              <a:t>,            //specify the thread to wait for termination </a:t>
            </a:r>
            <a:br>
              <a:rPr lang="en-US" sz="2400" dirty="0" smtClean="0"/>
            </a:br>
            <a:r>
              <a:rPr lang="en-US" sz="2400" dirty="0" smtClean="0"/>
              <a:t>			void </a:t>
            </a:r>
            <a:r>
              <a:rPr lang="en-US" sz="2400" dirty="0"/>
              <a:t>**</a:t>
            </a:r>
            <a:r>
              <a:rPr lang="en-US" sz="2400" dirty="0" err="1"/>
              <a:t>retval</a:t>
            </a:r>
            <a:r>
              <a:rPr lang="en-US" sz="2400" dirty="0" smtClean="0"/>
              <a:t>);            //The value from the “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dirty="0" smtClean="0"/>
              <a:t>” of the thread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735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few notes about </a:t>
            </a:r>
            <a:r>
              <a:rPr lang="en-US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 </a:t>
            </a:r>
            <a:r>
              <a:rPr lang="en-US" dirty="0" smtClean="0"/>
              <a:t>calls we saw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Any thread calling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exit() </a:t>
            </a:r>
            <a:r>
              <a:rPr lang="en-US" dirty="0" smtClean="0"/>
              <a:t>will cause </a:t>
            </a:r>
            <a:r>
              <a:rPr lang="en-US" smtClean="0"/>
              <a:t>all threads (i.e., the whole process) </a:t>
            </a:r>
            <a:r>
              <a:rPr lang="en-US" dirty="0" smtClean="0"/>
              <a:t>to terminate!</a:t>
            </a:r>
          </a:p>
          <a:p>
            <a:r>
              <a:rPr lang="en-US" dirty="0" smtClean="0"/>
              <a:t>Any thread can terminate </a:t>
            </a:r>
            <a:r>
              <a:rPr lang="en-US" smtClean="0"/>
              <a:t>only itself by </a:t>
            </a:r>
            <a:r>
              <a:rPr lang="en-US" dirty="0" smtClean="0"/>
              <a:t>calling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 smtClean="0"/>
              <a:t>Simply </a:t>
            </a:r>
            <a:r>
              <a:rPr lang="en-US" i="1" u="sng" dirty="0" smtClean="0"/>
              <a:t>returning</a:t>
            </a:r>
            <a:r>
              <a:rPr lang="en-US" dirty="0" smtClean="0"/>
              <a:t> from the thread function is also as good as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 smtClean="0"/>
              <a:t>– i.e., causes only that thread to terminate, not the others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 smtClean="0"/>
              <a:t> will wait for the given thread to terminate.</a:t>
            </a:r>
          </a:p>
          <a:p>
            <a:r>
              <a:rPr lang="en-US" dirty="0" smtClean="0"/>
              <a:t>One thread can terminate another thread by calling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pthread_cancel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 smtClean="0">
                <a:cs typeface="Courier New" panose="02070309020205020404" pitchFamily="49" charset="0"/>
              </a:rPr>
              <a:t>You can see how they are used in </a:t>
            </a:r>
            <a:r>
              <a:rPr lang="en-US" dirty="0" err="1" smtClean="0">
                <a:cs typeface="Courier New" panose="02070309020205020404" pitchFamily="49" charset="0"/>
              </a:rPr>
              <a:t>pthread</a:t>
            </a:r>
            <a:r>
              <a:rPr lang="en-US" dirty="0" smtClean="0"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cs typeface="Courier New" panose="02070309020205020404" pitchFamily="49" charset="0"/>
              </a:rPr>
              <a:t>simple.c</a:t>
            </a:r>
            <a:endParaRPr lang="en-US" dirty="0" smtClean="0">
              <a:cs typeface="Courier New" panose="02070309020205020404" pitchFamily="49" charset="0"/>
            </a:endParaRPr>
          </a:p>
          <a:p>
            <a:r>
              <a:rPr lang="en-US" dirty="0" smtClean="0">
                <a:cs typeface="Courier New" panose="02070309020205020404" pitchFamily="49" charset="0"/>
              </a:rPr>
              <a:t>Note that source needs 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 smtClean="0">
                <a:cs typeface="Courier New" panose="02070309020205020404" pitchFamily="49" charset="0"/>
              </a:rPr>
              <a:t>and compiling </a:t>
            </a:r>
            <a:r>
              <a:rPr lang="en-US" dirty="0">
                <a:cs typeface="Courier New" panose="02070309020205020404" pitchFamily="49" charset="0"/>
              </a:rPr>
              <a:t>requires </a:t>
            </a:r>
            <a:r>
              <a:rPr lang="en-US" dirty="0" smtClean="0">
                <a:cs typeface="Courier New" panose="02070309020205020404" pitchFamily="49" charset="0"/>
              </a:rPr>
              <a:t/>
            </a:r>
            <a:br>
              <a:rPr lang="en-US" dirty="0" smtClean="0">
                <a:cs typeface="Courier New" panose="02070309020205020404" pitchFamily="49" charset="0"/>
              </a:rPr>
            </a:b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-o simple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simple.c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2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concurrency can happen with processes or threads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… Now more about concurrency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6386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 and threads working collaboratively and concurrently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Multiple processes or threads let us independently do different things “simultaneously”</a:t>
            </a:r>
          </a:p>
          <a:p>
            <a:r>
              <a:rPr lang="en-US" dirty="0" smtClean="0"/>
              <a:t>We can also use multiple processes and multiple threads to distribute work among multiple entities.</a:t>
            </a:r>
          </a:p>
          <a:p>
            <a:pPr lvl="1"/>
            <a:r>
              <a:rPr lang="en-US" dirty="0" smtClean="0"/>
              <a:t>Parallel / pipelined processing</a:t>
            </a:r>
          </a:p>
          <a:p>
            <a:pPr lvl="1"/>
            <a:r>
              <a:rPr lang="en-US" dirty="0" smtClean="0"/>
              <a:t>Think of one thread doing compute when the other is doing IO</a:t>
            </a:r>
            <a:endParaRPr lang="en-US" dirty="0"/>
          </a:p>
          <a:p>
            <a:r>
              <a:rPr lang="en-US" dirty="0" smtClean="0"/>
              <a:t>Threads are particularly useful in this context because they naturally share the data part of the work.</a:t>
            </a:r>
          </a:p>
          <a:p>
            <a:r>
              <a:rPr lang="en-US" dirty="0" smtClean="0"/>
              <a:t>See example: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find_some_primes.c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/>
              <a:t>This example was quite straightforward. However, note that each thread needed to be aware of the other.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1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Challenges in dealing with concurrency -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Races and Deadlocks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Concurrency can create its own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844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Parallel execution is great</a:t>
            </a:r>
            <a:r>
              <a:rPr lang="en-US" dirty="0"/>
              <a:t> </a:t>
            </a:r>
            <a:r>
              <a:rPr lang="en-US" dirty="0" smtClean="0"/>
              <a:t>… get more things done ‘simultaneously’</a:t>
            </a:r>
          </a:p>
          <a:p>
            <a:r>
              <a:rPr lang="en-US" dirty="0" smtClean="0"/>
              <a:t>Note that tasks often work collaboratively and share something</a:t>
            </a:r>
          </a:p>
          <a:p>
            <a:pPr lvl="1"/>
            <a:r>
              <a:rPr lang="en-US" dirty="0" smtClean="0"/>
              <a:t>Sometimes it is natural, as in the kernel</a:t>
            </a:r>
          </a:p>
          <a:p>
            <a:pPr lvl="1"/>
            <a:r>
              <a:rPr lang="en-US" dirty="0" smtClean="0"/>
              <a:t>Sometimes it is to speed up some task (divide and conquer)</a:t>
            </a:r>
            <a:endParaRPr lang="en-US" dirty="0"/>
          </a:p>
          <a:p>
            <a:r>
              <a:rPr lang="en-US" dirty="0" smtClean="0"/>
              <a:t>…And sometimes this can cause an issue if we are not careful:</a:t>
            </a:r>
          </a:p>
          <a:p>
            <a:pPr lvl="1"/>
            <a:r>
              <a:rPr lang="en-US" dirty="0" smtClean="0"/>
              <a:t>Here is a simple </a:t>
            </a:r>
            <a:r>
              <a:rPr lang="en-US" u="sng" dirty="0" smtClean="0"/>
              <a:t>race</a:t>
            </a:r>
            <a:r>
              <a:rPr lang="en-US" dirty="0" smtClean="0"/>
              <a:t> example caused by concurrency + sharing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039092" y="4250171"/>
            <a:ext cx="7970568" cy="1945014"/>
            <a:chOff x="1039092" y="4250171"/>
            <a:chExt cx="7970568" cy="1945014"/>
          </a:xfrm>
        </p:grpSpPr>
        <p:sp>
          <p:nvSpPr>
            <p:cNvPr id="4" name="TextBox 3"/>
            <p:cNvSpPr txBox="1"/>
            <p:nvPr/>
          </p:nvSpPr>
          <p:spPr>
            <a:xfrm>
              <a:off x="3967119" y="4250171"/>
              <a:ext cx="2045240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// shared variable</a:t>
              </a:r>
            </a:p>
            <a:p>
              <a:r>
                <a:rPr lang="en-US" dirty="0" smtClean="0"/>
                <a:t>float balance=1000;</a:t>
              </a:r>
              <a:endParaRPr 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39092" y="4981001"/>
              <a:ext cx="2387192" cy="120032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dirty="0" smtClean="0"/>
                <a:t>1</a:t>
              </a:r>
              <a:br>
                <a:rPr lang="en-US" dirty="0" smtClean="0"/>
              </a:b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balance= balance + 100</a:t>
              </a:r>
              <a:br>
                <a:rPr lang="en-US" dirty="0" smtClean="0"/>
              </a:b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96143" y="4994856"/>
              <a:ext cx="2387192" cy="120032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</a:t>
              </a:r>
              <a:r>
                <a:rPr lang="en-US" dirty="0"/>
                <a:t>2</a:t>
              </a: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balance= balance + 100</a:t>
              </a:r>
              <a:br>
                <a:rPr lang="en-US" dirty="0" smtClean="0"/>
              </a:b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622468" y="4994856"/>
              <a:ext cx="2387192" cy="120032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T3</a:t>
              </a:r>
              <a:br>
                <a:rPr lang="en-US" dirty="0" smtClean="0"/>
              </a:b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balance= balance − 100</a:t>
              </a:r>
              <a:br>
                <a:rPr lang="en-US" dirty="0" smtClean="0"/>
              </a:b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805034" y="55416"/>
            <a:ext cx="2337628" cy="2585323"/>
            <a:chOff x="9402204" y="1385453"/>
            <a:chExt cx="2337628" cy="2585323"/>
          </a:xfrm>
        </p:grpSpPr>
        <p:sp>
          <p:nvSpPr>
            <p:cNvPr id="8" name="TextBox 7"/>
            <p:cNvSpPr txBox="1"/>
            <p:nvPr/>
          </p:nvSpPr>
          <p:spPr>
            <a:xfrm>
              <a:off x="9402204" y="1385453"/>
              <a:ext cx="2337628" cy="258532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Preemptive Scheduling</a:t>
              </a:r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dirty="0" smtClean="0"/>
                <a:t>Concurrency</a:t>
              </a:r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dirty="0" smtClean="0"/>
                <a:t>Problems</a:t>
              </a:r>
              <a:endParaRPr lang="en-US" dirty="0"/>
            </a:p>
          </p:txBody>
        </p:sp>
        <p:sp>
          <p:nvSpPr>
            <p:cNvPr id="9" name="Down Arrow 8"/>
            <p:cNvSpPr/>
            <p:nvPr/>
          </p:nvSpPr>
          <p:spPr>
            <a:xfrm>
              <a:off x="10349345" y="1825625"/>
              <a:ext cx="443346" cy="6373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10349345" y="2845954"/>
              <a:ext cx="443346" cy="63731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989474" y="4364803"/>
            <a:ext cx="22025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  load   ax, balance</a:t>
            </a:r>
          </a:p>
          <a:p>
            <a:r>
              <a:rPr lang="en-US" dirty="0" smtClean="0"/>
              <a:t>2.   add    ax, 100</a:t>
            </a:r>
            <a:br>
              <a:rPr lang="en-US" dirty="0" smtClean="0"/>
            </a:br>
            <a:r>
              <a:rPr lang="en-US" dirty="0" smtClean="0"/>
              <a:t>3.   store  ax, balance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7700" y="6361415"/>
            <a:ext cx="6883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the problem that concurrency &amp; preemption creates  ?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9678572" y="4698608"/>
            <a:ext cx="613357" cy="296248"/>
            <a:chOff x="9678572" y="4698608"/>
            <a:chExt cx="613357" cy="296248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9678572" y="4698608"/>
              <a:ext cx="604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9687018" y="4994856"/>
              <a:ext cx="604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8548054" y="6238304"/>
            <a:ext cx="3643946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See how this can happen: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pthreads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update_balance.</a:t>
            </a:r>
            <a:r>
              <a:rPr lang="en-US" dirty="0" err="1" smtClean="0">
                <a:solidFill>
                  <a:schemeClr val="bg1"/>
                </a:solidFill>
              </a:rPr>
              <a:t>c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49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 of race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could modify our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find_some_primes.c</a:t>
            </a:r>
            <a:r>
              <a:rPr lang="en-US" dirty="0" smtClean="0"/>
              <a:t>  example to have two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read_items</a:t>
            </a:r>
            <a:r>
              <a:rPr lang="en-US" dirty="0" smtClean="0"/>
              <a:t> threads.</a:t>
            </a:r>
          </a:p>
          <a:p>
            <a:r>
              <a:rPr lang="en-US" dirty="0" smtClean="0"/>
              <a:t>Now there is a possibility of a race condition:</a:t>
            </a:r>
          </a:p>
          <a:p>
            <a:pPr lvl="1"/>
            <a:r>
              <a:rPr lang="en-US" dirty="0" smtClean="0"/>
              <a:t>Both the reader threads want to get an item from the rear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 = number[NEXT(rear)];</a:t>
            </a:r>
          </a:p>
          <a:p>
            <a:pPr lvl="2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rear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NEXT(rear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dirty="0" smtClean="0"/>
              <a:t>There is a problem because of possible concurrent execution</a:t>
            </a:r>
          </a:p>
          <a:p>
            <a:pPr lvl="2"/>
            <a:r>
              <a:rPr lang="en-US" dirty="0" smtClean="0"/>
              <a:t>See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pthread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/find_some_primes_2r.c</a:t>
            </a:r>
          </a:p>
          <a:p>
            <a:pPr lvl="2"/>
            <a:r>
              <a:rPr lang="en-US" dirty="0" smtClean="0"/>
              <a:t>Play with turning on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nanosleep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 smtClean="0"/>
              <a:t> to introduce more chance of a race.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84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problems of concurrency – Races and Deadlocks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7393"/>
          </a:xfrm>
        </p:spPr>
        <p:txBody>
          <a:bodyPr/>
          <a:lstStyle/>
          <a:p>
            <a:r>
              <a:rPr lang="en-US" b="1" dirty="0" smtClean="0"/>
              <a:t>Races</a:t>
            </a:r>
            <a:r>
              <a:rPr lang="en-US" dirty="0" smtClean="0"/>
              <a:t>: As we saw in the previous example – data reading and writing </a:t>
            </a:r>
            <a:r>
              <a:rPr lang="en-US" i="1" u="sng" dirty="0" smtClean="0"/>
              <a:t>concurrently</a:t>
            </a:r>
            <a:r>
              <a:rPr lang="en-US" dirty="0" smtClean="0"/>
              <a:t> to </a:t>
            </a:r>
            <a:r>
              <a:rPr lang="en-US" i="1" u="sng" dirty="0" smtClean="0"/>
              <a:t>shared variables </a:t>
            </a:r>
            <a:r>
              <a:rPr lang="en-US" dirty="0" smtClean="0"/>
              <a:t>may lead to problems</a:t>
            </a:r>
          </a:p>
          <a:p>
            <a:r>
              <a:rPr lang="en-US" b="1" dirty="0" smtClean="0"/>
              <a:t>Deadlocks</a:t>
            </a:r>
            <a:r>
              <a:rPr lang="en-US" dirty="0" smtClean="0"/>
              <a:t>: Sometimes </a:t>
            </a:r>
            <a:r>
              <a:rPr lang="en-US" i="1" u="sng" dirty="0" smtClean="0"/>
              <a:t>simultaneously</a:t>
            </a:r>
            <a:r>
              <a:rPr lang="en-US" dirty="0" smtClean="0"/>
              <a:t> holding </a:t>
            </a:r>
            <a:r>
              <a:rPr lang="en-US" i="1" u="sng" dirty="0" smtClean="0"/>
              <a:t>resources</a:t>
            </a:r>
            <a:r>
              <a:rPr lang="en-US" dirty="0" smtClean="0"/>
              <a:t> is needed to complete a task, that may lead to problems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134708" y="3847955"/>
            <a:ext cx="581891" cy="5264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535680" y="5744919"/>
            <a:ext cx="581891" cy="5264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52272" y="5744918"/>
            <a:ext cx="581891" cy="5264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 descr="Clipart - &lt;strong&gt;icon&lt;/strong&gt;-&lt;strong&gt;tool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076" y="5979053"/>
            <a:ext cx="755523" cy="755523"/>
          </a:xfrm>
          <a:prstGeom prst="rect">
            <a:avLst/>
          </a:prstGeom>
        </p:spPr>
      </p:pic>
      <p:pic>
        <p:nvPicPr>
          <p:cNvPr id="11" name="Picture 10" descr="&lt;strong&gt;Drill&lt;/strong&gt; 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2" y="4698881"/>
            <a:ext cx="673948" cy="673948"/>
          </a:xfrm>
          <a:prstGeom prst="rect">
            <a:avLst/>
          </a:prstGeom>
        </p:spPr>
      </p:pic>
      <p:pic>
        <p:nvPicPr>
          <p:cNvPr id="12" name="Picture 11" descr="&lt;strong&gt;Screwdriver&lt;/strong&gt; &lt;strong&gt;icon&lt;/strong&gt; | Game-&lt;strong&gt;icons&lt;/strong&gt;.net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83" y="4516341"/>
            <a:ext cx="856488" cy="85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0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Coordination of Concurrency </a:t>
            </a:r>
            <a:br>
              <a:rPr lang="en-US" dirty="0" smtClean="0"/>
            </a:br>
            <a:r>
              <a:rPr lang="en-US" dirty="0" smtClean="0"/>
              <a:t>… so as to avoid races and deadlocks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0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Notion of a Critical </a:t>
            </a:r>
            <a:r>
              <a:rPr lang="en-US" dirty="0"/>
              <a:t>S</a:t>
            </a:r>
            <a:r>
              <a:rPr lang="en-US" dirty="0" smtClean="0"/>
              <a:t>ection and Mutual Exclusion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779"/>
            <a:ext cx="10515600" cy="274827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Clearly in our example tasks T1 , T2 and T3 had each some code such that it would work perfectly fine </a:t>
            </a:r>
            <a:r>
              <a:rPr lang="en-US" i="1" u="sng" dirty="0" smtClean="0"/>
              <a:t>provided they execute their code exclusively</a:t>
            </a:r>
            <a:r>
              <a:rPr lang="en-US" dirty="0" smtClean="0"/>
              <a:t> (no two at the same time).</a:t>
            </a:r>
          </a:p>
          <a:p>
            <a:r>
              <a:rPr lang="en-US" dirty="0" smtClean="0"/>
              <a:t>Such piece of code is called a </a:t>
            </a:r>
            <a:r>
              <a:rPr lang="en-US" i="1" u="sng" dirty="0" smtClean="0"/>
              <a:t>critical section</a:t>
            </a:r>
            <a:r>
              <a:rPr lang="en-US" dirty="0" smtClean="0"/>
              <a:t>. (Heard this before?)</a:t>
            </a:r>
          </a:p>
          <a:p>
            <a:r>
              <a:rPr lang="en-US" u="sng" dirty="0" smtClean="0"/>
              <a:t>Mutual exclusion </a:t>
            </a:r>
            <a:r>
              <a:rPr lang="en-US" dirty="0" smtClean="0"/>
              <a:t> (consisting of </a:t>
            </a:r>
            <a:r>
              <a:rPr lang="en-US" b="1" dirty="0" smtClean="0"/>
              <a:t>lock</a:t>
            </a:r>
            <a:r>
              <a:rPr lang="en-US" dirty="0" smtClean="0"/>
              <a:t> and </a:t>
            </a:r>
            <a:r>
              <a:rPr lang="en-US" b="1" dirty="0" smtClean="0"/>
              <a:t>unlock</a:t>
            </a:r>
            <a:r>
              <a:rPr lang="en-US" dirty="0" smtClean="0"/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dirty="0" smtClean="0"/>
              <a:t>) is the mechanism used to protect critical sections.</a:t>
            </a:r>
          </a:p>
          <a:p>
            <a:r>
              <a:rPr lang="en-US" dirty="0" smtClean="0"/>
              <a:t>Thought as  a barrier, only one process allowed to pass at any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473" y="4343053"/>
            <a:ext cx="32666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T1  may access like this:</a:t>
            </a:r>
            <a:br>
              <a:rPr lang="en-US" dirty="0" smtClean="0"/>
            </a:br>
            <a:endParaRPr lang="en-US" dirty="0" smtClean="0"/>
          </a:p>
          <a:p>
            <a:r>
              <a:rPr lang="en-US" b="1" u="sng" dirty="0" err="1" smtClean="0"/>
              <a:t>lock</a:t>
            </a:r>
            <a:r>
              <a:rPr lang="en-US" b="1" dirty="0" err="1" smtClean="0"/>
              <a:t>_the_critical</a:t>
            </a:r>
            <a:r>
              <a:rPr lang="en-US" b="1" dirty="0" smtClean="0"/>
              <a:t> section</a:t>
            </a:r>
          </a:p>
          <a:p>
            <a:r>
              <a:rPr lang="en-US" dirty="0" smtClean="0"/>
              <a:t>// This is the critical section code</a:t>
            </a:r>
          </a:p>
          <a:p>
            <a:r>
              <a:rPr lang="en-US" dirty="0" smtClean="0"/>
              <a:t>balance= balance + 100</a:t>
            </a:r>
          </a:p>
          <a:p>
            <a:r>
              <a:rPr lang="en-US" b="1" u="sng" dirty="0" smtClean="0"/>
              <a:t>unlock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2333" y="4343053"/>
            <a:ext cx="408017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thread does a </a:t>
            </a:r>
            <a:r>
              <a:rPr lang="en-US" sz="2400" b="1" dirty="0" smtClean="0"/>
              <a:t>lock</a:t>
            </a:r>
            <a:r>
              <a:rPr lang="en-US" sz="2400" dirty="0" smtClean="0"/>
              <a:t> operation to enter the critical section</a:t>
            </a:r>
          </a:p>
          <a:p>
            <a:r>
              <a:rPr lang="en-US" sz="2400" dirty="0" smtClean="0"/>
              <a:t>  and…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n </a:t>
            </a:r>
            <a:r>
              <a:rPr lang="en-US" sz="2400" b="1" dirty="0" smtClean="0"/>
              <a:t>unlock </a:t>
            </a:r>
            <a:r>
              <a:rPr lang="en-US" sz="2400" dirty="0" smtClean="0"/>
              <a:t>operation to signal exiting </a:t>
            </a:r>
            <a:r>
              <a:rPr lang="en-US" sz="2400" dirty="0" err="1" smtClean="0"/>
              <a:t>sectionfrom</a:t>
            </a:r>
            <a:r>
              <a:rPr lang="en-US" sz="2400" dirty="0" smtClean="0"/>
              <a:t> </a:t>
            </a:r>
            <a:r>
              <a:rPr lang="en-US" sz="2400" dirty="0"/>
              <a:t>the </a:t>
            </a:r>
            <a:r>
              <a:rPr lang="en-US" sz="2400" dirty="0" err="1"/>
              <a:t>ciritical</a:t>
            </a:r>
            <a:r>
              <a:rPr lang="en-US" sz="2400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006" y="4343053"/>
            <a:ext cx="3639843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oversimplified lock implementation: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simply </a:t>
            </a:r>
            <a:r>
              <a:rPr lang="en-US" b="1" dirty="0" smtClean="0"/>
              <a:t>turn off</a:t>
            </a:r>
            <a:r>
              <a:rPr lang="en-US" dirty="0" smtClean="0"/>
              <a:t> all interrupts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an unlock </a:t>
            </a:r>
            <a:r>
              <a:rPr lang="en-US" b="1" dirty="0" smtClean="0"/>
              <a:t>restores</a:t>
            </a:r>
            <a:r>
              <a:rPr lang="en-US" dirty="0" smtClean="0"/>
              <a:t> interrupts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 Works, ok for a small time! But…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 a good idea in general!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11646" y="5233181"/>
            <a:ext cx="3516254" cy="537702"/>
          </a:xfrm>
          <a:prstGeom prst="rect">
            <a:avLst/>
          </a:prstGeom>
          <a:noFill/>
          <a:ln>
            <a:solidFill>
              <a:srgbClr val="FFFF00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ine Callout 1 3"/>
          <p:cNvSpPr/>
          <p:nvPr/>
        </p:nvSpPr>
        <p:spPr>
          <a:xfrm>
            <a:off x="5922498" y="6077243"/>
            <a:ext cx="2554538" cy="780757"/>
          </a:xfrm>
          <a:prstGeom prst="borderCallout1">
            <a:avLst>
              <a:gd name="adj1" fmla="val 31363"/>
              <a:gd name="adj2" fmla="val -1174"/>
              <a:gd name="adj3" fmla="val -49947"/>
              <a:gd name="adj4" fmla="val -12376"/>
            </a:avLst>
          </a:prstGeom>
          <a:solidFill>
            <a:srgbClr val="FFFF00"/>
          </a:solidFill>
          <a:ln w="19050"/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We never want two tasks simultaneously in any CS for </a:t>
            </a:r>
            <a:r>
              <a:rPr lang="en-US" b="1" dirty="0" smtClean="0">
                <a:solidFill>
                  <a:schemeClr val="tx1"/>
                </a:solidFill>
              </a:rPr>
              <a:t>this </a:t>
            </a:r>
            <a:r>
              <a:rPr lang="en-US" dirty="0" smtClean="0">
                <a:solidFill>
                  <a:schemeClr val="tx1"/>
                </a:solidFill>
              </a:rPr>
              <a:t>lock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8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Mechanism vs Usage:</a:t>
            </a:r>
          </a:p>
          <a:p>
            <a:pPr lvl="1"/>
            <a:r>
              <a:rPr lang="en-US" dirty="0" smtClean="0"/>
              <a:t>Lock and unlock are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lang="en-US" dirty="0" smtClean="0"/>
              <a:t> to implement a critical </a:t>
            </a:r>
            <a:r>
              <a:rPr lang="en-US" dirty="0" smtClean="0"/>
              <a:t>section</a:t>
            </a:r>
          </a:p>
          <a:p>
            <a:pPr lvl="2"/>
            <a:r>
              <a:rPr lang="en-US" dirty="0" smtClean="0"/>
              <a:t>Think of them as tools, instructions, </a:t>
            </a:r>
            <a:r>
              <a:rPr lang="en-US" dirty="0" err="1" smtClean="0"/>
              <a:t>syscalls</a:t>
            </a:r>
            <a:r>
              <a:rPr lang="en-US" dirty="0" smtClean="0"/>
              <a:t> etc.</a:t>
            </a:r>
            <a:endParaRPr lang="en-US" dirty="0" smtClean="0"/>
          </a:p>
          <a:p>
            <a:pPr lvl="1"/>
            <a:r>
              <a:rPr lang="en-US" dirty="0" smtClean="0"/>
              <a:t>In reality </a:t>
            </a:r>
            <a:r>
              <a:rPr lang="en-US" dirty="0"/>
              <a:t>only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lang="en-US" dirty="0"/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dirty="0" smtClean="0"/>
              <a:t> by the programmer ensures mutual </a:t>
            </a:r>
            <a:r>
              <a:rPr lang="en-US" dirty="0" smtClean="0"/>
              <a:t>exclusion</a:t>
            </a:r>
          </a:p>
          <a:p>
            <a:pPr lvl="2"/>
            <a:r>
              <a:rPr lang="en-US" dirty="0" smtClean="0"/>
              <a:t>Right tool for the right job, used in the right way gives the desired effect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Lets take a look at how the lock and unlock operations may be implemented so that it can be used by the programmer to implement mutual exclusion to access critical sections.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the </a:t>
            </a:r>
            <a:r>
              <a:rPr lang="en-US" b="1" dirty="0" smtClean="0"/>
              <a:t>lock</a:t>
            </a:r>
            <a:r>
              <a:rPr lang="en-US" dirty="0" smtClean="0"/>
              <a:t>() and </a:t>
            </a:r>
            <a:r>
              <a:rPr lang="en-US" b="1" dirty="0" err="1" smtClean="0"/>
              <a:t>unclock</a:t>
            </a:r>
            <a:r>
              <a:rPr lang="en-US" dirty="0" smtClean="0"/>
              <a:t>() operations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the mechanism</a:t>
            </a:r>
            <a:endParaRPr lang="en-US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46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26282" y="-40416"/>
            <a:ext cx="10515600" cy="1325563"/>
          </a:xfrm>
        </p:spPr>
        <p:txBody>
          <a:bodyPr/>
          <a:lstStyle/>
          <a:p>
            <a:r>
              <a:rPr lang="en-US" dirty="0" smtClean="0"/>
              <a:t>A Proposed locking code – Aim is that at most one process is in the CS at any time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95255" cy="4589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s</a:t>
            </a:r>
            <a:r>
              <a:rPr lang="en-US" sz="1800" dirty="0" err="1" smtClean="0"/>
              <a:t>truct</a:t>
            </a:r>
            <a:r>
              <a:rPr lang="en-US" sz="1800" dirty="0" smtClean="0"/>
              <a:t> lock {</a:t>
            </a:r>
            <a:br>
              <a:rPr lang="en-US" sz="1800" dirty="0" smtClean="0"/>
            </a:br>
            <a:r>
              <a:rPr lang="en-US" sz="1800" dirty="0" smtClean="0"/>
              <a:t>          </a:t>
            </a:r>
            <a:r>
              <a:rPr lang="en-US" sz="1800" dirty="0" err="1" smtClean="0">
                <a:solidFill>
                  <a:srgbClr val="0070C0"/>
                </a:solidFill>
              </a:rPr>
              <a:t>int</a:t>
            </a:r>
            <a:r>
              <a:rPr lang="en-US" sz="1800" dirty="0" smtClean="0">
                <a:solidFill>
                  <a:srgbClr val="0070C0"/>
                </a:solidFill>
              </a:rPr>
              <a:t> flag=0;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}L1 ;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l</a:t>
            </a:r>
            <a:r>
              <a:rPr lang="en-US" sz="1800" dirty="0" smtClean="0"/>
              <a:t>ock( </a:t>
            </a:r>
            <a:r>
              <a:rPr lang="en-US" sz="1800" dirty="0" err="1" smtClean="0"/>
              <a:t>struct</a:t>
            </a:r>
            <a:r>
              <a:rPr lang="en-US" sz="1800" dirty="0" smtClean="0"/>
              <a:t> lock * l){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 smtClean="0">
                <a:solidFill>
                  <a:srgbClr val="FF0000"/>
                </a:solidFill>
              </a:rPr>
              <a:t>1.</a:t>
            </a:r>
            <a:r>
              <a:rPr lang="en-US" sz="1800" dirty="0" smtClean="0"/>
              <a:t> while (l-&gt;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flag == 1 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 smtClean="0">
                <a:solidFill>
                  <a:srgbClr val="FF0000"/>
                </a:solidFill>
              </a:rPr>
              <a:t>2.   </a:t>
            </a:r>
            <a:r>
              <a:rPr lang="en-US" sz="1800" dirty="0" smtClean="0"/>
              <a:t>	; // keep looping if locked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 smtClean="0">
                <a:solidFill>
                  <a:srgbClr val="FF0000"/>
                </a:solidFill>
              </a:rPr>
              <a:t>3.</a:t>
            </a:r>
            <a:r>
              <a:rPr lang="en-US" sz="1800" dirty="0" smtClean="0"/>
              <a:t> lock-&gt;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flag=1</a:t>
            </a:r>
            <a:r>
              <a:rPr lang="en-US" sz="1800" dirty="0" smtClean="0"/>
              <a:t>; // Got it, so 	               // indicate</a:t>
            </a:r>
          </a:p>
          <a:p>
            <a:pPr marL="0" indent="0">
              <a:buNone/>
            </a:pPr>
            <a:r>
              <a:rPr lang="en-US" sz="1800" dirty="0" smtClean="0"/>
              <a:t>}</a:t>
            </a:r>
          </a:p>
          <a:p>
            <a:pPr marL="0" indent="0">
              <a:buNone/>
            </a:pPr>
            <a:r>
              <a:rPr lang="en-US" sz="1800" dirty="0"/>
              <a:t>u</a:t>
            </a:r>
            <a:r>
              <a:rPr lang="en-US" sz="1800" dirty="0" smtClean="0"/>
              <a:t>nlock( </a:t>
            </a:r>
            <a:r>
              <a:rPr lang="en-US" sz="1800" dirty="0" err="1" smtClean="0"/>
              <a:t>struct</a:t>
            </a:r>
            <a:r>
              <a:rPr lang="en-US" sz="1800" dirty="0" smtClean="0"/>
              <a:t> lock * l){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 smtClean="0">
                <a:solidFill>
                  <a:srgbClr val="FF0000"/>
                </a:solidFill>
              </a:rPr>
              <a:t>4.</a:t>
            </a:r>
            <a:r>
              <a:rPr lang="en-US" sz="1800" dirty="0" smtClean="0"/>
              <a:t>  l-&gt;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flag=0; </a:t>
            </a:r>
            <a:r>
              <a:rPr lang="en-US" sz="1800" dirty="0" smtClean="0"/>
              <a:t>// Declare free</a:t>
            </a:r>
          </a:p>
          <a:p>
            <a:pPr marL="0" indent="0">
              <a:buNone/>
            </a:pPr>
            <a:r>
              <a:rPr lang="en-US" sz="1800" dirty="0" smtClean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6"/>
          <p:cNvSpPr txBox="1">
            <a:spLocks/>
          </p:cNvSpPr>
          <p:nvPr/>
        </p:nvSpPr>
        <p:spPr>
          <a:xfrm>
            <a:off x="4433455" y="1886888"/>
            <a:ext cx="3595255" cy="4228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Task T1 ( or T2, r T3, etc..)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l</a:t>
            </a:r>
            <a:r>
              <a:rPr lang="en-US" sz="1800" dirty="0" smtClean="0"/>
              <a:t>ock(&amp;L1)</a:t>
            </a:r>
            <a:br>
              <a:rPr lang="en-US" sz="1800" dirty="0" smtClean="0"/>
            </a:br>
            <a:r>
              <a:rPr lang="en-US" sz="1800" dirty="0" smtClean="0"/>
              <a:t>   </a:t>
            </a:r>
            <a:r>
              <a:rPr lang="en-US" sz="1800" dirty="0" smtClean="0">
                <a:solidFill>
                  <a:srgbClr val="FF0000"/>
                </a:solidFill>
              </a:rPr>
              <a:t>5.</a:t>
            </a:r>
            <a:r>
              <a:rPr lang="en-US" sz="1800" dirty="0" smtClean="0"/>
              <a:t> // We are in the critical section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 </a:t>
            </a:r>
            <a:r>
              <a:rPr lang="en-US" sz="1800" dirty="0" smtClean="0"/>
              <a:t>  </a:t>
            </a:r>
            <a:r>
              <a:rPr lang="en-US" sz="1800" dirty="0" smtClean="0">
                <a:solidFill>
                  <a:srgbClr val="FF0000"/>
                </a:solidFill>
              </a:rPr>
              <a:t>6.</a:t>
            </a:r>
            <a:r>
              <a:rPr lang="en-US" sz="1800" dirty="0" smtClean="0"/>
              <a:t> // so we can modify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u</a:t>
            </a:r>
            <a:r>
              <a:rPr lang="en-US" sz="1800" dirty="0" smtClean="0"/>
              <a:t>nlock(&amp;L1)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928253" y="2951021"/>
            <a:ext cx="318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4502727" y="4001293"/>
            <a:ext cx="3186546" cy="1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68928" y="6276108"/>
            <a:ext cx="3345871" cy="13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253345" y="1825625"/>
            <a:ext cx="27710" cy="44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502727" y="2244436"/>
            <a:ext cx="3186546" cy="2770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848600" y="1825625"/>
            <a:ext cx="27710" cy="449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8440615" y="1948979"/>
            <a:ext cx="2082019" cy="3416320"/>
            <a:chOff x="8440615" y="1948979"/>
            <a:chExt cx="2082019" cy="3416320"/>
          </a:xfrm>
        </p:grpSpPr>
        <p:sp>
          <p:nvSpPr>
            <p:cNvPr id="22" name="TextBox 21"/>
            <p:cNvSpPr txBox="1"/>
            <p:nvPr/>
          </p:nvSpPr>
          <p:spPr>
            <a:xfrm>
              <a:off x="8638310" y="1948979"/>
              <a:ext cx="1635384" cy="34163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(</a:t>
              </a:r>
              <a:r>
                <a:rPr lang="en-US" b="1" dirty="0" smtClean="0">
                  <a:solidFill>
                    <a:srgbClr val="FF0000"/>
                  </a:solidFill>
                </a:rPr>
                <a:t>step</a:t>
              </a:r>
              <a:r>
                <a:rPr lang="en-US" b="1" dirty="0" smtClean="0"/>
                <a:t>, </a:t>
              </a:r>
              <a:r>
                <a:rPr lang="en-US" b="1" dirty="0" smtClean="0">
                  <a:solidFill>
                    <a:schemeClr val="accent1">
                      <a:lumMod val="75000"/>
                    </a:schemeClr>
                  </a:solidFill>
                </a:rPr>
                <a:t>flag</a:t>
              </a:r>
              <a:r>
                <a:rPr lang="en-US" b="1" dirty="0"/>
                <a:t>)</a:t>
              </a:r>
              <a:r>
                <a:rPr lang="en-US" b="1" dirty="0" smtClean="0"/>
                <a:t/>
              </a:r>
              <a:br>
                <a:rPr lang="en-US" b="1" dirty="0" smtClean="0"/>
              </a:br>
              <a:endParaRPr lang="en-US" b="1" dirty="0" smtClean="0"/>
            </a:p>
            <a:p>
              <a:r>
                <a:rPr lang="en-US" b="1" u="sng" dirty="0" smtClean="0">
                  <a:solidFill>
                    <a:srgbClr val="FF0000"/>
                  </a:solidFill>
                </a:rPr>
                <a:t>T1</a:t>
              </a:r>
              <a:r>
                <a:rPr lang="en-US" b="1" dirty="0" smtClean="0">
                  <a:solidFill>
                    <a:srgbClr val="FF0000"/>
                  </a:solidFill>
                </a:rPr>
                <a:t>               </a:t>
              </a:r>
              <a:r>
                <a:rPr lang="en-US" b="1" u="sng" dirty="0" smtClean="0">
                  <a:solidFill>
                    <a:srgbClr val="FF0000"/>
                  </a:solidFill>
                </a:rPr>
                <a:t>T2</a:t>
              </a:r>
            </a:p>
            <a:p>
              <a:r>
                <a:rPr lang="en-US" b="1" dirty="0" smtClean="0">
                  <a:solidFill>
                    <a:srgbClr val="FF0000"/>
                  </a:solidFill>
                </a:rPr>
                <a:t/>
              </a:r>
              <a:br>
                <a:rPr lang="en-US" b="1" dirty="0" smtClean="0">
                  <a:solidFill>
                    <a:srgbClr val="FF0000"/>
                  </a:solidFill>
                </a:rPr>
              </a:br>
              <a:r>
                <a:rPr lang="en-US" b="1" dirty="0" smtClean="0">
                  <a:solidFill>
                    <a:srgbClr val="FF0000"/>
                  </a:solidFill>
                </a:rPr>
                <a:t>1 </a:t>
              </a:r>
              <a:r>
                <a:rPr lang="en-US" b="1" dirty="0" smtClean="0">
                  <a:solidFill>
                    <a:srgbClr val="0070C0"/>
                  </a:solidFill>
                </a:rPr>
                <a:t>0</a:t>
              </a:r>
              <a:r>
                <a:rPr lang="en-US" b="1" dirty="0" smtClean="0">
                  <a:solidFill>
                    <a:srgbClr val="FF0000"/>
                  </a:solidFill>
                </a:rPr>
                <a:t>              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 </a:t>
              </a:r>
              <a:r>
                <a:rPr lang="en-US" b="1" dirty="0" smtClean="0">
                  <a:solidFill>
                    <a:srgbClr val="FF0000"/>
                  </a:solidFill>
                </a:rPr>
                <a:t>                    1  </a:t>
              </a:r>
              <a:r>
                <a:rPr lang="en-US" b="1" dirty="0" smtClean="0">
                  <a:solidFill>
                    <a:srgbClr val="0070C0"/>
                  </a:solidFill>
                </a:rPr>
                <a:t>0</a:t>
              </a:r>
            </a:p>
            <a:p>
              <a:r>
                <a:rPr lang="en-US" b="1" dirty="0" smtClean="0">
                  <a:solidFill>
                    <a:srgbClr val="FF0000"/>
                  </a:solidFill>
                </a:rPr>
                <a:t>3 </a:t>
              </a:r>
              <a:r>
                <a:rPr lang="en-US" b="1" dirty="0" smtClean="0"/>
                <a:t> </a:t>
              </a:r>
              <a:r>
                <a:rPr lang="en-US" b="1" dirty="0" smtClean="0">
                  <a:solidFill>
                    <a:srgbClr val="0070C0"/>
                  </a:solidFill>
                </a:rPr>
                <a:t>1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 </a:t>
              </a:r>
              <a:r>
                <a:rPr lang="en-US" b="1" dirty="0" smtClean="0">
                  <a:solidFill>
                    <a:srgbClr val="FF0000"/>
                  </a:solidFill>
                </a:rPr>
                <a:t>                    3  </a:t>
              </a:r>
              <a:r>
                <a:rPr lang="en-US" b="1" dirty="0" smtClean="0">
                  <a:solidFill>
                    <a:srgbClr val="0070C0"/>
                  </a:solidFill>
                </a:rPr>
                <a:t>1</a:t>
              </a:r>
            </a:p>
            <a:p>
              <a:r>
                <a:rPr lang="en-US" b="1" dirty="0">
                  <a:solidFill>
                    <a:srgbClr val="FF0000"/>
                  </a:solidFill>
                </a:rPr>
                <a:t>5</a:t>
              </a:r>
              <a:endParaRPr lang="en-US" b="1" dirty="0" smtClean="0">
                <a:solidFill>
                  <a:srgbClr val="FF0000"/>
                </a:solidFill>
              </a:endParaRPr>
            </a:p>
            <a:p>
              <a:r>
                <a:rPr lang="en-US" b="1" dirty="0">
                  <a:solidFill>
                    <a:srgbClr val="FF0000"/>
                  </a:solidFill>
                </a:rPr>
                <a:t> </a:t>
              </a:r>
              <a:r>
                <a:rPr lang="en-US" b="1" dirty="0" smtClean="0">
                  <a:solidFill>
                    <a:srgbClr val="FF0000"/>
                  </a:solidFill>
                </a:rPr>
                <a:t>                    5</a:t>
              </a:r>
            </a:p>
            <a:p>
              <a:endParaRPr lang="en-US" b="1" dirty="0" smtClean="0"/>
            </a:p>
            <a:p>
              <a:r>
                <a:rPr lang="en-US" b="1" dirty="0" smtClean="0"/>
                <a:t> </a:t>
              </a:r>
              <a:endParaRPr lang="en-US" b="1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440615" y="4190054"/>
              <a:ext cx="2082019" cy="6351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9383152" y="2588455"/>
              <a:ext cx="14068" cy="2574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 rot="19848125">
            <a:off x="9890073" y="961982"/>
            <a:ext cx="1986441" cy="646331"/>
          </a:xfrm>
          <a:prstGeom prst="rect">
            <a:avLst/>
          </a:prstGeom>
          <a:solidFill>
            <a:srgbClr val="FFFF00"/>
          </a:solidFill>
          <a:ln cmpd="tri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Bradley Hand ITC" panose="03070402050302030203" pitchFamily="66" charset="0"/>
              </a:rPr>
              <a:t>FAILED !</a:t>
            </a:r>
            <a:endParaRPr lang="en-US" b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19601" y="4825218"/>
            <a:ext cx="3269672" cy="9233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Can you say what could easily go </a:t>
            </a:r>
            <a:r>
              <a:rPr lang="en-US" dirty="0" smtClean="0"/>
              <a:t>wrong if this was the implementation?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74058" y="1391736"/>
            <a:ext cx="1745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061361" y="1406250"/>
            <a:ext cx="1770743" cy="0"/>
          </a:xfrm>
          <a:prstGeom prst="lin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048665" y="1746523"/>
            <a:ext cx="1770743" cy="0"/>
          </a:xfrm>
          <a:prstGeom prst="lin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06575" y="1384480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Usage</a:t>
            </a:r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4972963" y="1398994"/>
            <a:ext cx="1770743" cy="0"/>
          </a:xfrm>
          <a:prstGeom prst="lin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4960267" y="1739267"/>
            <a:ext cx="1770743" cy="0"/>
          </a:xfrm>
          <a:prstGeom prst="line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2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Peterson’s Algorithm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76984"/>
            <a:ext cx="7775448" cy="56176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0" y="180458"/>
            <a:ext cx="332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Ref: </a:t>
            </a:r>
            <a:r>
              <a:rPr lang="en-US" dirty="0" smtClean="0">
                <a:hlinkClick r:id="rId3"/>
              </a:rPr>
              <a:t>www.ostep.org</a:t>
            </a:r>
            <a:r>
              <a:rPr lang="en-US" dirty="0" smtClean="0"/>
              <a:t>  chapter 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0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Hardware support: Test and Set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5946648" cy="448373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special machine instruction: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TSL  ax, flag   </a:t>
            </a:r>
          </a:p>
          <a:p>
            <a:r>
              <a:rPr lang="en-US" dirty="0" smtClean="0">
                <a:cs typeface="Times New Roman" panose="02020603050405020304" pitchFamily="18" charset="0"/>
              </a:rPr>
              <a:t>Copy </a:t>
            </a:r>
            <a:r>
              <a:rPr lang="en-US" b="1" dirty="0" smtClean="0">
                <a:cs typeface="Times New Roman" panose="02020603050405020304" pitchFamily="18" charset="0"/>
              </a:rPr>
              <a:t>original value of flag to ax</a:t>
            </a:r>
            <a:r>
              <a:rPr lang="en-US" dirty="0" smtClean="0">
                <a:cs typeface="Times New Roman" panose="02020603050405020304" pitchFamily="18" charset="0"/>
              </a:rPr>
              <a:t>, then  set flag=1 </a:t>
            </a:r>
            <a:r>
              <a:rPr lang="en-US" i="1" u="sng" dirty="0" smtClean="0">
                <a:cs typeface="Times New Roman" panose="02020603050405020304" pitchFamily="18" charset="0"/>
              </a:rPr>
              <a:t>in  a single instruction</a:t>
            </a:r>
          </a:p>
          <a:p>
            <a:r>
              <a:rPr lang="en-US" b="1" dirty="0" err="1">
                <a:cs typeface="Times New Roman" panose="02020603050405020304" pitchFamily="18" charset="0"/>
              </a:rPr>
              <a:t>i</a:t>
            </a:r>
            <a:r>
              <a:rPr lang="en-US" b="1" dirty="0" err="1" smtClean="0">
                <a:cs typeface="Times New Roman" panose="02020603050405020304" pitchFamily="18" charset="0"/>
              </a:rPr>
              <a:t>nt</a:t>
            </a:r>
            <a:r>
              <a:rPr lang="en-US" b="1" dirty="0" smtClean="0"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cs typeface="Times New Roman" panose="02020603050405020304" pitchFamily="18" charset="0"/>
              </a:rPr>
              <a:t>test_and_set</a:t>
            </a:r>
            <a:r>
              <a:rPr lang="en-US" b="1" dirty="0" smtClean="0">
                <a:cs typeface="Times New Roman" panose="02020603050405020304" pitchFamily="18" charset="0"/>
              </a:rPr>
              <a:t>( </a:t>
            </a:r>
            <a:r>
              <a:rPr lang="en-US" b="1" dirty="0" err="1" smtClean="0">
                <a:cs typeface="Times New Roman" panose="02020603050405020304" pitchFamily="18" charset="0"/>
              </a:rPr>
              <a:t>int</a:t>
            </a:r>
            <a:r>
              <a:rPr lang="en-US" b="1" dirty="0" smtClean="0">
                <a:cs typeface="Times New Roman" panose="02020603050405020304" pitchFamily="18" charset="0"/>
              </a:rPr>
              <a:t> *flag){</a:t>
            </a:r>
            <a:r>
              <a:rPr lang="en-US" dirty="0" smtClean="0">
                <a:cs typeface="Times New Roman" panose="02020603050405020304" pitchFamily="18" charset="0"/>
              </a:rPr>
              <a:t/>
            </a:r>
            <a:br>
              <a:rPr lang="en-US" dirty="0" smtClean="0">
                <a:cs typeface="Times New Roman" panose="02020603050405020304" pitchFamily="18" charset="0"/>
              </a:rPr>
            </a:br>
            <a:r>
              <a:rPr lang="en-US" dirty="0" smtClean="0">
                <a:cs typeface="Times New Roman" panose="02020603050405020304" pitchFamily="18" charset="0"/>
              </a:rPr>
              <a:t>      TSL  ax, flag</a:t>
            </a:r>
            <a:br>
              <a:rPr lang="en-US" dirty="0" smtClean="0">
                <a:cs typeface="Times New Roman" panose="02020603050405020304" pitchFamily="18" charset="0"/>
              </a:rPr>
            </a:br>
            <a:r>
              <a:rPr lang="en-US" dirty="0" smtClean="0">
                <a:cs typeface="Times New Roman" panose="02020603050405020304" pitchFamily="18" charset="0"/>
              </a:rPr>
              <a:t>      RET               // ax value is returned</a:t>
            </a:r>
            <a:br>
              <a:rPr lang="en-US" dirty="0" smtClean="0">
                <a:cs typeface="Times New Roman" panose="02020603050405020304" pitchFamily="18" charset="0"/>
              </a:rPr>
            </a:br>
            <a:r>
              <a:rPr lang="en-US" dirty="0" smtClean="0">
                <a:cs typeface="Times New Roman" panose="02020603050405020304" pitchFamily="18" charset="0"/>
              </a:rPr>
              <a:t>}</a:t>
            </a:r>
          </a:p>
          <a:p>
            <a:r>
              <a:rPr lang="en-US" dirty="0" smtClean="0">
                <a:cs typeface="Times New Roman" panose="02020603050405020304" pitchFamily="18" charset="0"/>
              </a:rPr>
              <a:t>If original value was 0 then, we got the lock (returns 0) and others cant get it (flag=1).</a:t>
            </a:r>
          </a:p>
          <a:p>
            <a:r>
              <a:rPr lang="en-US" b="1" dirty="0" smtClean="0">
                <a:cs typeface="Times New Roman" panose="02020603050405020304" pitchFamily="18" charset="0"/>
              </a:rPr>
              <a:t>unlock(</a:t>
            </a:r>
            <a:r>
              <a:rPr lang="en-US" b="1" dirty="0" err="1" smtClean="0">
                <a:cs typeface="Times New Roman" panose="02020603050405020304" pitchFamily="18" charset="0"/>
              </a:rPr>
              <a:t>int</a:t>
            </a:r>
            <a:r>
              <a:rPr lang="en-US" b="1" dirty="0" smtClean="0">
                <a:cs typeface="Times New Roman" panose="02020603050405020304" pitchFamily="18" charset="0"/>
              </a:rPr>
              <a:t> * flag)</a:t>
            </a:r>
            <a:r>
              <a:rPr lang="en-US" dirty="0" smtClean="0">
                <a:cs typeface="Times New Roman" panose="02020603050405020304" pitchFamily="18" charset="0"/>
              </a:rPr>
              <a:t> is simple: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smtClean="0">
                <a:cs typeface="Times New Roman" panose="02020603050405020304" pitchFamily="18" charset="0"/>
              </a:rPr>
              <a:t>          STORE 0, flag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0" y="3317684"/>
            <a:ext cx="5307741" cy="1286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78992" y="5841421"/>
            <a:ext cx="2231136" cy="416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6989064" y="1825625"/>
            <a:ext cx="5324856" cy="239468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i</a:t>
            </a:r>
            <a:r>
              <a:rPr lang="en-US" b="1" dirty="0" err="1" smtClean="0"/>
              <a:t>nit</a:t>
            </a:r>
            <a:r>
              <a:rPr lang="en-US" b="1" dirty="0" smtClean="0"/>
              <a:t>(</a:t>
            </a:r>
            <a:r>
              <a:rPr lang="en-US" b="1" dirty="0" err="1" smtClean="0"/>
              <a:t>int</a:t>
            </a:r>
            <a:r>
              <a:rPr lang="en-US" b="1" dirty="0" smtClean="0"/>
              <a:t> * flag ) { *flag=0; }</a:t>
            </a:r>
          </a:p>
          <a:p>
            <a:r>
              <a:rPr lang="en-US" b="1" dirty="0" smtClean="0"/>
              <a:t>lock(</a:t>
            </a:r>
            <a:r>
              <a:rPr lang="en-US" b="1" dirty="0" err="1" smtClean="0"/>
              <a:t>int</a:t>
            </a:r>
            <a:r>
              <a:rPr lang="en-US" b="1" dirty="0" smtClean="0"/>
              <a:t> * flag) </a:t>
            </a: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while( </a:t>
            </a:r>
            <a:r>
              <a:rPr lang="en-US" dirty="0" err="1" smtClean="0"/>
              <a:t>test_and_set</a:t>
            </a:r>
            <a:r>
              <a:rPr lang="en-US" dirty="0" smtClean="0"/>
              <a:t>(flag) == 1 )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   // flag was 0,  now is 1</a:t>
            </a:r>
            <a:br>
              <a:rPr lang="en-US" dirty="0" smtClean="0"/>
            </a:br>
            <a:r>
              <a:rPr lang="en-US" dirty="0" smtClean="0"/>
              <a:t>}   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78992" y="2147889"/>
            <a:ext cx="2231136" cy="530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984494" y="4238778"/>
            <a:ext cx="4968240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int</a:t>
            </a:r>
            <a:r>
              <a:rPr lang="en-US" sz="2400" dirty="0" smtClean="0"/>
              <a:t> flag; // global shared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T1::</a:t>
            </a:r>
          </a:p>
          <a:p>
            <a:r>
              <a:rPr lang="en-US" sz="2400" b="1" u="sng" dirty="0"/>
              <a:t>l</a:t>
            </a:r>
            <a:r>
              <a:rPr lang="en-US" sz="2400" b="1" u="sng" dirty="0" smtClean="0"/>
              <a:t>ock(&amp;flag)</a:t>
            </a:r>
            <a:endParaRPr lang="en-US" sz="2400" b="1" dirty="0" smtClean="0"/>
          </a:p>
          <a:p>
            <a:r>
              <a:rPr lang="en-US" sz="2400" dirty="0" smtClean="0"/>
              <a:t>    // This is the critical section code</a:t>
            </a:r>
          </a:p>
          <a:p>
            <a:r>
              <a:rPr lang="en-US" sz="2400" dirty="0" smtClean="0"/>
              <a:t>   balance= balance + 100</a:t>
            </a:r>
          </a:p>
          <a:p>
            <a:r>
              <a:rPr lang="en-US" sz="2400" b="1" u="sng" dirty="0"/>
              <a:t>u</a:t>
            </a:r>
            <a:r>
              <a:rPr lang="en-US" sz="2400" b="1" u="sng" dirty="0" smtClean="0"/>
              <a:t>nlock(&amp;flag)</a:t>
            </a:r>
          </a:p>
          <a:p>
            <a:endParaRPr lang="en-US" sz="2400" dirty="0"/>
          </a:p>
        </p:txBody>
      </p:sp>
      <p:sp>
        <p:nvSpPr>
          <p:cNvPr id="13" name="Line Callout 2 (Accent Bar) 12"/>
          <p:cNvSpPr/>
          <p:nvPr/>
        </p:nvSpPr>
        <p:spPr>
          <a:xfrm>
            <a:off x="5094732" y="1581599"/>
            <a:ext cx="1792224" cy="1086546"/>
          </a:xfrm>
          <a:prstGeom prst="accentCallout2">
            <a:avLst>
              <a:gd name="adj1" fmla="val 18750"/>
              <a:gd name="adj2" fmla="val -8333"/>
              <a:gd name="adj3" fmla="val 25482"/>
              <a:gd name="adj4" fmla="val -26871"/>
              <a:gd name="adj5" fmla="val 70422"/>
              <a:gd name="adj6" fmla="val -9970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LOAD   </a:t>
            </a:r>
            <a:r>
              <a:rPr lang="en-US" dirty="0" err="1" smtClean="0">
                <a:solidFill>
                  <a:schemeClr val="tx1"/>
                </a:solidFill>
              </a:rPr>
              <a:t>flag,ax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STORE  1,flag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9768113" y="101599"/>
            <a:ext cx="3062515" cy="1045029"/>
          </a:xfrm>
          <a:prstGeom prst="cloudCallout">
            <a:avLst>
              <a:gd name="adj1" fmla="val -7089"/>
              <a:gd name="adj2" fmla="val 192135"/>
            </a:avLst>
          </a:prstGeom>
          <a:solidFill>
            <a:schemeClr val="accent4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What is an issue with this idea?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71639" y="5727047"/>
            <a:ext cx="4416586" cy="754743"/>
          </a:xfrm>
          <a:prstGeom prst="rect">
            <a:avLst/>
          </a:prstGeom>
          <a:noFill/>
          <a:ln>
            <a:solidFill>
              <a:srgbClr val="FFFF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33984" y="6286618"/>
            <a:ext cx="613998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The implementations here are a model for understanding and</a:t>
            </a:r>
          </a:p>
          <a:p>
            <a:r>
              <a:rPr lang="en-US" dirty="0" smtClean="0"/>
              <a:t>not intended to be </a:t>
            </a:r>
            <a:r>
              <a:rPr lang="en-US" dirty="0" err="1" smtClean="0"/>
              <a:t>compilable</a:t>
            </a:r>
            <a:r>
              <a:rPr lang="en-US" dirty="0" smtClean="0"/>
              <a:t> assembly/C code!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5471886"/>
            <a:ext cx="5935772" cy="766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84494" y="1690688"/>
            <a:ext cx="4968240" cy="24313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537598" y="3580689"/>
            <a:ext cx="1603717" cy="316062"/>
          </a:xfrm>
          <a:prstGeom prst="rect">
            <a:avLst/>
          </a:prstGeom>
          <a:noFill/>
          <a:ln w="38100">
            <a:solidFill>
              <a:srgbClr val="FFFF00"/>
            </a:solidFill>
            <a:prstDash val="lgDash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 animBg="1"/>
      <p:bldP spid="2" grpId="0" animBg="1"/>
      <p:bldP spid="14" grpId="0" animBg="1"/>
      <p:bldP spid="4" grpId="0" animBg="1"/>
      <p:bldP spid="9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Avoiding the </a:t>
            </a:r>
            <a:r>
              <a:rPr lang="en-US" b="1" u="sng" dirty="0" smtClean="0"/>
              <a:t>busy loop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745480" cy="486778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Notice: Our solution has a busy loop!</a:t>
            </a:r>
          </a:p>
          <a:p>
            <a:r>
              <a:rPr lang="en-US" dirty="0" smtClean="0"/>
              <a:t>Busy loop consumes too many CPU cycles.</a:t>
            </a:r>
          </a:p>
          <a:p>
            <a:r>
              <a:rPr lang="en-US" dirty="0" smtClean="0"/>
              <a:t>Alternate: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syscall</a:t>
            </a:r>
            <a:r>
              <a:rPr lang="en-US" dirty="0" smtClean="0"/>
              <a:t> to give up CPU “yield until a later time”</a:t>
            </a:r>
          </a:p>
          <a:p>
            <a:pPr lvl="1"/>
            <a:r>
              <a:rPr lang="en-US" dirty="0" smtClean="0"/>
              <a:t>Goes back to the run queue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lock( </a:t>
            </a:r>
            <a:r>
              <a:rPr lang="en-US" b="1" dirty="0" err="1" smtClean="0"/>
              <a:t>int</a:t>
            </a:r>
            <a:r>
              <a:rPr lang="en-US" b="1" dirty="0" smtClean="0"/>
              <a:t> * flag) </a:t>
            </a: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while( </a:t>
            </a:r>
            <a:r>
              <a:rPr lang="en-US" dirty="0" err="1" smtClean="0"/>
              <a:t>test_and_set</a:t>
            </a:r>
            <a:r>
              <a:rPr lang="en-US" dirty="0" smtClean="0"/>
              <a:t>(flag) == 1 )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b="1" dirty="0" smtClean="0"/>
              <a:t>yield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// here flag was 0,  now is 1</a:t>
            </a:r>
            <a:br>
              <a:rPr lang="en-US" dirty="0" smtClean="0"/>
            </a:br>
            <a:r>
              <a:rPr lang="en-US" dirty="0" smtClean="0"/>
              <a:t>}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In Linux the closest yield is</a:t>
            </a:r>
          </a:p>
          <a:p>
            <a:pPr lvl="1"/>
            <a:r>
              <a:rPr lang="en-US" dirty="0" err="1" smtClean="0"/>
              <a:t>sched_yield</a:t>
            </a:r>
            <a:r>
              <a:rPr lang="en-US" dirty="0" smtClean="0"/>
              <a:t>() or </a:t>
            </a:r>
            <a:r>
              <a:rPr lang="en-US" dirty="0" err="1" smtClean="0"/>
              <a:t>pthread_yeld</a:t>
            </a:r>
            <a:r>
              <a:rPr lang="en-US" dirty="0" smtClean="0"/>
              <a:t>() or sleep() or </a:t>
            </a:r>
            <a:r>
              <a:rPr lang="en-US" dirty="0" err="1" smtClean="0"/>
              <a:t>nanosleep</a:t>
            </a:r>
            <a:r>
              <a:rPr lang="en-US" dirty="0" smtClean="0"/>
              <a:t>()  </a:t>
            </a:r>
            <a:br>
              <a:rPr lang="en-US" dirty="0" smtClean="0"/>
            </a:br>
            <a:r>
              <a:rPr lang="en-US" dirty="0" smtClean="0"/>
              <a:t>   </a:t>
            </a:r>
            <a:endParaRPr lang="en-US" dirty="0" smtClean="0"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912864" y="1825624"/>
            <a:ext cx="4440936" cy="435133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What if multiple people are waiting for the lock</a:t>
            </a:r>
          </a:p>
          <a:p>
            <a:pPr lvl="1"/>
            <a:r>
              <a:rPr lang="en-US" dirty="0" smtClean="0"/>
              <a:t>Possible </a:t>
            </a:r>
            <a:r>
              <a:rPr lang="en-US" b="1" u="sng" dirty="0" smtClean="0"/>
              <a:t>starvation</a:t>
            </a:r>
          </a:p>
          <a:p>
            <a:pPr lvl="2"/>
            <a:r>
              <a:rPr lang="en-US" dirty="0" smtClean="0"/>
              <a:t>Some process may not get </a:t>
            </a:r>
            <a:r>
              <a:rPr lang="en-US" smtClean="0"/>
              <a:t>a chance at all! 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One solution </a:t>
            </a:r>
          </a:p>
          <a:p>
            <a:pPr lvl="1"/>
            <a:r>
              <a:rPr lang="en-US" dirty="0" smtClean="0"/>
              <a:t>If </a:t>
            </a:r>
            <a:r>
              <a:rPr lang="en-US" b="1" dirty="0" smtClean="0"/>
              <a:t>yield </a:t>
            </a:r>
            <a:r>
              <a:rPr lang="en-US" dirty="0" smtClean="0"/>
              <a:t>could put waiters in  a queue</a:t>
            </a:r>
          </a:p>
          <a:p>
            <a:pPr lvl="1"/>
            <a:r>
              <a:rPr lang="en-US" dirty="0" smtClean="0"/>
              <a:t>and  unlock </a:t>
            </a:r>
            <a:r>
              <a:rPr lang="en-US" i="1" u="sng" dirty="0" smtClean="0"/>
              <a:t>wakes them up sequentially.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 FCFS order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These ideas are combined in the concept called a </a:t>
            </a:r>
            <a:r>
              <a:rPr lang="en-US" sz="2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</a:p>
          <a:p>
            <a:r>
              <a:rPr lang="en-US" dirty="0" smtClean="0">
                <a:latin typeface="+mj-lt"/>
                <a:cs typeface="Times New Roman" panose="02020603050405020304" pitchFamily="18" charset="0"/>
              </a:rPr>
              <a:t>An extended idea is that of a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36600" y="3356524"/>
            <a:ext cx="5745480" cy="196497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practical example in the </a:t>
            </a:r>
            <a:r>
              <a:rPr lang="en-US" dirty="0" err="1" smtClean="0"/>
              <a:t>pthreads</a:t>
            </a:r>
            <a:r>
              <a:rPr lang="en-US" dirty="0" smtClean="0"/>
              <a:t> library:</a:t>
            </a:r>
            <a:br>
              <a:rPr lang="en-US" dirty="0" smtClean="0"/>
            </a:br>
            <a:r>
              <a:rPr lang="en-US" dirty="0" smtClean="0"/>
              <a:t>Mutual Exclusion using a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saw how to create threads using </a:t>
            </a:r>
            <a:r>
              <a:rPr lang="en-US" dirty="0" err="1" smtClean="0"/>
              <a:t>pthreads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can use the mutex provided by </a:t>
            </a:r>
            <a:r>
              <a:rPr lang="en-US" dirty="0" err="1" smtClean="0"/>
              <a:t>pthreads</a:t>
            </a:r>
            <a:r>
              <a:rPr lang="en-US" dirty="0" smtClean="0"/>
              <a:t> to prevent  multiple threads from simultaneously entering the critical section:</a:t>
            </a:r>
          </a:p>
          <a:p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194987" y="3733453"/>
            <a:ext cx="32666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Recall our example: T1:</a:t>
            </a:r>
            <a:br>
              <a:rPr lang="en-US" dirty="0" smtClean="0"/>
            </a:br>
            <a:endParaRPr lang="en-US" dirty="0" smtClean="0"/>
          </a:p>
          <a:p>
            <a:r>
              <a:rPr lang="en-US" b="1" u="sng" dirty="0" err="1" smtClean="0"/>
              <a:t>lock</a:t>
            </a:r>
            <a:r>
              <a:rPr lang="en-US" b="1" dirty="0" err="1" smtClean="0"/>
              <a:t>_the_critical</a:t>
            </a:r>
            <a:r>
              <a:rPr lang="en-US" b="1" dirty="0" smtClean="0"/>
              <a:t> section</a:t>
            </a:r>
          </a:p>
          <a:p>
            <a:r>
              <a:rPr lang="en-US" dirty="0" smtClean="0"/>
              <a:t>// This is the critical section code</a:t>
            </a:r>
          </a:p>
          <a:p>
            <a:r>
              <a:rPr lang="en-US" dirty="0" smtClean="0"/>
              <a:t>balance= balance + 100</a:t>
            </a:r>
          </a:p>
          <a:p>
            <a:r>
              <a:rPr lang="en-US" b="1" u="sng" dirty="0" smtClean="0"/>
              <a:t>unlock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774244" y="3939545"/>
            <a:ext cx="5417445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Three useful mutex related calls supported by </a:t>
            </a:r>
            <a:r>
              <a:rPr lang="en-US" dirty="0" err="1" smtClean="0"/>
              <a:t>pthreads</a:t>
            </a:r>
            <a:r>
              <a:rPr lang="en-US" dirty="0" smtClean="0"/>
              <a:t>:</a:t>
            </a:r>
          </a:p>
          <a:p>
            <a:r>
              <a:rPr lang="en-US" b="1" u="sng" dirty="0" err="1"/>
              <a:t>p</a:t>
            </a:r>
            <a:r>
              <a:rPr lang="en-US" b="1" u="sng" dirty="0" err="1" smtClean="0"/>
              <a:t>thread_mutex_lock</a:t>
            </a:r>
            <a:r>
              <a:rPr lang="en-US" b="1" u="sng" dirty="0" smtClean="0"/>
              <a:t>()</a:t>
            </a:r>
          </a:p>
          <a:p>
            <a:r>
              <a:rPr lang="en-US" b="1" u="sng" dirty="0" err="1"/>
              <a:t>p</a:t>
            </a:r>
            <a:r>
              <a:rPr lang="en-US" b="1" u="sng" dirty="0" err="1" smtClean="0"/>
              <a:t>thread_mutex_unlock</a:t>
            </a:r>
            <a:r>
              <a:rPr lang="en-US" b="1" u="sng" dirty="0" smtClean="0"/>
              <a:t>()</a:t>
            </a:r>
          </a:p>
          <a:p>
            <a:r>
              <a:rPr lang="en-US" b="1" u="sng" dirty="0" err="1"/>
              <a:t>p</a:t>
            </a:r>
            <a:r>
              <a:rPr lang="en-US" b="1" u="sng" dirty="0" err="1" smtClean="0"/>
              <a:t>thread_mutex_init</a:t>
            </a:r>
            <a:r>
              <a:rPr lang="en-US" b="1" u="sng" dirty="0" smtClean="0"/>
              <a:t>()</a:t>
            </a:r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2017486" y="4441371"/>
            <a:ext cx="3860800" cy="856344"/>
            <a:chOff x="2017486" y="4441371"/>
            <a:chExt cx="3860800" cy="856344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3657600" y="4441371"/>
              <a:ext cx="22206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bow Connector 11"/>
            <p:cNvCxnSpPr/>
            <p:nvPr/>
          </p:nvCxnSpPr>
          <p:spPr>
            <a:xfrm flipV="1">
              <a:off x="2017486" y="4678209"/>
              <a:ext cx="3860800" cy="619506"/>
            </a:xfrm>
            <a:prstGeom prst="bentConnector3">
              <a:avLst>
                <a:gd name="adj1" fmla="val 7744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253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Mutexes</a:t>
            </a:r>
            <a:r>
              <a:rPr lang="en-US" dirty="0" smtClean="0"/>
              <a:t>, Condition Variables, Semaphores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usage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Define and initialize  </a:t>
            </a:r>
            <a:r>
              <a:rPr lang="en-US" dirty="0" smtClean="0"/>
              <a:t>(</a:t>
            </a:r>
            <a:r>
              <a:rPr lang="en-US" b="0" i="1" dirty="0" smtClean="0">
                <a:latin typeface="Georgia" panose="02040502050405020303" pitchFamily="18" charset="0"/>
              </a:rPr>
              <a:t>Once</a:t>
            </a:r>
            <a:r>
              <a:rPr lang="en-US" dirty="0" smtClean="0"/>
              <a:t>)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cs typeface="Courier New" panose="02070309020205020404" pitchFamily="49" charset="0"/>
              </a:rPr>
              <a:t>// define a </a:t>
            </a:r>
            <a:r>
              <a:rPr lang="en-US" sz="2400" dirty="0" err="1" smtClean="0">
                <a:cs typeface="Courier New" panose="02070309020205020404" pitchFamily="49" charset="0"/>
              </a:rPr>
              <a:t>mutex</a:t>
            </a:r>
            <a:r>
              <a:rPr lang="en-US" sz="2400" dirty="0" smtClean="0">
                <a:cs typeface="Courier New" panose="02070309020205020404" pitchFamily="49" charset="0"/>
              </a:rPr>
              <a:t> variable</a:t>
            </a: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pthread_mutex_t</a:t>
            </a: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mymutex</a:t>
            </a: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/>
              <a:t>…</a:t>
            </a:r>
          </a:p>
          <a:p>
            <a:pPr marL="0" indent="0">
              <a:buNone/>
            </a:pPr>
            <a:r>
              <a:rPr lang="en-US" sz="2400" dirty="0" smtClean="0"/>
              <a:t>// initialize before use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pthread_mutex_init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mymutex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2400" dirty="0" smtClean="0">
                <a:cs typeface="Courier New" panose="02070309020205020404" pitchFamily="49" charset="0"/>
              </a:rPr>
              <a:t>// NULL is attributes</a:t>
            </a:r>
          </a:p>
          <a:p>
            <a:pPr marL="0" indent="0">
              <a:buNone/>
            </a:pPr>
            <a:r>
              <a:rPr lang="en-US" sz="2400" dirty="0" smtClean="0"/>
              <a:t>// returns 0 if and only if success</a:t>
            </a:r>
            <a:endParaRPr lang="en-US" sz="2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Lock and unlock  </a:t>
            </a:r>
            <a:r>
              <a:rPr lang="en-US" dirty="0" smtClean="0"/>
              <a:t>(</a:t>
            </a:r>
            <a:r>
              <a:rPr lang="en-US" b="0" i="1" dirty="0" smtClean="0">
                <a:latin typeface="Georgia" panose="02040502050405020303" pitchFamily="18" charset="0"/>
              </a:rPr>
              <a:t>Repeatedly in each thread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757203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// to enter the critical section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pthread_mutex_lock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mymutex</a:t>
            </a: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         </a:t>
            </a:r>
            <a:r>
              <a:rPr lang="en-US" sz="2400" i="1" dirty="0" smtClean="0">
                <a:latin typeface="Georgia" panose="02040502050405020303" pitchFamily="18" charset="0"/>
              </a:rPr>
              <a:t>… critical section …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// to exit the critical section</a:t>
            </a: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pthread_mutex_unlock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mymutex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9771" y="3679710"/>
            <a:ext cx="4107543" cy="754743"/>
          </a:xfrm>
          <a:prstGeom prst="rect">
            <a:avLst/>
          </a:prstGeom>
          <a:noFill/>
          <a:ln>
            <a:solidFill>
              <a:srgbClr val="FFFF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5863772" y="1844675"/>
            <a:ext cx="0" cy="429768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11205" y="6142355"/>
            <a:ext cx="4418197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See how a mutex is used in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pthreads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update_balance_mutex.</a:t>
            </a:r>
            <a:r>
              <a:rPr lang="en-US" dirty="0" err="1" smtClean="0">
                <a:solidFill>
                  <a:schemeClr val="bg1"/>
                </a:solidFill>
              </a:rPr>
              <a:t>c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29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Mutex</a:t>
            </a:r>
            <a:r>
              <a:rPr lang="en-US" dirty="0" smtClean="0"/>
              <a:t> ensures locking </a:t>
            </a:r>
            <a:br>
              <a:rPr lang="en-US" dirty="0" smtClean="0"/>
            </a:br>
            <a:r>
              <a:rPr lang="en-US" dirty="0" smtClean="0"/>
              <a:t>but sometimes we want conditional locking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Revisit the </a:t>
            </a:r>
            <a:r>
              <a:rPr lang="en-US" dirty="0" err="1" smtClean="0"/>
              <a:t>find_some_primes.c</a:t>
            </a:r>
            <a:r>
              <a:rPr lang="en-US" dirty="0" smtClean="0"/>
              <a:t> example with two readers.</a:t>
            </a:r>
          </a:p>
          <a:p>
            <a:r>
              <a:rPr lang="en-US" dirty="0" smtClean="0"/>
              <a:t>See how there can be a race to deal with access to “front” and “rear”</a:t>
            </a:r>
          </a:p>
          <a:p>
            <a:r>
              <a:rPr lang="en-US" dirty="0" smtClean="0"/>
              <a:t>Let’s see a solution using </a:t>
            </a:r>
            <a:r>
              <a:rPr lang="en-US" dirty="0" err="1" smtClean="0"/>
              <a:t>mutex</a:t>
            </a:r>
            <a:r>
              <a:rPr lang="en-US" dirty="0" smtClean="0"/>
              <a:t> to make sure only one thread accesses these variables at a time.</a:t>
            </a:r>
          </a:p>
          <a:p>
            <a:pPr lvl="1"/>
            <a:r>
              <a:rPr lang="en-US" dirty="0" err="1" smtClean="0"/>
              <a:t>pthreads</a:t>
            </a:r>
            <a:r>
              <a:rPr lang="en-US" dirty="0" smtClean="0"/>
              <a:t>/</a:t>
            </a:r>
            <a:r>
              <a:rPr lang="en-US" dirty="0" err="1" smtClean="0"/>
              <a:t>find_some_primes_mutex.c</a:t>
            </a:r>
            <a:endParaRPr lang="en-US" dirty="0" smtClean="0"/>
          </a:p>
          <a:p>
            <a:r>
              <a:rPr lang="en-US" dirty="0" smtClean="0"/>
              <a:t>Notice how this still had a busy wait even though access was mutually exclusive!</a:t>
            </a:r>
          </a:p>
          <a:p>
            <a:pPr lvl="1"/>
            <a:r>
              <a:rPr lang="en-US" dirty="0" smtClean="0"/>
              <a:t>We are waiting for a condition that can only come to be if another threads changes front or rear.</a:t>
            </a:r>
          </a:p>
          <a:p>
            <a:pPr lvl="1"/>
            <a:r>
              <a:rPr lang="en-US" dirty="0" smtClean="0"/>
              <a:t>So we gave up the </a:t>
            </a:r>
            <a:r>
              <a:rPr lang="en-US" dirty="0" err="1" smtClean="0"/>
              <a:t>mutex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We would prefer to wait for some other process to tell us that perhaps the condition we are waiting for is met. (slot is free  or  slot is filled)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13828" y="6311900"/>
            <a:ext cx="5995552" cy="4001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marL="0" lvl="1"/>
            <a:r>
              <a:rPr lang="en-US" sz="2000" dirty="0" smtClean="0">
                <a:solidFill>
                  <a:schemeClr val="bg1"/>
                </a:solidFill>
              </a:rPr>
              <a:t>See :    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pthreads</a:t>
            </a:r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find_some_primes_mutex.c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21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They work in tandem with </a:t>
            </a:r>
            <a:r>
              <a:rPr lang="en-US" dirty="0" err="1" smtClean="0"/>
              <a:t>mutexes</a:t>
            </a:r>
            <a:endParaRPr lang="en-US" dirty="0" smtClean="0"/>
          </a:p>
          <a:p>
            <a:r>
              <a:rPr lang="en-US" dirty="0" smtClean="0"/>
              <a:t>You can </a:t>
            </a:r>
            <a:r>
              <a:rPr lang="en-US" b="1" dirty="0" smtClean="0"/>
              <a:t>wait for a condition </a:t>
            </a:r>
            <a:r>
              <a:rPr lang="en-US" dirty="0" smtClean="0"/>
              <a:t>and </a:t>
            </a:r>
            <a:r>
              <a:rPr lang="en-US" b="1" dirty="0" smtClean="0"/>
              <a:t>give up the </a:t>
            </a:r>
            <a:r>
              <a:rPr lang="en-US" b="1" dirty="0" err="1" smtClean="0"/>
              <a:t>mutex</a:t>
            </a:r>
            <a:r>
              <a:rPr lang="en-US" dirty="0" smtClean="0"/>
              <a:t> in one shot</a:t>
            </a:r>
          </a:p>
          <a:p>
            <a:r>
              <a:rPr lang="en-US" dirty="0" smtClean="0"/>
              <a:t>You can also </a:t>
            </a:r>
            <a:r>
              <a:rPr lang="en-US" b="1" dirty="0" smtClean="0"/>
              <a:t>signal to other threads</a:t>
            </a:r>
            <a:r>
              <a:rPr lang="en-US" dirty="0" smtClean="0"/>
              <a:t> that a condition has occurred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772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</a:rPr>
              <a:t>Now the </a:t>
            </a:r>
            <a:r>
              <a:rPr lang="en-US" b="1" dirty="0" smtClean="0">
                <a:solidFill>
                  <a:schemeClr val="accent6"/>
                </a:solidFill>
              </a:rPr>
              <a:t>reader</a:t>
            </a:r>
            <a:r>
              <a:rPr lang="en-US" dirty="0" smtClean="0">
                <a:solidFill>
                  <a:schemeClr val="accent6"/>
                </a:solidFill>
              </a:rPr>
              <a:t> in our example </a:t>
            </a:r>
          </a:p>
          <a:p>
            <a:r>
              <a:rPr lang="en-US" dirty="0" smtClean="0"/>
              <a:t>Does a </a:t>
            </a:r>
            <a:r>
              <a:rPr lang="en-US" i="1" dirty="0" err="1" smtClean="0"/>
              <a:t>lock_mutex</a:t>
            </a:r>
            <a:endParaRPr lang="en-US" i="1" dirty="0" smtClean="0"/>
          </a:p>
          <a:p>
            <a:r>
              <a:rPr lang="en-US" i="1" dirty="0" smtClean="0"/>
              <a:t>Waits for a condition </a:t>
            </a:r>
            <a:r>
              <a:rPr lang="en-US" dirty="0" smtClean="0"/>
              <a:t>for a filled slot</a:t>
            </a:r>
          </a:p>
          <a:p>
            <a:r>
              <a:rPr lang="en-US" dirty="0" smtClean="0"/>
              <a:t>Once it wakes </a:t>
            </a:r>
            <a:r>
              <a:rPr lang="en-US" i="1" dirty="0" smtClean="0"/>
              <a:t>up it has the </a:t>
            </a:r>
            <a:r>
              <a:rPr lang="en-US" i="1" dirty="0" err="1" smtClean="0"/>
              <a:t>mutex</a:t>
            </a:r>
            <a:r>
              <a:rPr lang="en-US" i="1" dirty="0" smtClean="0"/>
              <a:t> lock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>
                <a:solidFill>
                  <a:schemeClr val="accent6"/>
                </a:solidFill>
              </a:rPr>
              <a:t>The </a:t>
            </a:r>
            <a:r>
              <a:rPr lang="en-US" b="1" dirty="0" smtClean="0">
                <a:solidFill>
                  <a:schemeClr val="accent6"/>
                </a:solidFill>
              </a:rPr>
              <a:t>main thread </a:t>
            </a:r>
            <a:r>
              <a:rPr lang="en-US" dirty="0" smtClean="0">
                <a:solidFill>
                  <a:schemeClr val="accent6"/>
                </a:solidFill>
              </a:rPr>
              <a:t>may </a:t>
            </a:r>
            <a:r>
              <a:rPr lang="en-US" i="1" dirty="0" smtClean="0"/>
              <a:t>signal the condition</a:t>
            </a:r>
            <a:r>
              <a:rPr lang="en-US" dirty="0" smtClean="0"/>
              <a:t> that the slot is filled.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6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Synchronization with </a:t>
            </a:r>
            <a:r>
              <a:rPr lang="en-US" dirty="0" err="1" smtClean="0"/>
              <a:t>mutexes</a:t>
            </a:r>
            <a:r>
              <a:rPr lang="en-US" dirty="0" smtClean="0"/>
              <a:t> and conditional variables – a template supported by </a:t>
            </a:r>
            <a:r>
              <a:rPr lang="en-US" dirty="0" err="1" smtClean="0"/>
              <a:t>pthreads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000" dirty="0" err="1"/>
              <a:t>p</a:t>
            </a:r>
            <a:r>
              <a:rPr lang="en-US" sz="2000" dirty="0" err="1" smtClean="0"/>
              <a:t>thread_mutex_lock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chemeClr val="accent2"/>
                </a:solidFill>
              </a:rPr>
              <a:t>&amp;</a:t>
            </a:r>
            <a:r>
              <a:rPr lang="en-US" sz="2000" b="1" dirty="0" err="1" smtClean="0">
                <a:solidFill>
                  <a:schemeClr val="accent2"/>
                </a:solidFill>
              </a:rPr>
              <a:t>mutex</a:t>
            </a:r>
            <a:r>
              <a:rPr lang="en-US" sz="2000" dirty="0" smtClean="0"/>
              <a:t>)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/>
              <a:t>w</a:t>
            </a:r>
            <a:r>
              <a:rPr lang="en-US" sz="2000" dirty="0" smtClean="0"/>
              <a:t>hile( desired </a:t>
            </a:r>
            <a:r>
              <a:rPr lang="en-US" sz="2000" i="1" dirty="0" smtClean="0">
                <a:solidFill>
                  <a:schemeClr val="accent1"/>
                </a:solidFill>
              </a:rPr>
              <a:t>condition1</a:t>
            </a:r>
            <a:r>
              <a:rPr lang="en-US" sz="2000" dirty="0" smtClean="0"/>
              <a:t> not met) {</a:t>
            </a:r>
          </a:p>
          <a:p>
            <a:pPr marL="457200" lvl="1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pthread_cond_wait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chemeClr val="accent1"/>
                </a:solidFill>
              </a:rPr>
              <a:t>&amp;desiredcv1</a:t>
            </a:r>
            <a:r>
              <a:rPr lang="en-US" sz="2000" dirty="0" smtClean="0"/>
              <a:t>, </a:t>
            </a:r>
            <a:r>
              <a:rPr lang="en-US" sz="2000" b="1" dirty="0" smtClean="0">
                <a:solidFill>
                  <a:schemeClr val="accent2"/>
                </a:solidFill>
              </a:rPr>
              <a:t>&amp;</a:t>
            </a:r>
            <a:r>
              <a:rPr lang="en-US" sz="2000" b="1" dirty="0" err="1" smtClean="0">
                <a:solidFill>
                  <a:schemeClr val="accent2"/>
                </a:solidFill>
              </a:rPr>
              <a:t>mutex</a:t>
            </a:r>
            <a:r>
              <a:rPr lang="en-US" sz="2000" dirty="0" smtClean="0"/>
              <a:t>);</a:t>
            </a:r>
          </a:p>
          <a:p>
            <a:pPr marL="457200" lvl="1" indent="0">
              <a:buNone/>
            </a:pPr>
            <a:r>
              <a:rPr lang="en-US" sz="2000" dirty="0" smtClean="0"/>
              <a:t>}</a:t>
            </a:r>
          </a:p>
          <a:p>
            <a:pPr marL="457200" lvl="1" indent="0">
              <a:buNone/>
            </a:pPr>
            <a:r>
              <a:rPr lang="en-US" sz="2000" b="1" i="1" dirty="0" smtClean="0"/>
              <a:t>// do CS</a:t>
            </a:r>
          </a:p>
          <a:p>
            <a:pPr marL="457200" lvl="1" indent="0">
              <a:buNone/>
            </a:pPr>
            <a:r>
              <a:rPr lang="en-US" sz="2000" dirty="0" err="1"/>
              <a:t>p</a:t>
            </a:r>
            <a:r>
              <a:rPr lang="en-US" sz="2000" dirty="0" err="1" smtClean="0"/>
              <a:t>thread_cond_signal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chemeClr val="accent6"/>
                </a:solidFill>
              </a:rPr>
              <a:t>&amp;desiredcv2</a:t>
            </a:r>
            <a:r>
              <a:rPr lang="en-US" sz="2000" dirty="0" smtClean="0"/>
              <a:t>);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 err="1"/>
              <a:t>p</a:t>
            </a:r>
            <a:r>
              <a:rPr lang="en-US" sz="2000" dirty="0" err="1" smtClean="0"/>
              <a:t>thread_mutex_unlock</a:t>
            </a:r>
            <a:r>
              <a:rPr lang="en-US" sz="2000" dirty="0" smtClean="0"/>
              <a:t>(</a:t>
            </a:r>
            <a:r>
              <a:rPr lang="en-US" sz="2000" b="1" dirty="0" smtClean="0">
                <a:solidFill>
                  <a:schemeClr val="accent2"/>
                </a:solidFill>
              </a:rPr>
              <a:t>&amp;</a:t>
            </a:r>
            <a:r>
              <a:rPr lang="en-US" sz="2000" b="1" dirty="0" err="1" smtClean="0">
                <a:solidFill>
                  <a:schemeClr val="accent2"/>
                </a:solidFill>
              </a:rPr>
              <a:t>mutex</a:t>
            </a:r>
            <a:r>
              <a:rPr lang="en-US" sz="2000" dirty="0" smtClean="0"/>
              <a:t>);</a:t>
            </a:r>
            <a:endParaRPr lang="en-US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000" dirty="0" err="1"/>
              <a:t>pthread_mutex_lock</a:t>
            </a:r>
            <a:r>
              <a:rPr lang="en-US" sz="2000" dirty="0"/>
              <a:t>(</a:t>
            </a:r>
            <a:r>
              <a:rPr lang="en-US" sz="2000" b="1" dirty="0">
                <a:solidFill>
                  <a:schemeClr val="accent2"/>
                </a:solidFill>
              </a:rPr>
              <a:t>&amp;</a:t>
            </a:r>
            <a:r>
              <a:rPr lang="en-US" sz="2000" b="1" dirty="0" err="1">
                <a:solidFill>
                  <a:schemeClr val="accent2"/>
                </a:solidFill>
              </a:rPr>
              <a:t>mutex</a:t>
            </a:r>
            <a:r>
              <a:rPr lang="en-US" sz="2000" dirty="0"/>
              <a:t>)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 smtClean="0"/>
              <a:t>while</a:t>
            </a:r>
            <a:r>
              <a:rPr lang="en-US" sz="2000" dirty="0"/>
              <a:t>( desired</a:t>
            </a:r>
            <a:r>
              <a:rPr lang="en-US" sz="2000" i="1" dirty="0">
                <a:solidFill>
                  <a:schemeClr val="accent6"/>
                </a:solidFill>
              </a:rPr>
              <a:t> </a:t>
            </a:r>
            <a:r>
              <a:rPr lang="en-US" sz="2000" i="1" dirty="0" smtClean="0">
                <a:solidFill>
                  <a:schemeClr val="accent6"/>
                </a:solidFill>
              </a:rPr>
              <a:t>condition2 </a:t>
            </a:r>
            <a:r>
              <a:rPr lang="en-US" sz="2000" dirty="0"/>
              <a:t>not met) {</a:t>
            </a:r>
          </a:p>
          <a:p>
            <a:pPr marL="457200" lvl="1" indent="0"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pthread_cond_wait</a:t>
            </a:r>
            <a:r>
              <a:rPr lang="en-US" sz="2000" b="1" dirty="0">
                <a:solidFill>
                  <a:schemeClr val="accent6"/>
                </a:solidFill>
              </a:rPr>
              <a:t>(&amp;</a:t>
            </a:r>
            <a:r>
              <a:rPr lang="en-US" sz="2000" b="1" dirty="0" smtClean="0">
                <a:solidFill>
                  <a:schemeClr val="accent6"/>
                </a:solidFill>
              </a:rPr>
              <a:t>desiredcv2</a:t>
            </a:r>
            <a:r>
              <a:rPr lang="en-US" sz="2000" dirty="0" smtClean="0"/>
              <a:t>, </a:t>
            </a:r>
            <a:r>
              <a:rPr lang="en-US" sz="2000" b="1" dirty="0">
                <a:solidFill>
                  <a:schemeClr val="accent2"/>
                </a:solidFill>
              </a:rPr>
              <a:t>&amp;</a:t>
            </a:r>
            <a:r>
              <a:rPr lang="en-US" sz="2000" b="1" dirty="0" err="1">
                <a:solidFill>
                  <a:schemeClr val="accent2"/>
                </a:solidFill>
              </a:rPr>
              <a:t>mutex</a:t>
            </a:r>
            <a:r>
              <a:rPr lang="en-US" sz="2000" dirty="0"/>
              <a:t>);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457200" lvl="1" indent="0">
              <a:buNone/>
            </a:pPr>
            <a:r>
              <a:rPr lang="en-US" sz="2000" b="1" i="1" dirty="0"/>
              <a:t>// do CS</a:t>
            </a:r>
          </a:p>
          <a:p>
            <a:pPr marL="457200" lvl="1" indent="0">
              <a:buNone/>
            </a:pPr>
            <a:r>
              <a:rPr lang="en-US" sz="2000" dirty="0" err="1"/>
              <a:t>pthread_cond_signal</a:t>
            </a:r>
            <a:r>
              <a:rPr lang="en-US" sz="2000" dirty="0"/>
              <a:t>(</a:t>
            </a:r>
            <a:r>
              <a:rPr lang="en-US" sz="2000" b="1" dirty="0">
                <a:solidFill>
                  <a:schemeClr val="accent1"/>
                </a:solidFill>
              </a:rPr>
              <a:t>&amp;</a:t>
            </a:r>
            <a:r>
              <a:rPr lang="en-US" sz="2000" b="1" dirty="0" smtClean="0">
                <a:solidFill>
                  <a:schemeClr val="accent1"/>
                </a:solidFill>
              </a:rPr>
              <a:t>desiredcv1</a:t>
            </a:r>
            <a:r>
              <a:rPr lang="en-US" sz="2000" dirty="0" smtClean="0"/>
              <a:t>);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 err="1"/>
              <a:t>pthread_mutex_unlock</a:t>
            </a:r>
            <a:r>
              <a:rPr lang="en-US" sz="2000" dirty="0"/>
              <a:t>(</a:t>
            </a:r>
            <a:r>
              <a:rPr lang="en-US" sz="2000" b="1" dirty="0">
                <a:solidFill>
                  <a:schemeClr val="accent2"/>
                </a:solidFill>
              </a:rPr>
              <a:t>&amp;</a:t>
            </a:r>
            <a:r>
              <a:rPr lang="en-US" sz="2000" b="1" dirty="0" err="1">
                <a:solidFill>
                  <a:schemeClr val="accent2"/>
                </a:solidFill>
              </a:rPr>
              <a:t>mutex</a:t>
            </a:r>
            <a:r>
              <a:rPr lang="en-US" sz="2000" dirty="0"/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4811150" y="6350000"/>
            <a:ext cx="6893170" cy="419100"/>
          </a:xfrm>
          <a:prstGeom prst="rect">
            <a:avLst/>
          </a:prstGeom>
          <a:solidFill>
            <a:schemeClr val="tx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See:     </a:t>
            </a:r>
            <a:r>
              <a:rPr lang="en-US" sz="2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</a:t>
            </a:r>
            <a:r>
              <a:rPr lang="en-US" sz="2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find_some_primes_cv.c</a:t>
            </a: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23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 – A more </a:t>
            </a:r>
            <a:r>
              <a:rPr lang="en-US" b="1" dirty="0" smtClean="0"/>
              <a:t>general</a:t>
            </a:r>
            <a:r>
              <a:rPr lang="en-US" dirty="0" smtClean="0"/>
              <a:t> solution: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Conceptually a semaphore is two things:</a:t>
            </a:r>
          </a:p>
          <a:p>
            <a:pPr lvl="1"/>
            <a:r>
              <a:rPr lang="en-US" dirty="0" smtClean="0"/>
              <a:t>A counter (of allowed tasks) </a:t>
            </a:r>
            <a:r>
              <a:rPr lang="en-US" b="1" dirty="0" smtClean="0"/>
              <a:t>n ( 1 in our example)</a:t>
            </a:r>
            <a:endParaRPr lang="en-US" dirty="0" smtClean="0"/>
          </a:p>
          <a:p>
            <a:pPr lvl="1"/>
            <a:r>
              <a:rPr lang="en-US" dirty="0" smtClean="0"/>
              <a:t>A queue (of waiting tasks)    </a:t>
            </a:r>
            <a:r>
              <a:rPr lang="en-US" b="1" dirty="0" err="1" smtClean="0"/>
              <a:t>wq</a:t>
            </a:r>
            <a:endParaRPr lang="en-US" b="1" dirty="0" smtClean="0"/>
          </a:p>
          <a:p>
            <a:pPr lvl="1"/>
            <a:endParaRPr lang="en-US" dirty="0"/>
          </a:p>
          <a:p>
            <a:r>
              <a:rPr lang="en-US" dirty="0" smtClean="0"/>
              <a:t>Often initially</a:t>
            </a:r>
          </a:p>
          <a:p>
            <a:pPr lvl="1"/>
            <a:r>
              <a:rPr lang="en-US" b="1" dirty="0" smtClean="0"/>
              <a:t>n</a:t>
            </a:r>
            <a:r>
              <a:rPr lang="en-US" dirty="0" smtClean="0"/>
              <a:t>=MAX  (MAX=1 in our example)</a:t>
            </a:r>
          </a:p>
          <a:p>
            <a:pPr lvl="1"/>
            <a:r>
              <a:rPr lang="en-US" b="1" dirty="0" err="1"/>
              <a:t>w</a:t>
            </a:r>
            <a:r>
              <a:rPr lang="en-US" b="1" dirty="0" err="1" smtClean="0"/>
              <a:t>q</a:t>
            </a:r>
            <a:r>
              <a:rPr lang="en-US" dirty="0" smtClean="0"/>
              <a:t>= empty list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4450596"/>
            <a:ext cx="5181600" cy="221401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Basically the semaphore is a barrier except it allows a MAX number of threads to pass the barrier (MAX possibly &gt; 1)</a:t>
            </a:r>
          </a:p>
          <a:p>
            <a:r>
              <a:rPr lang="en-US" dirty="0" smtClean="0"/>
              <a:t>It behaves like a mutex if MAX is 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536872" y="1925781"/>
            <a:ext cx="1205346" cy="12607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40781" y="2022763"/>
            <a:ext cx="1025237" cy="484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640781" y="2590799"/>
            <a:ext cx="1025237" cy="484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570164" y="1741115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counter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>
            <a:off x="8742218" y="1925781"/>
            <a:ext cx="827946" cy="32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8742218" y="3212979"/>
            <a:ext cx="827946" cy="42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8742218" y="2584364"/>
            <a:ext cx="2611582" cy="484909"/>
            <a:chOff x="8742218" y="2584364"/>
            <a:chExt cx="2611582" cy="484909"/>
          </a:xfrm>
        </p:grpSpPr>
        <p:sp>
          <p:nvSpPr>
            <p:cNvPr id="19" name="Rectangle 18"/>
            <p:cNvSpPr/>
            <p:nvPr/>
          </p:nvSpPr>
          <p:spPr>
            <a:xfrm>
              <a:off x="8742218" y="2584364"/>
              <a:ext cx="827946" cy="484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3375</a:t>
              </a:r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21708" y="2584364"/>
              <a:ext cx="827946" cy="484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4175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0525854" y="2584364"/>
              <a:ext cx="827946" cy="484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2100</a:t>
              </a:r>
              <a:endParaRPr lang="en-US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9621708" y="3512407"/>
            <a:ext cx="128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FIFO Queue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4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Implementing </a:t>
            </a:r>
            <a:r>
              <a:rPr lang="en-US" dirty="0" err="1" smtClean="0"/>
              <a:t>sem_wait</a:t>
            </a:r>
            <a:r>
              <a:rPr lang="en-US" dirty="0" smtClean="0"/>
              <a:t> and </a:t>
            </a:r>
            <a:r>
              <a:rPr lang="en-US" dirty="0" err="1" smtClean="0"/>
              <a:t>sem_post</a:t>
            </a:r>
            <a:r>
              <a:rPr lang="en-US" dirty="0" smtClean="0"/>
              <a:t> atomically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sem_post</a:t>
            </a:r>
            <a:r>
              <a:rPr lang="en-US" dirty="0" smtClean="0"/>
              <a:t>( S 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if ( </a:t>
            </a:r>
            <a:r>
              <a:rPr lang="en-US" dirty="0" err="1" smtClean="0"/>
              <a:t>S.</a:t>
            </a:r>
            <a:r>
              <a:rPr lang="en-US" b="1" dirty="0" err="1" smtClean="0"/>
              <a:t>wq</a:t>
            </a:r>
            <a:r>
              <a:rPr lang="en-US" dirty="0" smtClean="0"/>
              <a:t> is empty )</a:t>
            </a:r>
            <a:br>
              <a:rPr lang="en-US" dirty="0" smtClean="0"/>
            </a:br>
            <a:r>
              <a:rPr lang="en-US" dirty="0" smtClean="0"/>
              <a:t>                </a:t>
            </a:r>
            <a:r>
              <a:rPr lang="en-US" dirty="0" err="1" smtClean="0"/>
              <a:t>S.</a:t>
            </a:r>
            <a:r>
              <a:rPr lang="en-US" b="1" dirty="0" err="1" smtClean="0"/>
              <a:t>n</a:t>
            </a:r>
            <a:r>
              <a:rPr lang="en-US" dirty="0" smtClean="0"/>
              <a:t> ++ 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else</a:t>
            </a:r>
            <a:br>
              <a:rPr lang="en-US" dirty="0" smtClean="0"/>
            </a:br>
            <a:r>
              <a:rPr lang="en-US" dirty="0" smtClean="0"/>
              <a:t>                 t = </a:t>
            </a:r>
            <a:r>
              <a:rPr lang="en-US" dirty="0" err="1" smtClean="0"/>
              <a:t>delq</a:t>
            </a:r>
            <a:r>
              <a:rPr lang="en-US" dirty="0" smtClean="0"/>
              <a:t>(</a:t>
            </a:r>
            <a:r>
              <a:rPr lang="en-US" dirty="0" err="1" smtClean="0"/>
              <a:t>S.</a:t>
            </a:r>
            <a:r>
              <a:rPr lang="en-US" b="1" dirty="0" err="1" smtClean="0"/>
              <a:t>wq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</a:t>
            </a:r>
            <a:r>
              <a:rPr lang="en-US" u="sng" dirty="0" err="1" smtClean="0"/>
              <a:t>movetoready</a:t>
            </a:r>
            <a:r>
              <a:rPr lang="en-US" u="sng" dirty="0" smtClean="0"/>
              <a:t>(t)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em_wait</a:t>
            </a:r>
            <a:r>
              <a:rPr lang="en-US" dirty="0" smtClean="0"/>
              <a:t>( S ) </a:t>
            </a:r>
          </a:p>
          <a:p>
            <a:pPr marL="0" indent="0">
              <a:buNone/>
            </a:pPr>
            <a:r>
              <a:rPr lang="en-US" dirty="0" smtClean="0"/>
              <a:t>       if (</a:t>
            </a:r>
            <a:r>
              <a:rPr lang="en-US" dirty="0" err="1" smtClean="0"/>
              <a:t>S.</a:t>
            </a:r>
            <a:r>
              <a:rPr lang="en-US" b="1" dirty="0" err="1" smtClean="0"/>
              <a:t>n</a:t>
            </a:r>
            <a:r>
              <a:rPr lang="en-US" dirty="0" smtClean="0"/>
              <a:t> &gt; 0 ) </a:t>
            </a:r>
            <a:br>
              <a:rPr lang="en-US" dirty="0" smtClean="0"/>
            </a:br>
            <a:r>
              <a:rPr lang="en-US" dirty="0" smtClean="0"/>
              <a:t>               </a:t>
            </a:r>
            <a:r>
              <a:rPr lang="en-US" b="1" dirty="0" err="1" smtClean="0"/>
              <a:t>S.n</a:t>
            </a:r>
            <a:r>
              <a:rPr lang="en-US" dirty="0" smtClean="0"/>
              <a:t> -- 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else</a:t>
            </a:r>
            <a:br>
              <a:rPr lang="en-US" dirty="0" smtClean="0"/>
            </a:br>
            <a:r>
              <a:rPr lang="en-US" dirty="0" smtClean="0"/>
              <a:t>               </a:t>
            </a:r>
            <a:r>
              <a:rPr lang="en-US" dirty="0" err="1" smtClean="0"/>
              <a:t>addq</a:t>
            </a:r>
            <a:r>
              <a:rPr lang="en-US" dirty="0" smtClean="0"/>
              <a:t>(self, </a:t>
            </a:r>
            <a:r>
              <a:rPr lang="en-US" dirty="0" err="1" smtClean="0"/>
              <a:t>S.</a:t>
            </a:r>
            <a:r>
              <a:rPr lang="en-US" b="1" dirty="0" err="1" smtClean="0"/>
              <a:t>wq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  </a:t>
            </a:r>
            <a:r>
              <a:rPr lang="en-US" u="sng" dirty="0" smtClean="0"/>
              <a:t>blocked()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  <p:grpSp>
        <p:nvGrpSpPr>
          <p:cNvPr id="17" name="Group 16"/>
          <p:cNvGrpSpPr/>
          <p:nvPr/>
        </p:nvGrpSpPr>
        <p:grpSpPr>
          <a:xfrm>
            <a:off x="1138518" y="2112371"/>
            <a:ext cx="9323294" cy="2883546"/>
            <a:chOff x="1138518" y="2112371"/>
            <a:chExt cx="9323294" cy="2883546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138518" y="4607859"/>
              <a:ext cx="3648635" cy="0"/>
            </a:xfrm>
            <a:prstGeom prst="line">
              <a:avLst/>
            </a:prstGeom>
            <a:ln w="76200" cmpd="dbl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472518" y="2303930"/>
              <a:ext cx="3989294" cy="0"/>
            </a:xfrm>
            <a:prstGeom prst="line">
              <a:avLst/>
            </a:prstGeom>
            <a:ln w="76200" cmpd="dbl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472518" y="4607859"/>
              <a:ext cx="3989294" cy="0"/>
            </a:xfrm>
            <a:prstGeom prst="line">
              <a:avLst/>
            </a:prstGeom>
            <a:ln w="76200" cmpd="dbl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38518" y="2303930"/>
              <a:ext cx="3648635" cy="0"/>
            </a:xfrm>
            <a:prstGeom prst="line">
              <a:avLst/>
            </a:prstGeom>
            <a:ln w="76200" cmpd="dbl"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 rot="16200000">
              <a:off x="4138757" y="3092479"/>
              <a:ext cx="2883546" cy="923330"/>
            </a:xfrm>
            <a:prstGeom prst="rect">
              <a:avLst/>
            </a:prstGeom>
            <a:gradFill flip="none" rotWithShape="1">
              <a:gsLst>
                <a:gs pos="8000">
                  <a:schemeClr val="accent1">
                    <a:tint val="66000"/>
                    <a:satMod val="16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34925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pattFill prst="dkUpDiag">
                    <a:fgClr>
                      <a:schemeClr val="tx2"/>
                    </a:fgClr>
                    <a:bgClr>
                      <a:schemeClr val="tx2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ATOMIC !</a:t>
              </a:r>
              <a:endPara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  <p:sp>
        <p:nvSpPr>
          <p:cNvPr id="11" name="Content Placeholder 4"/>
          <p:cNvSpPr txBox="1">
            <a:spLocks/>
          </p:cNvSpPr>
          <p:nvPr/>
        </p:nvSpPr>
        <p:spPr>
          <a:xfrm>
            <a:off x="838200" y="5337455"/>
            <a:ext cx="7797800" cy="13276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Basically the semaphore is a barrier except it allows a MAX number of threads to pass the barrier (MAX possibly &gt; 1)</a:t>
            </a:r>
          </a:p>
          <a:p>
            <a:r>
              <a:rPr lang="en-US" sz="2400" dirty="0" smtClean="0"/>
              <a:t>It behaves like a mutex if MAX is 1 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sz="2400" dirty="0" smtClean="0"/>
              <a:t> semaphore vs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r>
              <a:rPr lang="en-US" sz="2400" dirty="0" smtClean="0"/>
              <a:t> semaphore)</a:t>
            </a:r>
            <a:endParaRPr lang="en-US" sz="24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3500511" y="1320776"/>
            <a:ext cx="8602531" cy="916965"/>
            <a:chOff x="3500511" y="1320776"/>
            <a:chExt cx="8602531" cy="916965"/>
          </a:xfrm>
        </p:grpSpPr>
        <p:sp>
          <p:nvSpPr>
            <p:cNvPr id="6" name="Rectangle 5"/>
            <p:cNvSpPr/>
            <p:nvPr/>
          </p:nvSpPr>
          <p:spPr>
            <a:xfrm>
              <a:off x="3500511" y="1320776"/>
              <a:ext cx="732692" cy="87476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 smtClean="0">
                  <a:solidFill>
                    <a:srgbClr val="FF0000"/>
                  </a:solidFill>
                  <a:latin typeface="Georgia" panose="02040502050405020303" pitchFamily="18" charset="0"/>
                </a:rPr>
                <a:t>P</a:t>
              </a:r>
              <a:endParaRPr lang="en-US" dirty="0">
                <a:solidFill>
                  <a:srgbClr val="FF0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88438" y="1362979"/>
              <a:ext cx="732692" cy="87476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 smtClean="0">
                  <a:solidFill>
                    <a:srgbClr val="FF0000"/>
                  </a:solidFill>
                  <a:latin typeface="Georgia" panose="02040502050405020303" pitchFamily="18" charset="0"/>
                </a:rPr>
                <a:t>V</a:t>
              </a:r>
              <a:endParaRPr lang="en-US" dirty="0">
                <a:solidFill>
                  <a:srgbClr val="FF0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697429" y="1362979"/>
              <a:ext cx="1405613" cy="87476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 smtClean="0">
                  <a:solidFill>
                    <a:srgbClr val="FF0000"/>
                  </a:solidFill>
                  <a:latin typeface="Georgia" panose="02040502050405020303" pitchFamily="18" charset="0"/>
                </a:rPr>
                <a:t>Edsger</a:t>
              </a:r>
              <a:r>
                <a:rPr lang="en-US" sz="2000" dirty="0" smtClean="0">
                  <a:solidFill>
                    <a:srgbClr val="FF0000"/>
                  </a:solidFill>
                  <a:latin typeface="Georgia" panose="02040502050405020303" pitchFamily="18" charset="0"/>
                </a:rPr>
                <a:t> </a:t>
              </a:r>
              <a:r>
                <a:rPr lang="en-US" sz="2000" dirty="0" err="1" smtClean="0">
                  <a:solidFill>
                    <a:srgbClr val="FF0000"/>
                  </a:solidFill>
                  <a:latin typeface="Georgia" panose="02040502050405020303" pitchFamily="18" charset="0"/>
                </a:rPr>
                <a:t>Dijkstra</a:t>
              </a:r>
              <a:endParaRPr lang="en-US" sz="1100" dirty="0">
                <a:solidFill>
                  <a:srgbClr val="FF0000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393492" y="4972888"/>
            <a:ext cx="2607873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 smtClean="0">
                <a:cs typeface="Courier New" panose="02070309020205020404" pitchFamily="49" charset="0"/>
              </a:rPr>
              <a:t>sem_post</a:t>
            </a:r>
            <a:r>
              <a:rPr lang="en-US" dirty="0" smtClean="0"/>
              <a:t> is also called </a:t>
            </a:r>
            <a:r>
              <a:rPr lang="en-US" b="1" dirty="0" err="1" smtClean="0"/>
              <a:t>sem_signal</a:t>
            </a:r>
            <a:r>
              <a:rPr lang="en-US" dirty="0" smtClean="0"/>
              <a:t> in literature.</a:t>
            </a:r>
            <a:endParaRPr lang="en-US" dirty="0"/>
          </a:p>
        </p:txBody>
      </p:sp>
      <p:sp>
        <p:nvSpPr>
          <p:cNvPr id="13" name="Rounded Rectangular Callout 12"/>
          <p:cNvSpPr/>
          <p:nvPr/>
        </p:nvSpPr>
        <p:spPr>
          <a:xfrm>
            <a:off x="0" y="3265714"/>
            <a:ext cx="1161143" cy="612550"/>
          </a:xfrm>
          <a:prstGeom prst="wedgeRoundRectCallout">
            <a:avLst>
              <a:gd name="adj1" fmla="val 45834"/>
              <a:gd name="adj2" fmla="val -74908"/>
              <a:gd name="adj3" fmla="val 16667"/>
            </a:avLst>
          </a:prstGeom>
          <a:solidFill>
            <a:srgbClr val="EEC358"/>
          </a:solidFill>
          <a:ln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 to get in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10300465" y="3180696"/>
            <a:ext cx="1891535" cy="883304"/>
          </a:xfrm>
          <a:prstGeom prst="wedgeRoundRectCallout">
            <a:avLst>
              <a:gd name="adj1" fmla="val -51666"/>
              <a:gd name="adj2" fmla="val -82016"/>
              <a:gd name="adj3" fmla="val 16667"/>
            </a:avLst>
          </a:prstGeom>
          <a:solidFill>
            <a:srgbClr val="EEC358"/>
          </a:solidFill>
          <a:ln>
            <a:solidFill>
              <a:schemeClr val="bg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others know.. On the way out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4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 animBg="1"/>
      <p:bldP spid="13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The (multi) </a:t>
            </a:r>
            <a:r>
              <a:rPr lang="en-US" u="sng" dirty="0" smtClean="0"/>
              <a:t>producer-consumer problem</a:t>
            </a:r>
            <a:endParaRPr lang="en-US" u="sng" dirty="0"/>
          </a:p>
        </p:txBody>
      </p:sp>
      <p:grpSp>
        <p:nvGrpSpPr>
          <p:cNvPr id="51" name="Group 50"/>
          <p:cNvGrpSpPr/>
          <p:nvPr/>
        </p:nvGrpSpPr>
        <p:grpSpPr>
          <a:xfrm>
            <a:off x="1532275" y="3627120"/>
            <a:ext cx="4639056" cy="597408"/>
            <a:chOff x="2767584" y="2365248"/>
            <a:chExt cx="4639056" cy="597408"/>
          </a:xfrm>
        </p:grpSpPr>
        <p:cxnSp>
          <p:nvCxnSpPr>
            <p:cNvPr id="6" name="Straight Connector 5"/>
            <p:cNvCxnSpPr/>
            <p:nvPr/>
          </p:nvCxnSpPr>
          <p:spPr>
            <a:xfrm flipV="1">
              <a:off x="2779776" y="2377440"/>
              <a:ext cx="4626864" cy="18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2767584" y="2913888"/>
              <a:ext cx="4626864" cy="18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980944" y="2377440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283567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586190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888813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91436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494059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796682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99305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401928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704551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6007174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6309797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6612420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6915043" y="239572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7217664" y="2365248"/>
              <a:ext cx="0" cy="5669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Oval 51"/>
          <p:cNvSpPr/>
          <p:nvPr/>
        </p:nvSpPr>
        <p:spPr>
          <a:xfrm>
            <a:off x="784860" y="2340864"/>
            <a:ext cx="530352" cy="53035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784860" y="4785360"/>
            <a:ext cx="530352" cy="53035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366416" y="3645408"/>
            <a:ext cx="530352" cy="53035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>
            <a:stCxn id="52" idx="5"/>
          </p:cNvCxnSpPr>
          <p:nvPr/>
        </p:nvCxnSpPr>
        <p:spPr>
          <a:xfrm>
            <a:off x="1237544" y="2793548"/>
            <a:ext cx="390088" cy="351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4" idx="7"/>
          </p:cNvCxnSpPr>
          <p:nvPr/>
        </p:nvCxnSpPr>
        <p:spPr>
          <a:xfrm flipV="1">
            <a:off x="1237544" y="4553712"/>
            <a:ext cx="453227" cy="309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5" idx="6"/>
          </p:cNvCxnSpPr>
          <p:nvPr/>
        </p:nvCxnSpPr>
        <p:spPr>
          <a:xfrm>
            <a:off x="896768" y="3910584"/>
            <a:ext cx="567389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171331" y="2263196"/>
            <a:ext cx="530352" cy="5303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801829" y="3657600"/>
            <a:ext cx="530352" cy="5303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6085549" y="4863028"/>
            <a:ext cx="530352" cy="5303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>
            <a:endCxn id="62" idx="3"/>
          </p:cNvCxnSpPr>
          <p:nvPr/>
        </p:nvCxnSpPr>
        <p:spPr>
          <a:xfrm flipV="1">
            <a:off x="5522976" y="2715880"/>
            <a:ext cx="726023" cy="67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endCxn id="63" idx="2"/>
          </p:cNvCxnSpPr>
          <p:nvPr/>
        </p:nvCxnSpPr>
        <p:spPr>
          <a:xfrm flipV="1">
            <a:off x="6159139" y="3922776"/>
            <a:ext cx="642690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64" idx="1"/>
          </p:cNvCxnSpPr>
          <p:nvPr/>
        </p:nvCxnSpPr>
        <p:spPr>
          <a:xfrm>
            <a:off x="5522976" y="4437888"/>
            <a:ext cx="640241" cy="50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468640" y="1465544"/>
            <a:ext cx="4682051" cy="193899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6"/>
                </a:solidFill>
              </a:rPr>
              <a:t>Producers:</a:t>
            </a:r>
          </a:p>
          <a:p>
            <a:r>
              <a:rPr lang="en-US" sz="2400" dirty="0" smtClean="0">
                <a:solidFill>
                  <a:schemeClr val="accent6"/>
                </a:solidFill>
              </a:rPr>
              <a:t>   keep putting items to the buffer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chemeClr val="accent2"/>
                </a:solidFill>
              </a:rPr>
              <a:t>Consumers: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 smtClean="0">
                <a:solidFill>
                  <a:schemeClr val="accent2"/>
                </a:solidFill>
              </a:rPr>
              <a:t>  keep getting items from the buffer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512377" y="3697369"/>
            <a:ext cx="2337884" cy="2862322"/>
          </a:xfrm>
          <a:prstGeom prst="rect">
            <a:avLst/>
          </a:prstGeom>
          <a:gradFill flip="none" rotWithShape="1">
            <a:gsLst>
              <a:gs pos="3000">
                <a:srgbClr val="FFFF00"/>
              </a:gs>
              <a:gs pos="73000">
                <a:schemeClr val="bg1"/>
              </a:gs>
            </a:gsLst>
            <a:lin ang="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ut</a:t>
            </a:r>
            <a:r>
              <a:rPr lang="en-US" dirty="0" smtClean="0"/>
              <a:t>(</a:t>
            </a:r>
            <a:r>
              <a:rPr lang="en-US" dirty="0" err="1" smtClean="0"/>
              <a:t>val</a:t>
            </a:r>
            <a:r>
              <a:rPr lang="en-US" dirty="0" smtClean="0"/>
              <a:t>){</a:t>
            </a:r>
          </a:p>
          <a:p>
            <a:r>
              <a:rPr lang="en-US" dirty="0"/>
              <a:t> </a:t>
            </a:r>
            <a:r>
              <a:rPr lang="en-US" dirty="0" smtClean="0"/>
              <a:t> buffer[free]=</a:t>
            </a:r>
            <a:r>
              <a:rPr lang="en-US" dirty="0" err="1" smtClean="0"/>
              <a:t>val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free=free+1 % MAX;   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  <a:p>
            <a:r>
              <a:rPr lang="en-US" b="1" dirty="0"/>
              <a:t>g</a:t>
            </a:r>
            <a:r>
              <a:rPr lang="en-US" b="1" dirty="0" smtClean="0"/>
              <a:t>et</a:t>
            </a:r>
            <a:r>
              <a:rPr lang="en-US" dirty="0" smtClean="0"/>
              <a:t>(){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tmp</a:t>
            </a:r>
            <a:r>
              <a:rPr lang="en-US" dirty="0" smtClean="0"/>
              <a:t>=buffer[used];</a:t>
            </a:r>
          </a:p>
          <a:p>
            <a:r>
              <a:rPr lang="en-US" dirty="0"/>
              <a:t> </a:t>
            </a:r>
            <a:r>
              <a:rPr lang="en-US" dirty="0" smtClean="0"/>
              <a:t> used=used+1 % MAX;</a:t>
            </a:r>
          </a:p>
          <a:p>
            <a:r>
              <a:rPr lang="en-US" dirty="0"/>
              <a:t> </a:t>
            </a:r>
            <a:r>
              <a:rPr lang="en-US" dirty="0" smtClean="0"/>
              <a:t> return </a:t>
            </a:r>
            <a:r>
              <a:rPr lang="en-US" dirty="0" err="1" smtClean="0"/>
              <a:t>tmp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5" name="Content Placeholder 4"/>
          <p:cNvSpPr txBox="1">
            <a:spLocks/>
          </p:cNvSpPr>
          <p:nvPr/>
        </p:nvSpPr>
        <p:spPr>
          <a:xfrm>
            <a:off x="366416" y="5607380"/>
            <a:ext cx="8758192" cy="13276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We only want as many producers to put()  as there are free slots</a:t>
            </a:r>
          </a:p>
          <a:p>
            <a:r>
              <a:rPr lang="en-US" sz="2400" dirty="0" smtClean="0"/>
              <a:t>We only want as many consumers to get() as there are filled slots</a:t>
            </a:r>
          </a:p>
          <a:p>
            <a:r>
              <a:rPr lang="en-US" sz="2400" dirty="0" smtClean="0"/>
              <a:t>Also we want only one thread updating the index at any time!</a:t>
            </a:r>
            <a:endParaRPr lang="en-US" sz="2400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544467" y="3395472"/>
            <a:ext cx="45410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84959" y="3050732"/>
            <a:ext cx="4094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number of array slots used circularly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4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3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03385" y="2447778"/>
            <a:ext cx="27926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buffer[free]=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free=free+1 % MAX;   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=buffer[used];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used=used+1 % MAX;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75272" y="1241483"/>
            <a:ext cx="755841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Producer(){</a:t>
            </a:r>
          </a:p>
          <a:p>
            <a:r>
              <a:rPr lang="en-US" sz="2000" dirty="0" smtClean="0"/>
              <a:t>…</a:t>
            </a:r>
            <a:br>
              <a:rPr lang="en-US" sz="2000" dirty="0" smtClean="0"/>
            </a:br>
            <a:r>
              <a:rPr lang="en-US" sz="2000" dirty="0" smtClean="0"/>
              <a:t>       </a:t>
            </a:r>
            <a:r>
              <a:rPr lang="en-US" sz="2000" dirty="0" err="1" smtClean="0"/>
              <a:t>sem_wait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accent6"/>
                </a:solidFill>
              </a:rPr>
              <a:t>&amp;</a:t>
            </a:r>
            <a:r>
              <a:rPr lang="en-US" sz="2000" dirty="0" err="1" smtClean="0">
                <a:solidFill>
                  <a:schemeClr val="accent6"/>
                </a:solidFill>
              </a:rPr>
              <a:t>empty_slot</a:t>
            </a:r>
            <a:r>
              <a:rPr lang="en-US" sz="2000" dirty="0" smtClean="0"/>
              <a:t>);        //wait till </a:t>
            </a:r>
            <a:r>
              <a:rPr lang="en-US" sz="2000" dirty="0" err="1" smtClean="0"/>
              <a:t>empty_slot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b="1" dirty="0" smtClean="0"/>
              <a:t>lock();  </a:t>
            </a:r>
            <a:r>
              <a:rPr lang="en-US" sz="2000" dirty="0" smtClean="0"/>
              <a:t>put(x);  </a:t>
            </a:r>
            <a:r>
              <a:rPr lang="en-US" sz="2000" b="1" dirty="0" smtClean="0"/>
              <a:t>unlock</a:t>
            </a:r>
            <a:r>
              <a:rPr lang="en-US" sz="2000" dirty="0" smtClean="0"/>
              <a:t>();         // we don’t want race for “free”;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sem_signal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accent2"/>
                </a:solidFill>
              </a:rPr>
              <a:t>&amp;</a:t>
            </a:r>
            <a:r>
              <a:rPr lang="en-US" sz="2000" dirty="0" err="1" smtClean="0">
                <a:solidFill>
                  <a:schemeClr val="accent2"/>
                </a:solidFill>
              </a:rPr>
              <a:t>filled_slot</a:t>
            </a:r>
            <a:r>
              <a:rPr lang="en-US" sz="2000" dirty="0" smtClean="0"/>
              <a:t>)        //signal anyone waiting for a filled slot</a:t>
            </a:r>
            <a:endParaRPr lang="en-US" sz="2000" dirty="0"/>
          </a:p>
          <a:p>
            <a:r>
              <a:rPr lang="en-US" sz="2000" dirty="0" smtClean="0"/>
              <a:t>…</a:t>
            </a:r>
          </a:p>
          <a:p>
            <a:r>
              <a:rPr lang="en-US" sz="2000" dirty="0" smtClean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4525910"/>
            <a:ext cx="8003345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Consumer(){</a:t>
            </a:r>
            <a:br>
              <a:rPr lang="en-US" sz="2000" dirty="0" smtClean="0"/>
            </a:br>
            <a:r>
              <a:rPr lang="en-US" sz="2000" dirty="0" smtClean="0"/>
              <a:t>…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sem_wait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accent2"/>
                </a:solidFill>
              </a:rPr>
              <a:t>&amp;</a:t>
            </a:r>
            <a:r>
              <a:rPr lang="en-US" sz="2000" dirty="0" err="1" smtClean="0">
                <a:solidFill>
                  <a:schemeClr val="accent2"/>
                </a:solidFill>
              </a:rPr>
              <a:t>filled_slot</a:t>
            </a:r>
            <a:r>
              <a:rPr lang="en-US" sz="2000" dirty="0" smtClean="0"/>
              <a:t>);            //wait till filled slot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b="1" dirty="0" smtClean="0"/>
              <a:t>lock</a:t>
            </a:r>
            <a:r>
              <a:rPr lang="en-US" sz="2000" dirty="0" smtClean="0"/>
              <a:t>(); x=get();   </a:t>
            </a:r>
            <a:r>
              <a:rPr lang="en-US" sz="2000" b="1" dirty="0" smtClean="0"/>
              <a:t>unlock</a:t>
            </a:r>
            <a:r>
              <a:rPr lang="en-US" sz="2000" dirty="0" smtClean="0"/>
              <a:t>();         // we don’t want race for “used”;</a:t>
            </a:r>
            <a:endParaRPr lang="en-US" sz="2000" dirty="0"/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sem_signal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accent6"/>
                </a:solidFill>
              </a:rPr>
              <a:t>&amp;</a:t>
            </a:r>
            <a:r>
              <a:rPr lang="en-US" sz="2000" dirty="0" err="1" smtClean="0">
                <a:solidFill>
                  <a:schemeClr val="accent6"/>
                </a:solidFill>
              </a:rPr>
              <a:t>empty_slot</a:t>
            </a:r>
            <a:r>
              <a:rPr lang="en-US" sz="2000" dirty="0" smtClean="0"/>
              <a:t>);       //signal anyone waiting for an empty slot</a:t>
            </a:r>
          </a:p>
          <a:p>
            <a:r>
              <a:rPr lang="en-US" sz="2000" dirty="0" smtClean="0"/>
              <a:t>…</a:t>
            </a:r>
            <a:br>
              <a:rPr lang="en-US" sz="2000" dirty="0" smtClean="0"/>
            </a:br>
            <a:r>
              <a:rPr lang="en-US" sz="2000" dirty="0" smtClean="0"/>
              <a:t>}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632454" y="1847088"/>
            <a:ext cx="43434" cy="4681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4660" y="1216705"/>
            <a:ext cx="2709228" cy="1148161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Too many  people accessing </a:t>
            </a:r>
            <a:r>
              <a:rPr lang="en-US" b="1" dirty="0" smtClean="0">
                <a:solidFill>
                  <a:schemeClr val="tx1"/>
                </a:solidFill>
              </a:rPr>
              <a:t>free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b="1" dirty="0" smtClean="0">
                <a:solidFill>
                  <a:schemeClr val="tx1"/>
                </a:solidFill>
              </a:rPr>
              <a:t>used</a:t>
            </a:r>
            <a:r>
              <a:rPr lang="en-US" dirty="0" smtClean="0">
                <a:solidFill>
                  <a:schemeClr val="tx1"/>
                </a:solidFill>
              </a:rPr>
              <a:t>, so we’ll guard them with </a:t>
            </a:r>
            <a:r>
              <a:rPr lang="en-US" b="1" dirty="0" smtClean="0">
                <a:solidFill>
                  <a:schemeClr val="tx1"/>
                </a:solidFill>
              </a:rPr>
              <a:t>locks </a:t>
            </a:r>
            <a:r>
              <a:rPr lang="en-US" b="1" dirty="0" err="1" smtClean="0">
                <a:solidFill>
                  <a:schemeClr val="tx1"/>
                </a:solidFill>
              </a:rPr>
              <a:t>ie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mutex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75272" y="3738779"/>
            <a:ext cx="393364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 err="1" smtClean="0"/>
              <a:t>nit</a:t>
            </a:r>
            <a:r>
              <a:rPr lang="en-US" dirty="0" smtClean="0"/>
              <a:t>(&amp;</a:t>
            </a:r>
            <a:r>
              <a:rPr lang="en-US" dirty="0" err="1" smtClean="0"/>
              <a:t>empty_slot</a:t>
            </a:r>
            <a:r>
              <a:rPr lang="en-US" dirty="0" smtClean="0"/>
              <a:t>)  :: </a:t>
            </a:r>
            <a:r>
              <a:rPr lang="en-US" dirty="0" err="1" smtClean="0"/>
              <a:t>empty_slot.n</a:t>
            </a:r>
            <a:r>
              <a:rPr lang="en-US" dirty="0" smtClean="0"/>
              <a:t>=MAX</a:t>
            </a:r>
            <a:br>
              <a:rPr lang="en-US" dirty="0" smtClean="0"/>
            </a:br>
            <a:r>
              <a:rPr lang="en-US" dirty="0" err="1" smtClean="0"/>
              <a:t>init</a:t>
            </a:r>
            <a:r>
              <a:rPr lang="en-US" dirty="0" smtClean="0"/>
              <a:t>(&amp;</a:t>
            </a:r>
            <a:r>
              <a:rPr lang="en-US" dirty="0" err="1" smtClean="0"/>
              <a:t>filled_slot</a:t>
            </a:r>
            <a:r>
              <a:rPr lang="en-US" dirty="0" smtClean="0"/>
              <a:t>)     :: </a:t>
            </a:r>
            <a:r>
              <a:rPr lang="en-US" dirty="0" err="1" smtClean="0"/>
              <a:t>filled_slot.n</a:t>
            </a:r>
            <a:r>
              <a:rPr lang="en-US" dirty="0" smtClean="0"/>
              <a:t>  = 0</a:t>
            </a:r>
            <a:endParaRPr lang="en-US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>
          <a:xfrm>
            <a:off x="410182" y="31943"/>
            <a:ext cx="11360285" cy="11847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PC problem solution that combines </a:t>
            </a:r>
            <a:r>
              <a:rPr lang="en-US" dirty="0" err="1"/>
              <a:t>M</a:t>
            </a:r>
            <a:r>
              <a:rPr lang="en-US" dirty="0" err="1" smtClean="0"/>
              <a:t>utexes</a:t>
            </a:r>
            <a:r>
              <a:rPr lang="en-US" dirty="0" smtClean="0"/>
              <a:t> and POSIX Semaphores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49731" y="5884180"/>
            <a:ext cx="321754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See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ipc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sem-posix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pc.c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3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Aside: Shared memory among processes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5270855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We will read soon about how processes, not just threads can share parts of their address spaces.</a:t>
            </a:r>
          </a:p>
          <a:p>
            <a:r>
              <a:rPr lang="en-US" dirty="0" smtClean="0"/>
              <a:t>The exact </a:t>
            </a:r>
            <a:r>
              <a:rPr lang="en-US" dirty="0" err="1" smtClean="0"/>
              <a:t>techniqes</a:t>
            </a:r>
            <a:r>
              <a:rPr lang="en-US" dirty="0" smtClean="0"/>
              <a:t> is called “POSIX shared memory” and we come to that later.</a:t>
            </a:r>
          </a:p>
          <a:p>
            <a:r>
              <a:rPr lang="en-US" dirty="0" smtClean="0"/>
              <a:t>However, this means all the stuff about </a:t>
            </a:r>
            <a:r>
              <a:rPr lang="en-US" dirty="0" err="1" smtClean="0"/>
              <a:t>mtexes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r>
              <a:rPr lang="en-US" dirty="0" smtClean="0"/>
              <a:t> are valid between processes too as long as they are located inside the shared memory.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558645" y="2362087"/>
            <a:ext cx="903514" cy="3153343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49145" y="1943100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9656036" y="1943100"/>
            <a:ext cx="903514" cy="3630386"/>
            <a:chOff x="4329291" y="1943100"/>
            <a:chExt cx="903514" cy="3630386"/>
          </a:xfrm>
        </p:grpSpPr>
        <p:sp>
          <p:nvSpPr>
            <p:cNvPr id="8" name="Rectangle 7"/>
            <p:cNvSpPr/>
            <p:nvPr/>
          </p:nvSpPr>
          <p:spPr>
            <a:xfrm>
              <a:off x="4329291" y="2362087"/>
              <a:ext cx="903514" cy="3211399"/>
            </a:xfrm>
            <a:prstGeom prst="rect">
              <a:avLst/>
            </a:prstGeom>
            <a:pattFill prst="ltHorz">
              <a:fgClr>
                <a:schemeClr val="accent6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70894" y="194310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P2</a:t>
              </a:r>
              <a:endParaRPr lang="en-US" dirty="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7954940" y="3764586"/>
            <a:ext cx="903514" cy="4064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9000">
                <a:schemeClr val="accent1">
                  <a:lumMod val="45000"/>
                  <a:lumOff val="55000"/>
                </a:schemeClr>
              </a:gs>
              <a:gs pos="100000">
                <a:schemeClr val="accent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6572454" y="3725470"/>
            <a:ext cx="1339295" cy="484632"/>
            <a:chOff x="1245709" y="3725470"/>
            <a:chExt cx="1339295" cy="484632"/>
          </a:xfrm>
        </p:grpSpPr>
        <p:sp>
          <p:nvSpPr>
            <p:cNvPr id="13" name="Rectangle 12"/>
            <p:cNvSpPr/>
            <p:nvPr/>
          </p:nvSpPr>
          <p:spPr>
            <a:xfrm>
              <a:off x="1245709" y="3764586"/>
              <a:ext cx="903514" cy="4064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40000"/>
                  </a:schemeClr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ln w="2857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/>
            <p:cNvSpPr/>
            <p:nvPr/>
          </p:nvSpPr>
          <p:spPr>
            <a:xfrm rot="10800000">
              <a:off x="2057399" y="3725470"/>
              <a:ext cx="527605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8901644" y="3738415"/>
            <a:ext cx="1670606" cy="484632"/>
            <a:chOff x="3574899" y="3738415"/>
            <a:chExt cx="1670606" cy="484632"/>
          </a:xfrm>
        </p:grpSpPr>
        <p:sp>
          <p:nvSpPr>
            <p:cNvPr id="17" name="Rectangle 16"/>
            <p:cNvSpPr/>
            <p:nvPr/>
          </p:nvSpPr>
          <p:spPr>
            <a:xfrm>
              <a:off x="4341991" y="3764586"/>
              <a:ext cx="903514" cy="4064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40000"/>
                  </a:schemeClr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ln w="2857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Arrow 17"/>
            <p:cNvSpPr/>
            <p:nvPr/>
          </p:nvSpPr>
          <p:spPr>
            <a:xfrm>
              <a:off x="3574899" y="3738415"/>
              <a:ext cx="857401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316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 and semaphores and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POSIX supports two types of semaphores</a:t>
            </a:r>
          </a:p>
          <a:p>
            <a:pPr lvl="1"/>
            <a:r>
              <a:rPr lang="en-US" dirty="0" smtClean="0"/>
              <a:t>Unnamed: These are usually used between threads. However they can be used between processes if they are using shared memory.</a:t>
            </a:r>
          </a:p>
          <a:p>
            <a:pPr lvl="2"/>
            <a:r>
              <a:rPr lang="en-US" dirty="0" smtClean="0"/>
              <a:t>When the processes exit, it is gone</a:t>
            </a:r>
          </a:p>
          <a:p>
            <a:pPr lvl="1"/>
            <a:r>
              <a:rPr lang="en-US" dirty="0" smtClean="0"/>
              <a:t>Named </a:t>
            </a:r>
            <a:r>
              <a:rPr lang="en-US" dirty="0" err="1" smtClean="0"/>
              <a:t>sempahores</a:t>
            </a:r>
            <a:r>
              <a:rPr lang="en-US" dirty="0" smtClean="0"/>
              <a:t>:  These semaphores have a name. In fact they are created in</a:t>
            </a:r>
          </a:p>
          <a:p>
            <a:pPr lvl="2"/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/dev/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shm</a:t>
            </a: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It is </a:t>
            </a:r>
            <a:r>
              <a:rPr lang="en-US" dirty="0" smtClean="0"/>
              <a:t>persistent (exist even after the processes are gone) </a:t>
            </a:r>
            <a:r>
              <a:rPr lang="en-US" dirty="0"/>
              <a:t>and needs to be explicitly </a:t>
            </a:r>
            <a:r>
              <a:rPr lang="en-US" dirty="0" smtClean="0"/>
              <a:t>removed</a:t>
            </a:r>
          </a:p>
          <a:p>
            <a:pPr lvl="2"/>
            <a:r>
              <a:rPr lang="en-US" dirty="0" smtClean="0"/>
              <a:t>Can also be used between threads</a:t>
            </a:r>
          </a:p>
          <a:p>
            <a:pPr lvl="2"/>
            <a:r>
              <a:rPr lang="en-US" dirty="0" smtClean="0"/>
              <a:t>They can be used between processes to control access to shared memory data</a:t>
            </a:r>
          </a:p>
          <a:p>
            <a:pPr lvl="2"/>
            <a:r>
              <a:rPr lang="en-US" dirty="0" smtClean="0"/>
              <a:t>They can be used between processes even if they don’t share memory</a:t>
            </a:r>
          </a:p>
        </p:txBody>
      </p:sp>
    </p:spTree>
    <p:extLst>
      <p:ext uri="{BB962C8B-B14F-4D97-AF65-F5344CB8AC3E}">
        <p14:creationId xmlns:p14="http://schemas.microsoft.com/office/powerpoint/2010/main" val="343765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 can be used as a </a:t>
            </a:r>
            <a:r>
              <a:rPr lang="en-US" dirty="0" err="1" smtClean="0">
                <a:solidFill>
                  <a:schemeClr val="accent1"/>
                </a:solidFill>
              </a:rPr>
              <a:t>mutex</a:t>
            </a:r>
            <a:r>
              <a:rPr lang="en-US" dirty="0" smtClean="0"/>
              <a:t> too!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2985390"/>
            <a:ext cx="265785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put</a:t>
            </a:r>
            <a:r>
              <a:rPr lang="en-US" dirty="0" smtClean="0"/>
              <a:t>(</a:t>
            </a:r>
            <a:r>
              <a:rPr lang="en-US" dirty="0" err="1" smtClean="0"/>
              <a:t>val</a:t>
            </a:r>
            <a:r>
              <a:rPr lang="en-US" dirty="0" smtClean="0"/>
              <a:t>){</a:t>
            </a:r>
          </a:p>
          <a:p>
            <a:r>
              <a:rPr lang="en-US" dirty="0" smtClean="0"/>
              <a:t>  buffer[free]=</a:t>
            </a:r>
            <a:r>
              <a:rPr lang="en-US" dirty="0" err="1" smtClean="0"/>
              <a:t>val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free=free+1 % MAX;   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b="1" dirty="0" smtClean="0"/>
              <a:t>get</a:t>
            </a:r>
            <a:r>
              <a:rPr lang="en-US" dirty="0" smtClean="0"/>
              <a:t>(){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tmp</a:t>
            </a:r>
            <a:r>
              <a:rPr lang="en-US" dirty="0" smtClean="0"/>
              <a:t>=buffer[used];</a:t>
            </a:r>
          </a:p>
          <a:p>
            <a:r>
              <a:rPr lang="en-US" dirty="0" smtClean="0"/>
              <a:t>  used=used+1 % MAX;</a:t>
            </a:r>
          </a:p>
          <a:p>
            <a:r>
              <a:rPr lang="en-US" dirty="0" smtClean="0"/>
              <a:t>  return </a:t>
            </a:r>
            <a:r>
              <a:rPr lang="en-US" dirty="0" err="1" smtClean="0"/>
              <a:t>tmp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75272" y="1241483"/>
            <a:ext cx="7558416" cy="224676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Producer(){</a:t>
            </a:r>
          </a:p>
          <a:p>
            <a:r>
              <a:rPr lang="en-US" sz="2000" dirty="0" smtClean="0"/>
              <a:t>…</a:t>
            </a:r>
            <a:br>
              <a:rPr lang="en-US" sz="2000" dirty="0" smtClean="0"/>
            </a:br>
            <a:r>
              <a:rPr lang="en-US" sz="2000" dirty="0" smtClean="0"/>
              <a:t>       </a:t>
            </a:r>
            <a:r>
              <a:rPr lang="en-US" sz="2000" dirty="0" err="1" smtClean="0"/>
              <a:t>sem_wait</a:t>
            </a:r>
            <a:r>
              <a:rPr lang="en-US" sz="2000" dirty="0" smtClean="0"/>
              <a:t>(&amp;</a:t>
            </a:r>
            <a:r>
              <a:rPr lang="en-US" sz="2000" dirty="0" err="1" smtClean="0"/>
              <a:t>empty_slot</a:t>
            </a:r>
            <a:r>
              <a:rPr lang="en-US" sz="2000" dirty="0" smtClean="0"/>
              <a:t>);        //wait till </a:t>
            </a:r>
            <a:r>
              <a:rPr lang="en-US" sz="2000" dirty="0" err="1" smtClean="0"/>
              <a:t>empty_slot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b="1" dirty="0" err="1" smtClean="0">
                <a:solidFill>
                  <a:schemeClr val="accent1"/>
                </a:solidFill>
              </a:rPr>
              <a:t>sem_wait</a:t>
            </a:r>
            <a:r>
              <a:rPr lang="en-US" sz="2000" b="1" dirty="0" smtClean="0">
                <a:solidFill>
                  <a:schemeClr val="accent1"/>
                </a:solidFill>
              </a:rPr>
              <a:t>(&amp;lock); </a:t>
            </a:r>
            <a:r>
              <a:rPr lang="en-US" sz="2000" dirty="0" smtClean="0"/>
              <a:t>put(</a:t>
            </a:r>
            <a:r>
              <a:rPr lang="en-US" sz="2000" dirty="0" err="1" smtClean="0"/>
              <a:t>val</a:t>
            </a:r>
            <a:r>
              <a:rPr lang="en-US" sz="2000" dirty="0" smtClean="0"/>
              <a:t>);</a:t>
            </a:r>
            <a:r>
              <a:rPr lang="en-US" sz="2000" b="1" dirty="0" smtClean="0"/>
              <a:t> </a:t>
            </a:r>
            <a:r>
              <a:rPr lang="en-US" sz="2000" b="1" dirty="0" err="1" smtClean="0">
                <a:solidFill>
                  <a:schemeClr val="accent1"/>
                </a:solidFill>
              </a:rPr>
              <a:t>sem_post</a:t>
            </a:r>
            <a:r>
              <a:rPr lang="en-US" sz="2000" b="1" dirty="0" smtClean="0">
                <a:solidFill>
                  <a:schemeClr val="accent1"/>
                </a:solidFill>
              </a:rPr>
              <a:t>(&amp;lock);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sem_signal</a:t>
            </a:r>
            <a:r>
              <a:rPr lang="en-US" sz="2000" dirty="0" smtClean="0"/>
              <a:t>(&amp;</a:t>
            </a:r>
            <a:r>
              <a:rPr lang="en-US" sz="2000" dirty="0" err="1" smtClean="0"/>
              <a:t>filled_slot</a:t>
            </a:r>
            <a:r>
              <a:rPr lang="en-US" sz="2000" dirty="0" smtClean="0"/>
              <a:t>)        //signal anyone waiting for a filled slot</a:t>
            </a:r>
            <a:endParaRPr lang="en-US" sz="2000" dirty="0"/>
          </a:p>
          <a:p>
            <a:r>
              <a:rPr lang="en-US" sz="2000" dirty="0" smtClean="0"/>
              <a:t>…</a:t>
            </a:r>
          </a:p>
          <a:p>
            <a:r>
              <a:rPr lang="en-US" sz="2000" dirty="0" smtClean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4525910"/>
            <a:ext cx="8003345" cy="2246769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Consumer(){</a:t>
            </a:r>
            <a:br>
              <a:rPr lang="en-US" sz="2000" dirty="0" smtClean="0"/>
            </a:br>
            <a:r>
              <a:rPr lang="en-US" sz="2000" dirty="0" smtClean="0"/>
              <a:t>…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sem_wait</a:t>
            </a:r>
            <a:r>
              <a:rPr lang="en-US" sz="2000" dirty="0" smtClean="0"/>
              <a:t>(&amp;</a:t>
            </a:r>
            <a:r>
              <a:rPr lang="en-US" sz="2000" dirty="0" err="1" smtClean="0"/>
              <a:t>filled_slot</a:t>
            </a:r>
            <a:r>
              <a:rPr lang="en-US" sz="2000" dirty="0" smtClean="0"/>
              <a:t>);            //wait till filled slot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</a:t>
            </a:r>
            <a:r>
              <a:rPr lang="en-US" sz="2000" b="1" dirty="0" err="1" smtClean="0">
                <a:solidFill>
                  <a:schemeClr val="accent1"/>
                </a:solidFill>
              </a:rPr>
              <a:t>sem_wait</a:t>
            </a:r>
            <a:r>
              <a:rPr lang="en-US" sz="2000" b="1" dirty="0" smtClean="0">
                <a:solidFill>
                  <a:schemeClr val="accent1"/>
                </a:solidFill>
              </a:rPr>
              <a:t>(&amp;lock); </a:t>
            </a:r>
            <a:r>
              <a:rPr lang="en-US" sz="2000" dirty="0" smtClean="0"/>
              <a:t>put(</a:t>
            </a:r>
            <a:r>
              <a:rPr lang="en-US" sz="2000" dirty="0" err="1" smtClean="0"/>
              <a:t>val</a:t>
            </a:r>
            <a:r>
              <a:rPr lang="en-US" sz="2000" dirty="0" smtClean="0"/>
              <a:t>);</a:t>
            </a:r>
            <a:r>
              <a:rPr lang="en-US" sz="2000" b="1" dirty="0" smtClean="0"/>
              <a:t> </a:t>
            </a:r>
            <a:r>
              <a:rPr lang="en-US" sz="2000" b="1" dirty="0" err="1" smtClean="0">
                <a:solidFill>
                  <a:schemeClr val="accent1"/>
                </a:solidFill>
              </a:rPr>
              <a:t>sem_post</a:t>
            </a:r>
            <a:r>
              <a:rPr lang="en-US" sz="2000" b="1" dirty="0" smtClean="0">
                <a:solidFill>
                  <a:schemeClr val="accent1"/>
                </a:solidFill>
              </a:rPr>
              <a:t>(&amp;lock);</a:t>
            </a:r>
          </a:p>
          <a:p>
            <a:r>
              <a:rPr lang="en-US" sz="2000" dirty="0" smtClean="0"/>
              <a:t>       </a:t>
            </a:r>
            <a:r>
              <a:rPr lang="en-US" sz="2000" dirty="0" err="1" smtClean="0"/>
              <a:t>sem_signal</a:t>
            </a:r>
            <a:r>
              <a:rPr lang="en-US" sz="2000" dirty="0" smtClean="0"/>
              <a:t>(&amp;</a:t>
            </a:r>
            <a:r>
              <a:rPr lang="en-US" sz="2000" dirty="0" err="1" smtClean="0"/>
              <a:t>empty_slot</a:t>
            </a:r>
            <a:r>
              <a:rPr lang="en-US" sz="2000" dirty="0" smtClean="0"/>
              <a:t>);       //signal anyone waiting for an empty slot</a:t>
            </a:r>
          </a:p>
          <a:p>
            <a:r>
              <a:rPr lang="en-US" sz="2000" dirty="0" smtClean="0"/>
              <a:t>…</a:t>
            </a:r>
            <a:br>
              <a:rPr lang="en-US" sz="2000" dirty="0" smtClean="0"/>
            </a:br>
            <a:r>
              <a:rPr lang="en-US" sz="2000" dirty="0" smtClean="0"/>
              <a:t>}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632454" y="1847088"/>
            <a:ext cx="43434" cy="4681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75272" y="3738779"/>
            <a:ext cx="3933641" cy="646331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 err="1" smtClean="0"/>
              <a:t>nit</a:t>
            </a:r>
            <a:r>
              <a:rPr lang="en-US" dirty="0" smtClean="0"/>
              <a:t>(&amp;</a:t>
            </a:r>
            <a:r>
              <a:rPr lang="en-US" dirty="0" err="1" smtClean="0"/>
              <a:t>empty_slot</a:t>
            </a:r>
            <a:r>
              <a:rPr lang="en-US" dirty="0" smtClean="0"/>
              <a:t>)  :: </a:t>
            </a:r>
            <a:r>
              <a:rPr lang="en-US" dirty="0" err="1" smtClean="0"/>
              <a:t>empty_slot.n</a:t>
            </a:r>
            <a:r>
              <a:rPr lang="en-US" dirty="0" smtClean="0"/>
              <a:t>=MAX</a:t>
            </a:r>
            <a:br>
              <a:rPr lang="en-US" dirty="0" smtClean="0"/>
            </a:br>
            <a:r>
              <a:rPr lang="en-US" dirty="0" err="1" smtClean="0"/>
              <a:t>init</a:t>
            </a:r>
            <a:r>
              <a:rPr lang="en-US" dirty="0" smtClean="0"/>
              <a:t>(&amp;</a:t>
            </a:r>
            <a:r>
              <a:rPr lang="en-US" dirty="0" err="1" smtClean="0"/>
              <a:t>filled_slot</a:t>
            </a:r>
            <a:r>
              <a:rPr lang="en-US" dirty="0" smtClean="0"/>
              <a:t>)     :: </a:t>
            </a:r>
            <a:r>
              <a:rPr lang="en-US" dirty="0" err="1" smtClean="0"/>
              <a:t>filled_slot.n</a:t>
            </a:r>
            <a:r>
              <a:rPr lang="en-US" dirty="0" smtClean="0"/>
              <a:t>  = 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836873" y="4015778"/>
            <a:ext cx="2393102" cy="36933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i</a:t>
            </a:r>
            <a:r>
              <a:rPr lang="en-US" b="1" dirty="0" err="1" smtClean="0">
                <a:solidFill>
                  <a:schemeClr val="accent1"/>
                </a:solidFill>
              </a:rPr>
              <a:t>nit</a:t>
            </a:r>
            <a:r>
              <a:rPr lang="en-US" b="1" dirty="0" smtClean="0">
                <a:solidFill>
                  <a:schemeClr val="accent1"/>
                </a:solidFill>
              </a:rPr>
              <a:t>(&amp;lock)  :: </a:t>
            </a:r>
            <a:r>
              <a:rPr lang="en-US" b="1" dirty="0" err="1" smtClean="0">
                <a:solidFill>
                  <a:schemeClr val="accent1"/>
                </a:solidFill>
              </a:rPr>
              <a:t>lock.n</a:t>
            </a:r>
            <a:r>
              <a:rPr lang="en-US" b="1" dirty="0" smtClean="0">
                <a:solidFill>
                  <a:schemeClr val="accent1"/>
                </a:solidFill>
              </a:rPr>
              <a:t>=1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1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Monitors:  A high level 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Locks and Semaphores rely heavily on the programmer to make sure they use them appropriately.</a:t>
            </a:r>
          </a:p>
          <a:p>
            <a:r>
              <a:rPr lang="en-US" dirty="0" smtClean="0"/>
              <a:t>With the intent to make life better for the programmer languages introduce the notion of </a:t>
            </a:r>
            <a:r>
              <a:rPr lang="en-US" b="1" dirty="0" smtClean="0"/>
              <a:t>Monitors</a:t>
            </a:r>
            <a:r>
              <a:rPr lang="en-US" dirty="0" smtClean="0"/>
              <a:t> in the programming language itself</a:t>
            </a:r>
          </a:p>
          <a:p>
            <a:r>
              <a:rPr lang="en-US" dirty="0" smtClean="0"/>
              <a:t>A Monitor is like an object in Object Oriented Languages: Think of it as a qualification to a class!</a:t>
            </a:r>
          </a:p>
          <a:p>
            <a:r>
              <a:rPr lang="en-US" dirty="0" smtClean="0"/>
              <a:t>With the additional semantics that only one task is allowed to execute a method.</a:t>
            </a:r>
          </a:p>
          <a:p>
            <a:r>
              <a:rPr lang="en-US" dirty="0" smtClean="0"/>
              <a:t>It is implemented on top of semaphores/</a:t>
            </a:r>
            <a:r>
              <a:rPr lang="en-US" dirty="0" err="1" smtClean="0"/>
              <a:t>mutexes</a:t>
            </a:r>
            <a:r>
              <a:rPr lang="en-US" dirty="0" smtClean="0"/>
              <a:t>/condition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4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0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>
            <a:spLocks noChangeAspect="1"/>
          </p:cNvSpPr>
          <p:nvPr/>
        </p:nvSpPr>
        <p:spPr>
          <a:xfrm>
            <a:off x="964384" y="2397685"/>
            <a:ext cx="3840320" cy="3840320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Dining Philosophers’ Problem</a:t>
            </a:r>
            <a:endParaRPr lang="en-US" dirty="0"/>
          </a:p>
        </p:txBody>
      </p:sp>
      <p:sp>
        <p:nvSpPr>
          <p:cNvPr id="18" name="Content Placeholder 17"/>
          <p:cNvSpPr>
            <a:spLocks noGrp="1" noChangeAspect="1"/>
          </p:cNvSpPr>
          <p:nvPr>
            <p:ph sz="half" idx="2"/>
          </p:nvPr>
        </p:nvSpPr>
        <p:spPr>
          <a:xfrm>
            <a:off x="6172200" y="1825625"/>
            <a:ext cx="34290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Philosopher(</a:t>
            </a:r>
            <a:r>
              <a:rPr lang="en-US" dirty="0" err="1" smtClean="0"/>
              <a:t>i</a:t>
            </a:r>
            <a:r>
              <a:rPr lang="en-US" dirty="0" smtClean="0"/>
              <a:t>) {</a:t>
            </a:r>
            <a:br>
              <a:rPr lang="en-US" dirty="0" smtClean="0"/>
            </a:br>
            <a:r>
              <a:rPr lang="en-US" dirty="0" smtClean="0"/>
              <a:t>        loop {</a:t>
            </a:r>
            <a:br>
              <a:rPr lang="en-US" dirty="0" smtClean="0"/>
            </a:br>
            <a:r>
              <a:rPr lang="en-US" dirty="0" smtClean="0"/>
              <a:t>           think(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           eat(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        }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eat(</a:t>
            </a:r>
            <a:r>
              <a:rPr lang="en-US" dirty="0" err="1" smtClean="0"/>
              <a:t>i</a:t>
            </a:r>
            <a:r>
              <a:rPr lang="en-US" dirty="0" smtClean="0"/>
              <a:t>){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pick_up</a:t>
            </a:r>
            <a:r>
              <a:rPr lang="en-US" dirty="0" smtClean="0"/>
              <a:t>(f</a:t>
            </a:r>
            <a:r>
              <a:rPr lang="en-US" baseline="-25000" dirty="0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pick_up</a:t>
            </a:r>
            <a:r>
              <a:rPr lang="en-US" dirty="0" smtClean="0"/>
              <a:t>(f</a:t>
            </a:r>
            <a:r>
              <a:rPr lang="en-US" baseline="-25000" dirty="0" smtClean="0"/>
              <a:t>i-1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        // actually eat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br>
              <a:rPr lang="en-US" dirty="0" smtClean="0">
                <a:sym typeface="Wingdings" panose="05000000000000000000" pitchFamily="2" charset="2"/>
              </a:rPr>
            </a:br>
            <a:r>
              <a:rPr lang="en-US" dirty="0" smtClean="0">
                <a:sym typeface="Wingdings" panose="05000000000000000000" pitchFamily="2" charset="2"/>
              </a:rPr>
              <a:t>        </a:t>
            </a:r>
            <a:r>
              <a:rPr lang="en-US" dirty="0" err="1" smtClean="0"/>
              <a:t>put_down</a:t>
            </a:r>
            <a:r>
              <a:rPr lang="en-US" dirty="0" smtClean="0"/>
              <a:t> (f</a:t>
            </a:r>
            <a:r>
              <a:rPr lang="en-US" baseline="-25000" dirty="0" smtClean="0"/>
              <a:t>i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dirty="0" err="1" smtClean="0"/>
              <a:t>put_down</a:t>
            </a:r>
            <a:r>
              <a:rPr lang="en-US" dirty="0" smtClean="0"/>
              <a:t> (f</a:t>
            </a:r>
            <a:r>
              <a:rPr lang="en-US" baseline="-25000" dirty="0" smtClean="0"/>
              <a:t>i-1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}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2688336" y="2253520"/>
            <a:ext cx="640080" cy="658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P3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88264" y="3474720"/>
            <a:ext cx="640080" cy="658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P2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483901" y="5494835"/>
            <a:ext cx="640080" cy="658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P1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904488" y="5258752"/>
            <a:ext cx="640080" cy="658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P5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544568" y="3474720"/>
            <a:ext cx="640080" cy="6583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P4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Picture 7" descr="SVG &gt; antique &lt;strong&gt;fork&lt;/strong&gt; cutlery - Free SVG Image &amp; &lt;strong&gt;Icon&lt;/strong&gt;. | SVG Sil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71054">
            <a:off x="1383668" y="2700706"/>
            <a:ext cx="853356" cy="1119185"/>
          </a:xfrm>
          <a:prstGeom prst="rect">
            <a:avLst/>
          </a:prstGeom>
        </p:spPr>
      </p:pic>
      <p:pic>
        <p:nvPicPr>
          <p:cNvPr id="9" name="Picture 8" descr="SVG &gt; antique &lt;strong&gt;fork&lt;/strong&gt; cutlery - Free SVG Image &amp; &lt;strong&gt;Icon&lt;/strong&gt;. | SVG Sil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57173">
            <a:off x="3492038" y="2700300"/>
            <a:ext cx="853356" cy="1119185"/>
          </a:xfrm>
          <a:prstGeom prst="rect">
            <a:avLst/>
          </a:prstGeom>
        </p:spPr>
      </p:pic>
      <p:pic>
        <p:nvPicPr>
          <p:cNvPr id="10" name="Picture 9" descr="SVG &gt; antique &lt;strong&gt;fork&lt;/strong&gt; cutlery - Free SVG Image &amp; &lt;strong&gt;Icon&lt;/strong&gt;. | SVG Sil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83650">
            <a:off x="1075986" y="4152015"/>
            <a:ext cx="853356" cy="1119185"/>
          </a:xfrm>
          <a:prstGeom prst="rect">
            <a:avLst/>
          </a:prstGeom>
        </p:spPr>
      </p:pic>
      <p:pic>
        <p:nvPicPr>
          <p:cNvPr id="11" name="Picture 10" descr="SVG &gt; antique &lt;strong&gt;fork&lt;/strong&gt; cutlery - Free SVG Image &amp; &lt;strong&gt;Icon&lt;/strong&gt;. | SVG Sil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10634">
            <a:off x="3979380" y="4049617"/>
            <a:ext cx="853356" cy="1119185"/>
          </a:xfrm>
          <a:prstGeom prst="rect">
            <a:avLst/>
          </a:prstGeom>
        </p:spPr>
      </p:pic>
      <p:pic>
        <p:nvPicPr>
          <p:cNvPr id="12" name="Picture 11" descr="SVG &gt; antique &lt;strong&gt;fork&lt;/strong&gt; cutlery - Free SVG Image &amp; &lt;strong&gt;Icon&lt;/strong&gt;. | SVG Silh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541725" y="5240464"/>
            <a:ext cx="853356" cy="11191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206" y="434227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f1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778357" y="291938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f2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62038" y="325035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137984" y="4609251"/>
            <a:ext cx="397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f4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525992" y="566738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f5</a:t>
            </a:r>
            <a:endParaRPr lang="en-US" dirty="0"/>
          </a:p>
        </p:txBody>
      </p:sp>
      <p:sp>
        <p:nvSpPr>
          <p:cNvPr id="24" name="Freeform 23"/>
          <p:cNvSpPr/>
          <p:nvPr/>
        </p:nvSpPr>
        <p:spPr>
          <a:xfrm>
            <a:off x="8229600" y="1953890"/>
            <a:ext cx="1609344" cy="1868302"/>
          </a:xfrm>
          <a:custGeom>
            <a:avLst/>
            <a:gdLst>
              <a:gd name="connsiteX0" fmla="*/ 0 w 1609344"/>
              <a:gd name="connsiteY0" fmla="*/ 1868302 h 1868302"/>
              <a:gd name="connsiteX1" fmla="*/ 1078992 w 1609344"/>
              <a:gd name="connsiteY1" fmla="*/ 240670 h 1868302"/>
              <a:gd name="connsiteX2" fmla="*/ 1609344 w 1609344"/>
              <a:gd name="connsiteY2" fmla="*/ 39502 h 186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9344" h="1868302">
                <a:moveTo>
                  <a:pt x="0" y="1868302"/>
                </a:moveTo>
                <a:cubicBezTo>
                  <a:pt x="405384" y="1206886"/>
                  <a:pt x="810768" y="545470"/>
                  <a:pt x="1078992" y="240670"/>
                </a:cubicBezTo>
                <a:cubicBezTo>
                  <a:pt x="1347216" y="-64130"/>
                  <a:pt x="1478280" y="-12314"/>
                  <a:pt x="1609344" y="39502"/>
                </a:cubicBezTo>
              </a:path>
            </a:pathLst>
          </a:custGeom>
          <a:noFill/>
          <a:ln>
            <a:headEnd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9838944" y="1624706"/>
            <a:ext cx="2353056" cy="957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Implemented with a semaphore to avoid race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852811" y="3522295"/>
            <a:ext cx="23530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problem remains: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How to solve?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478005" y="6036712"/>
            <a:ext cx="39303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PS: Think of f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 as fork to the left of P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      and  f</a:t>
            </a:r>
            <a:r>
              <a:rPr lang="en-US" sz="2000" baseline="-25000" dirty="0" smtClean="0"/>
              <a:t>i-1</a:t>
            </a:r>
            <a:r>
              <a:rPr lang="en-US" sz="2000" dirty="0" smtClean="0"/>
              <a:t> as fork to the right of P</a:t>
            </a:r>
            <a:r>
              <a:rPr lang="en-US" sz="2000" baseline="-25000" dirty="0" smtClean="0"/>
              <a:t>i</a:t>
            </a:r>
            <a:endParaRPr lang="en-US" sz="2000" baseline="-25000" dirty="0"/>
          </a:p>
        </p:txBody>
      </p:sp>
      <p:grpSp>
        <p:nvGrpSpPr>
          <p:cNvPr id="44" name="Group 43"/>
          <p:cNvGrpSpPr/>
          <p:nvPr/>
        </p:nvGrpSpPr>
        <p:grpSpPr>
          <a:xfrm>
            <a:off x="950977" y="2226164"/>
            <a:ext cx="4403467" cy="3928882"/>
            <a:chOff x="950977" y="2226164"/>
            <a:chExt cx="4403467" cy="3928882"/>
          </a:xfrm>
        </p:grpSpPr>
        <p:sp>
          <p:nvSpPr>
            <p:cNvPr id="29" name="Freeform 28"/>
            <p:cNvSpPr/>
            <p:nvPr/>
          </p:nvSpPr>
          <p:spPr>
            <a:xfrm>
              <a:off x="950977" y="3153835"/>
              <a:ext cx="813514" cy="302597"/>
            </a:xfrm>
            <a:custGeom>
              <a:avLst/>
              <a:gdLst>
                <a:gd name="connsiteX0" fmla="*/ 566928 w 566928"/>
                <a:gd name="connsiteY0" fmla="*/ 36955 h 421003"/>
                <a:gd name="connsiteX1" fmla="*/ 128016 w 566928"/>
                <a:gd name="connsiteY1" fmla="*/ 36955 h 421003"/>
                <a:gd name="connsiteX2" fmla="*/ 0 w 566928"/>
                <a:gd name="connsiteY2" fmla="*/ 421003 h 42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6928" h="421003">
                  <a:moveTo>
                    <a:pt x="566928" y="36955"/>
                  </a:moveTo>
                  <a:cubicBezTo>
                    <a:pt x="394716" y="4951"/>
                    <a:pt x="222504" y="-27053"/>
                    <a:pt x="128016" y="36955"/>
                  </a:cubicBezTo>
                  <a:cubicBezTo>
                    <a:pt x="33528" y="100963"/>
                    <a:pt x="16764" y="260983"/>
                    <a:pt x="0" y="42100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3615874">
              <a:off x="3185625" y="2575931"/>
              <a:ext cx="1062522" cy="362988"/>
            </a:xfrm>
            <a:custGeom>
              <a:avLst/>
              <a:gdLst>
                <a:gd name="connsiteX0" fmla="*/ 566928 w 566928"/>
                <a:gd name="connsiteY0" fmla="*/ 36955 h 421003"/>
                <a:gd name="connsiteX1" fmla="*/ 128016 w 566928"/>
                <a:gd name="connsiteY1" fmla="*/ 36955 h 421003"/>
                <a:gd name="connsiteX2" fmla="*/ 0 w 566928"/>
                <a:gd name="connsiteY2" fmla="*/ 421003 h 42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6928" h="421003">
                  <a:moveTo>
                    <a:pt x="566928" y="36955"/>
                  </a:moveTo>
                  <a:cubicBezTo>
                    <a:pt x="394716" y="4951"/>
                    <a:pt x="222504" y="-27053"/>
                    <a:pt x="128016" y="36955"/>
                  </a:cubicBezTo>
                  <a:cubicBezTo>
                    <a:pt x="33528" y="100963"/>
                    <a:pt x="16764" y="260983"/>
                    <a:pt x="0" y="42100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 rot="8590985">
              <a:off x="4408988" y="4071156"/>
              <a:ext cx="945456" cy="396726"/>
            </a:xfrm>
            <a:custGeom>
              <a:avLst/>
              <a:gdLst>
                <a:gd name="connsiteX0" fmla="*/ 566928 w 566928"/>
                <a:gd name="connsiteY0" fmla="*/ 36955 h 421003"/>
                <a:gd name="connsiteX1" fmla="*/ 128016 w 566928"/>
                <a:gd name="connsiteY1" fmla="*/ 36955 h 421003"/>
                <a:gd name="connsiteX2" fmla="*/ 0 w 566928"/>
                <a:gd name="connsiteY2" fmla="*/ 421003 h 42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6928" h="421003">
                  <a:moveTo>
                    <a:pt x="566928" y="36955"/>
                  </a:moveTo>
                  <a:cubicBezTo>
                    <a:pt x="394716" y="4951"/>
                    <a:pt x="222504" y="-27053"/>
                    <a:pt x="128016" y="36955"/>
                  </a:cubicBezTo>
                  <a:cubicBezTo>
                    <a:pt x="33528" y="100963"/>
                    <a:pt x="16764" y="260983"/>
                    <a:pt x="0" y="42100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 rot="12214407">
              <a:off x="2952639" y="5720197"/>
              <a:ext cx="1217758" cy="434849"/>
            </a:xfrm>
            <a:custGeom>
              <a:avLst/>
              <a:gdLst>
                <a:gd name="connsiteX0" fmla="*/ 566928 w 566928"/>
                <a:gd name="connsiteY0" fmla="*/ 36955 h 421003"/>
                <a:gd name="connsiteX1" fmla="*/ 128016 w 566928"/>
                <a:gd name="connsiteY1" fmla="*/ 36955 h 421003"/>
                <a:gd name="connsiteX2" fmla="*/ 0 w 566928"/>
                <a:gd name="connsiteY2" fmla="*/ 421003 h 42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6928" h="421003">
                  <a:moveTo>
                    <a:pt x="566928" y="36955"/>
                  </a:moveTo>
                  <a:cubicBezTo>
                    <a:pt x="394716" y="4951"/>
                    <a:pt x="222504" y="-27053"/>
                    <a:pt x="128016" y="36955"/>
                  </a:cubicBezTo>
                  <a:cubicBezTo>
                    <a:pt x="33528" y="100963"/>
                    <a:pt x="16764" y="260983"/>
                    <a:pt x="0" y="42100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 rot="17550525">
              <a:off x="997143" y="5091309"/>
              <a:ext cx="848492" cy="422464"/>
            </a:xfrm>
            <a:custGeom>
              <a:avLst/>
              <a:gdLst>
                <a:gd name="connsiteX0" fmla="*/ 566928 w 566928"/>
                <a:gd name="connsiteY0" fmla="*/ 36955 h 421003"/>
                <a:gd name="connsiteX1" fmla="*/ 128016 w 566928"/>
                <a:gd name="connsiteY1" fmla="*/ 36955 h 421003"/>
                <a:gd name="connsiteX2" fmla="*/ 0 w 566928"/>
                <a:gd name="connsiteY2" fmla="*/ 421003 h 42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6928" h="421003">
                  <a:moveTo>
                    <a:pt x="566928" y="36955"/>
                  </a:moveTo>
                  <a:cubicBezTo>
                    <a:pt x="394716" y="4951"/>
                    <a:pt x="222504" y="-27053"/>
                    <a:pt x="128016" y="36955"/>
                  </a:cubicBezTo>
                  <a:cubicBezTo>
                    <a:pt x="33528" y="100963"/>
                    <a:pt x="16764" y="260983"/>
                    <a:pt x="0" y="421003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0824" y="2276043"/>
            <a:ext cx="4108280" cy="4148717"/>
            <a:chOff x="690824" y="2276043"/>
            <a:chExt cx="4108280" cy="4148717"/>
          </a:xfrm>
        </p:grpSpPr>
        <p:sp>
          <p:nvSpPr>
            <p:cNvPr id="37" name="Freeform 36"/>
            <p:cNvSpPr/>
            <p:nvPr/>
          </p:nvSpPr>
          <p:spPr>
            <a:xfrm>
              <a:off x="690824" y="4151375"/>
              <a:ext cx="537520" cy="595489"/>
            </a:xfrm>
            <a:custGeom>
              <a:avLst/>
              <a:gdLst>
                <a:gd name="connsiteX0" fmla="*/ 205288 w 369880"/>
                <a:gd name="connsiteY0" fmla="*/ 0 h 402336"/>
                <a:gd name="connsiteX1" fmla="*/ 4120 w 369880"/>
                <a:gd name="connsiteY1" fmla="*/ 292608 h 402336"/>
                <a:gd name="connsiteX2" fmla="*/ 369880 w 369880"/>
                <a:gd name="connsiteY2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880" h="402336">
                  <a:moveTo>
                    <a:pt x="205288" y="0"/>
                  </a:moveTo>
                  <a:cubicBezTo>
                    <a:pt x="90988" y="112776"/>
                    <a:pt x="-23312" y="225552"/>
                    <a:pt x="4120" y="292608"/>
                  </a:cubicBezTo>
                  <a:cubicBezTo>
                    <a:pt x="31552" y="359664"/>
                    <a:pt x="200716" y="381000"/>
                    <a:pt x="369880" y="402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 rot="17192021">
              <a:off x="2068520" y="5858255"/>
              <a:ext cx="537520" cy="595489"/>
            </a:xfrm>
            <a:custGeom>
              <a:avLst/>
              <a:gdLst>
                <a:gd name="connsiteX0" fmla="*/ 205288 w 369880"/>
                <a:gd name="connsiteY0" fmla="*/ 0 h 402336"/>
                <a:gd name="connsiteX1" fmla="*/ 4120 w 369880"/>
                <a:gd name="connsiteY1" fmla="*/ 292608 h 402336"/>
                <a:gd name="connsiteX2" fmla="*/ 369880 w 369880"/>
                <a:gd name="connsiteY2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880" h="402336">
                  <a:moveTo>
                    <a:pt x="205288" y="0"/>
                  </a:moveTo>
                  <a:cubicBezTo>
                    <a:pt x="90988" y="112776"/>
                    <a:pt x="-23312" y="225552"/>
                    <a:pt x="4120" y="292608"/>
                  </a:cubicBezTo>
                  <a:cubicBezTo>
                    <a:pt x="31552" y="359664"/>
                    <a:pt x="200716" y="381000"/>
                    <a:pt x="369880" y="402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 rot="13521081">
              <a:off x="4232600" y="4876799"/>
              <a:ext cx="537520" cy="595489"/>
            </a:xfrm>
            <a:custGeom>
              <a:avLst/>
              <a:gdLst>
                <a:gd name="connsiteX0" fmla="*/ 205288 w 369880"/>
                <a:gd name="connsiteY0" fmla="*/ 0 h 402336"/>
                <a:gd name="connsiteX1" fmla="*/ 4120 w 369880"/>
                <a:gd name="connsiteY1" fmla="*/ 292608 h 402336"/>
                <a:gd name="connsiteX2" fmla="*/ 369880 w 369880"/>
                <a:gd name="connsiteY2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880" h="402336">
                  <a:moveTo>
                    <a:pt x="205288" y="0"/>
                  </a:moveTo>
                  <a:cubicBezTo>
                    <a:pt x="90988" y="112776"/>
                    <a:pt x="-23312" y="225552"/>
                    <a:pt x="4120" y="292608"/>
                  </a:cubicBezTo>
                  <a:cubicBezTo>
                    <a:pt x="31552" y="359664"/>
                    <a:pt x="200716" y="381000"/>
                    <a:pt x="369880" y="402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 rot="9414033">
              <a:off x="4238912" y="3072075"/>
              <a:ext cx="537520" cy="595489"/>
            </a:xfrm>
            <a:custGeom>
              <a:avLst/>
              <a:gdLst>
                <a:gd name="connsiteX0" fmla="*/ 205288 w 369880"/>
                <a:gd name="connsiteY0" fmla="*/ 0 h 402336"/>
                <a:gd name="connsiteX1" fmla="*/ 4120 w 369880"/>
                <a:gd name="connsiteY1" fmla="*/ 292608 h 402336"/>
                <a:gd name="connsiteX2" fmla="*/ 369880 w 369880"/>
                <a:gd name="connsiteY2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880" h="402336">
                  <a:moveTo>
                    <a:pt x="205288" y="0"/>
                  </a:moveTo>
                  <a:cubicBezTo>
                    <a:pt x="90988" y="112776"/>
                    <a:pt x="-23312" y="225552"/>
                    <a:pt x="4120" y="292608"/>
                  </a:cubicBezTo>
                  <a:cubicBezTo>
                    <a:pt x="31552" y="359664"/>
                    <a:pt x="200716" y="381000"/>
                    <a:pt x="369880" y="402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 rot="5400000">
              <a:off x="1986909" y="2237445"/>
              <a:ext cx="673689" cy="750885"/>
            </a:xfrm>
            <a:custGeom>
              <a:avLst/>
              <a:gdLst>
                <a:gd name="connsiteX0" fmla="*/ 205288 w 369880"/>
                <a:gd name="connsiteY0" fmla="*/ 0 h 402336"/>
                <a:gd name="connsiteX1" fmla="*/ 4120 w 369880"/>
                <a:gd name="connsiteY1" fmla="*/ 292608 h 402336"/>
                <a:gd name="connsiteX2" fmla="*/ 369880 w 369880"/>
                <a:gd name="connsiteY2" fmla="*/ 402336 h 40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9880" h="402336">
                  <a:moveTo>
                    <a:pt x="205288" y="0"/>
                  </a:moveTo>
                  <a:cubicBezTo>
                    <a:pt x="90988" y="112776"/>
                    <a:pt x="-23312" y="225552"/>
                    <a:pt x="4120" y="292608"/>
                  </a:cubicBezTo>
                  <a:cubicBezTo>
                    <a:pt x="31552" y="359664"/>
                    <a:pt x="200716" y="381000"/>
                    <a:pt x="369880" y="402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9993740" y="4065276"/>
            <a:ext cx="1380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  <a:endParaRPr lang="en-US" sz="2400" b="1" i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0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  <p:bldP spid="4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deadlock problems in OS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Detect and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Detecting a deadlock</a:t>
            </a:r>
          </a:p>
          <a:p>
            <a:pPr lvl="1"/>
            <a:r>
              <a:rPr lang="en-US" dirty="0" smtClean="0"/>
              <a:t>Cyclical resource access graph</a:t>
            </a:r>
          </a:p>
          <a:p>
            <a:pPr lvl="1"/>
            <a:r>
              <a:rPr lang="en-US" dirty="0" smtClean="0"/>
              <a:t>Bipartite graph</a:t>
            </a:r>
          </a:p>
          <a:p>
            <a:r>
              <a:rPr lang="en-US" dirty="0" smtClean="0"/>
              <a:t>Breaking a deadlock</a:t>
            </a:r>
          </a:p>
          <a:p>
            <a:pPr lvl="1"/>
            <a:r>
              <a:rPr lang="en-US" dirty="0" smtClean="0"/>
              <a:t>Preempt a process based on priority or any other criterion</a:t>
            </a:r>
          </a:p>
          <a:p>
            <a:pPr lvl="1"/>
            <a:r>
              <a:rPr lang="en-US" dirty="0" smtClean="0"/>
              <a:t>Still need to deal with starvation</a:t>
            </a:r>
          </a:p>
          <a:p>
            <a:r>
              <a:rPr lang="en-US" dirty="0" smtClean="0"/>
              <a:t>These resources could also be semaphores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Avoid deadlocks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36189"/>
          </a:xfrm>
        </p:spPr>
        <p:txBody>
          <a:bodyPr/>
          <a:lstStyle/>
          <a:p>
            <a:r>
              <a:rPr lang="en-US" dirty="0" smtClean="0"/>
              <a:t>Access resources in a certain order, </a:t>
            </a:r>
            <a:r>
              <a:rPr lang="en-US" dirty="0" err="1" smtClean="0"/>
              <a:t>eg</a:t>
            </a:r>
            <a:r>
              <a:rPr lang="en-US" dirty="0" smtClean="0"/>
              <a:t> always access lower numbered resource before a higher numbered resource</a:t>
            </a:r>
          </a:p>
          <a:p>
            <a:r>
              <a:rPr lang="en-US" dirty="0" smtClean="0"/>
              <a:t>Assumes each task knows beforehand which resources it will access.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5541264"/>
            <a:ext cx="5687568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Can you solve the dining philosophers’ problem using one of these methods?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48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 conditions formally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Circular </a:t>
            </a:r>
            <a:r>
              <a:rPr lang="en-US" dirty="0" smtClean="0"/>
              <a:t>wait: a cycle of processes each </a:t>
            </a:r>
            <a:r>
              <a:rPr lang="en-US" dirty="0" smtClean="0">
                <a:solidFill>
                  <a:srgbClr val="FF0000"/>
                </a:solidFill>
              </a:rPr>
              <a:t>holding</a:t>
            </a:r>
            <a:r>
              <a:rPr lang="en-US" dirty="0" smtClean="0"/>
              <a:t> one resource and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waiting</a:t>
            </a:r>
            <a:r>
              <a:rPr lang="en-US" dirty="0" smtClean="0"/>
              <a:t> for a resource held by another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Resource </a:t>
            </a:r>
            <a:r>
              <a:rPr lang="en-US" dirty="0" smtClean="0">
                <a:solidFill>
                  <a:srgbClr val="FF0000"/>
                </a:solidFill>
              </a:rPr>
              <a:t>holding</a:t>
            </a:r>
            <a:r>
              <a:rPr lang="en-US" dirty="0" smtClean="0"/>
              <a:t>(and usage) is </a:t>
            </a:r>
            <a:r>
              <a:rPr lang="en-US" dirty="0" smtClean="0">
                <a:solidFill>
                  <a:srgbClr val="FF0000"/>
                </a:solidFill>
              </a:rPr>
              <a:t>mutually exclusive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Hold and wait: A process </a:t>
            </a:r>
            <a:r>
              <a:rPr lang="en-US" dirty="0" smtClean="0">
                <a:solidFill>
                  <a:srgbClr val="FF0000"/>
                </a:solidFill>
              </a:rPr>
              <a:t>holds</a:t>
            </a:r>
            <a:r>
              <a:rPr lang="en-US" dirty="0" smtClean="0"/>
              <a:t> one resource and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waits</a:t>
            </a:r>
            <a:r>
              <a:rPr lang="en-US" dirty="0" smtClean="0"/>
              <a:t> for another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 preemption – A resource cannot be taken away from a process </a:t>
            </a:r>
            <a:r>
              <a:rPr lang="en-US" dirty="0" smtClean="0">
                <a:solidFill>
                  <a:srgbClr val="FF0000"/>
                </a:solidFill>
              </a:rPr>
              <a:t>holding</a:t>
            </a:r>
            <a:r>
              <a:rPr lang="en-US" dirty="0" smtClean="0"/>
              <a:t> it. </a:t>
            </a:r>
          </a:p>
        </p:txBody>
      </p:sp>
    </p:spTree>
    <p:extLst>
      <p:ext uri="{BB962C8B-B14F-4D97-AF65-F5344CB8AC3E}">
        <p14:creationId xmlns:p14="http://schemas.microsoft.com/office/powerpoint/2010/main" val="17345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about Concurrency and Coordination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Concurrency is a common usage</a:t>
            </a:r>
          </a:p>
          <a:p>
            <a:r>
              <a:rPr lang="en-US" dirty="0" smtClean="0"/>
              <a:t>Not just process, but threads too: We learnt </a:t>
            </a:r>
            <a:r>
              <a:rPr lang="en-US" dirty="0" err="1" smtClean="0"/>
              <a:t>pthreads</a:t>
            </a:r>
            <a:endParaRPr lang="en-US" dirty="0" smtClean="0"/>
          </a:p>
          <a:p>
            <a:r>
              <a:rPr lang="en-US" dirty="0" smtClean="0"/>
              <a:t>Threads need mutual exclusion (ME): sort of like a barrier in the code</a:t>
            </a:r>
          </a:p>
          <a:p>
            <a:r>
              <a:rPr lang="en-US" dirty="0" smtClean="0"/>
              <a:t>ME can be done in software (Peterson’s)</a:t>
            </a:r>
          </a:p>
          <a:p>
            <a:r>
              <a:rPr lang="en-US" dirty="0" smtClean="0"/>
              <a:t>ME is more efficiently with hardware support (TSL)</a:t>
            </a:r>
          </a:p>
          <a:p>
            <a:r>
              <a:rPr lang="en-US" dirty="0" smtClean="0"/>
              <a:t>Avoiding the busy loop by waiting in a queue: lock() and unlock() with </a:t>
            </a:r>
            <a:r>
              <a:rPr lang="en-US" dirty="0" err="1" smtClean="0"/>
              <a:t>mutexes</a:t>
            </a:r>
            <a:endParaRPr lang="en-US" dirty="0" smtClean="0"/>
          </a:p>
          <a:p>
            <a:pPr lvl="1"/>
            <a:r>
              <a:rPr lang="en-US" dirty="0" smtClean="0"/>
              <a:t>Practical example: </a:t>
            </a:r>
            <a:r>
              <a:rPr lang="en-US" dirty="0" err="1" smtClean="0"/>
              <a:t>pthread_mutex</a:t>
            </a:r>
            <a:r>
              <a:rPr lang="en-US" dirty="0" smtClean="0"/>
              <a:t>_(un)lock(), </a:t>
            </a:r>
            <a:r>
              <a:rPr lang="en-US" dirty="0" err="1" smtClean="0"/>
              <a:t>pthread_mutex_init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Busy loop at a higher level – condition variables – </a:t>
            </a:r>
            <a:r>
              <a:rPr lang="en-US" dirty="0" err="1" smtClean="0"/>
              <a:t>pthread_cond_wait</a:t>
            </a:r>
            <a:r>
              <a:rPr lang="en-US" dirty="0" smtClean="0"/>
              <a:t>() and </a:t>
            </a:r>
            <a:r>
              <a:rPr lang="en-US" dirty="0" err="1" smtClean="0"/>
              <a:t>pthread_cond_signal</a:t>
            </a:r>
            <a:r>
              <a:rPr lang="en-US" dirty="0" smtClean="0"/>
              <a:t>()</a:t>
            </a:r>
          </a:p>
          <a:p>
            <a:r>
              <a:rPr lang="en-US" dirty="0" smtClean="0"/>
              <a:t>Another solutions: Semaphores. can count too! And can be used for other purposes.</a:t>
            </a:r>
          </a:p>
          <a:p>
            <a:r>
              <a:rPr lang="en-US" dirty="0" smtClean="0"/>
              <a:t>Deadlock is another problem and </a:t>
            </a:r>
            <a:r>
              <a:rPr lang="en-US" dirty="0" err="1" smtClean="0"/>
              <a:t>mutexes</a:t>
            </a:r>
            <a:r>
              <a:rPr lang="en-US" dirty="0" smtClean="0"/>
              <a:t> don’t solve it.</a:t>
            </a:r>
          </a:p>
          <a:p>
            <a:r>
              <a:rPr lang="en-US" dirty="0" smtClean="0"/>
              <a:t>Starvations is a third problem and we wish to avoid that.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514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9000">
              <a:schemeClr val="accent1">
                <a:lumMod val="5000"/>
                <a:lumOff val="95000"/>
              </a:schemeClr>
            </a:gs>
            <a:gs pos="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more about communication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Beyond thread shared 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86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memory between </a:t>
            </a:r>
            <a:r>
              <a:rPr lang="en-US" i="1" u="sng" dirty="0" smtClean="0"/>
              <a:t>processes</a:t>
            </a:r>
            <a:r>
              <a:rPr lang="en-US" dirty="0" smtClean="0"/>
              <a:t> on the same OS instance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231900" y="2362087"/>
            <a:ext cx="903514" cy="3153343"/>
          </a:xfrm>
          <a:prstGeom prst="rect">
            <a:avLst/>
          </a:prstGeom>
          <a:pattFill prst="ltHorz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422400" y="1943100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P1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4329291" y="1943100"/>
            <a:ext cx="903514" cy="3630386"/>
            <a:chOff x="4329291" y="1943100"/>
            <a:chExt cx="903514" cy="3630386"/>
          </a:xfrm>
        </p:grpSpPr>
        <p:sp>
          <p:nvSpPr>
            <p:cNvPr id="11" name="Rectangle 10"/>
            <p:cNvSpPr/>
            <p:nvPr/>
          </p:nvSpPr>
          <p:spPr>
            <a:xfrm>
              <a:off x="4329291" y="2362087"/>
              <a:ext cx="903514" cy="3211399"/>
            </a:xfrm>
            <a:prstGeom prst="rect">
              <a:avLst/>
            </a:prstGeom>
            <a:pattFill prst="ltHorz">
              <a:fgClr>
                <a:schemeClr val="accent6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70894" y="194310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P2</a:t>
              </a:r>
              <a:endParaRPr 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559899" y="2054172"/>
            <a:ext cx="16064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Allocated in </a:t>
            </a:r>
            <a:br>
              <a:rPr lang="en-US" dirty="0" smtClean="0"/>
            </a:br>
            <a:r>
              <a:rPr lang="en-US" dirty="0" smtClean="0"/>
              <a:t>the RAM with</a:t>
            </a:r>
            <a:br>
              <a:rPr lang="en-US" dirty="0" smtClean="0"/>
            </a:br>
            <a:r>
              <a:rPr lang="en-US" dirty="0" smtClean="0"/>
              <a:t>a known </a:t>
            </a:r>
            <a:br>
              <a:rPr lang="en-US" dirty="0" smtClean="0"/>
            </a:br>
            <a:r>
              <a:rPr lang="en-US" dirty="0" smtClean="0"/>
              <a:t>(pre-arranged) </a:t>
            </a:r>
          </a:p>
          <a:p>
            <a:r>
              <a:rPr lang="en-US" dirty="0"/>
              <a:t>u</a:t>
            </a:r>
            <a:r>
              <a:rPr lang="en-US" dirty="0" smtClean="0"/>
              <a:t>nique “name”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2628195" y="3764586"/>
            <a:ext cx="903514" cy="4064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9000">
                <a:schemeClr val="accent1">
                  <a:lumMod val="45000"/>
                  <a:lumOff val="55000"/>
                </a:schemeClr>
              </a:gs>
              <a:gs pos="100000">
                <a:schemeClr val="accent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245709" y="3725470"/>
            <a:ext cx="1339295" cy="484632"/>
            <a:chOff x="1245709" y="3725470"/>
            <a:chExt cx="1339295" cy="484632"/>
          </a:xfrm>
        </p:grpSpPr>
        <p:sp>
          <p:nvSpPr>
            <p:cNvPr id="18" name="Rectangle 17"/>
            <p:cNvSpPr/>
            <p:nvPr/>
          </p:nvSpPr>
          <p:spPr>
            <a:xfrm>
              <a:off x="1245709" y="3764586"/>
              <a:ext cx="903514" cy="4064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40000"/>
                  </a:schemeClr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ln w="2857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/>
            <p:cNvSpPr/>
            <p:nvPr/>
          </p:nvSpPr>
          <p:spPr>
            <a:xfrm rot="10800000">
              <a:off x="2057399" y="3725470"/>
              <a:ext cx="527605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559899" y="4350189"/>
            <a:ext cx="1586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 Mapped into the process’ virtual address space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3574899" y="3738415"/>
            <a:ext cx="1670606" cy="484632"/>
            <a:chOff x="3574899" y="3738415"/>
            <a:chExt cx="1670606" cy="484632"/>
          </a:xfrm>
        </p:grpSpPr>
        <p:sp>
          <p:nvSpPr>
            <p:cNvPr id="24" name="Rectangle 23"/>
            <p:cNvSpPr/>
            <p:nvPr/>
          </p:nvSpPr>
          <p:spPr>
            <a:xfrm>
              <a:off x="4341991" y="3764586"/>
              <a:ext cx="903514" cy="40640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40000"/>
                  </a:schemeClr>
                </a:gs>
                <a:gs pos="49000">
                  <a:schemeClr val="accent1">
                    <a:lumMod val="45000"/>
                    <a:lumOff val="55000"/>
                  </a:schemeClr>
                </a:gs>
                <a:gs pos="100000">
                  <a:schemeClr val="accent6"/>
                </a:gs>
              </a:gsLst>
              <a:lin ang="5400000" scaled="1"/>
            </a:gradFill>
            <a:ln w="28575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3574899" y="3738415"/>
              <a:ext cx="857401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06086" y="5827517"/>
            <a:ext cx="3664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Now it is available for read and write like any other part of the memory!</a:t>
            </a:r>
            <a:br>
              <a:rPr lang="en-US" dirty="0" smtClean="0"/>
            </a:b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416106" y="2362087"/>
            <a:ext cx="38302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memory slab is now in both</a:t>
            </a:r>
            <a:br>
              <a:rPr lang="en-US" dirty="0" smtClean="0"/>
            </a:br>
            <a:r>
              <a:rPr lang="en-US" dirty="0" smtClean="0"/>
              <a:t>process’ address spaces, both can now</a:t>
            </a:r>
            <a:br>
              <a:rPr lang="en-US" dirty="0" smtClean="0"/>
            </a:br>
            <a:r>
              <a:rPr lang="en-US" dirty="0" smtClean="0"/>
              <a:t>read or write to it.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course we need to use known </a:t>
            </a:r>
            <a:br>
              <a:rPr lang="en-US" dirty="0" smtClean="0"/>
            </a:br>
            <a:r>
              <a:rPr lang="en-US" dirty="0" smtClean="0"/>
              <a:t>methods to properly coordinate access.</a:t>
            </a:r>
          </a:p>
          <a:p>
            <a:endParaRPr lang="en-US" b="1" dirty="0"/>
          </a:p>
          <a:p>
            <a:r>
              <a:rPr lang="en-US" b="1" dirty="0" smtClean="0"/>
              <a:t>The region of the virtual address space that has the shared segment mapped may be different in P1 vs P2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4387290" y="5827517"/>
            <a:ext cx="5772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IMPORTANT: the existence of the shared memory block is not tied to the life of the processes using it! … needs to be explicitly removed when we don’t need it.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756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0" grpId="0"/>
      <p:bldP spid="27" grpId="0"/>
      <p:bldP spid="28" grpId="0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POSIX interface for shared memory 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shm_fd</a:t>
            </a:r>
            <a:r>
              <a:rPr lang="en-US" dirty="0"/>
              <a:t> = </a:t>
            </a:r>
            <a:r>
              <a:rPr lang="en-US" dirty="0" err="1"/>
              <a:t>shm_open</a:t>
            </a:r>
            <a:r>
              <a:rPr lang="en-US" dirty="0"/>
              <a:t>(SHM_NAME, O_CREAT|O_RDWR,0644</a:t>
            </a:r>
            <a:r>
              <a:rPr lang="en-US" dirty="0" smtClean="0"/>
              <a:t>);</a:t>
            </a:r>
          </a:p>
          <a:p>
            <a:pPr lvl="1"/>
            <a:r>
              <a:rPr lang="en-US" dirty="0" smtClean="0"/>
              <a:t>Just like a file open sample name:  /example1</a:t>
            </a:r>
          </a:p>
          <a:p>
            <a:pPr lvl="1"/>
            <a:r>
              <a:rPr lang="en-US" dirty="0" smtClean="0"/>
              <a:t>See /dev/</a:t>
            </a:r>
            <a:r>
              <a:rPr lang="en-US" dirty="0" err="1" smtClean="0"/>
              <a:t>shm</a:t>
            </a:r>
            <a:endParaRPr lang="en-US" dirty="0" smtClean="0"/>
          </a:p>
          <a:p>
            <a:r>
              <a:rPr lang="en-US" dirty="0" err="1"/>
              <a:t>ftruncate</a:t>
            </a:r>
            <a:r>
              <a:rPr lang="en-US" dirty="0"/>
              <a:t>(</a:t>
            </a:r>
            <a:r>
              <a:rPr lang="en-US" dirty="0" err="1"/>
              <a:t>shm_fd</a:t>
            </a:r>
            <a:r>
              <a:rPr lang="en-US" dirty="0"/>
              <a:t>, </a:t>
            </a:r>
            <a:r>
              <a:rPr lang="en-US" dirty="0" smtClean="0"/>
              <a:t>SHARED_MEMORY_SIZE);</a:t>
            </a:r>
          </a:p>
          <a:p>
            <a:pPr lvl="1"/>
            <a:r>
              <a:rPr lang="en-US" dirty="0" smtClean="0"/>
              <a:t>Setting the size</a:t>
            </a:r>
          </a:p>
          <a:p>
            <a:r>
              <a:rPr lang="en-US" dirty="0"/>
              <a:t> s = </a:t>
            </a:r>
            <a:r>
              <a:rPr lang="en-US" dirty="0" err="1"/>
              <a:t>mmap</a:t>
            </a:r>
            <a:r>
              <a:rPr lang="en-US" dirty="0"/>
              <a:t>(NULL,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mystruct</a:t>
            </a:r>
            <a:r>
              <a:rPr lang="en-US" dirty="0"/>
              <a:t>), PROT_READ | PROT_WRITE, 			MAP_SHARED, </a:t>
            </a:r>
            <a:r>
              <a:rPr lang="en-US" dirty="0" err="1"/>
              <a:t>shm_fd</a:t>
            </a:r>
            <a:r>
              <a:rPr lang="en-US" dirty="0"/>
              <a:t>, 0</a:t>
            </a:r>
            <a:r>
              <a:rPr lang="en-US" dirty="0" smtClean="0"/>
              <a:t>);</a:t>
            </a:r>
          </a:p>
          <a:p>
            <a:pPr lvl="1"/>
            <a:r>
              <a:rPr lang="en-US" dirty="0" smtClean="0"/>
              <a:t>Mapping the area to memory</a:t>
            </a:r>
          </a:p>
          <a:p>
            <a:pPr lvl="1"/>
            <a:r>
              <a:rPr lang="en-US" dirty="0" smtClean="0"/>
              <a:t>You can write into the area pointed by s</a:t>
            </a:r>
          </a:p>
          <a:p>
            <a:r>
              <a:rPr lang="en-US" dirty="0" err="1"/>
              <a:t>s</a:t>
            </a:r>
            <a:r>
              <a:rPr lang="en-US" dirty="0" err="1" smtClean="0"/>
              <a:t>hm_close</a:t>
            </a:r>
            <a:r>
              <a:rPr lang="en-US" dirty="0" smtClean="0"/>
              <a:t>(</a:t>
            </a:r>
            <a:r>
              <a:rPr lang="en-US" dirty="0" err="1" smtClean="0"/>
              <a:t>shm_fd</a:t>
            </a:r>
            <a:r>
              <a:rPr lang="en-US" dirty="0" smtClean="0"/>
              <a:t>);</a:t>
            </a:r>
          </a:p>
          <a:p>
            <a:r>
              <a:rPr lang="en-US" dirty="0" err="1"/>
              <a:t>s</a:t>
            </a:r>
            <a:r>
              <a:rPr lang="en-US" dirty="0" err="1" smtClean="0"/>
              <a:t>hm_unlink</a:t>
            </a:r>
            <a:r>
              <a:rPr lang="en-US" dirty="0" smtClean="0"/>
              <a:t>(SHM_NAME);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650435" y="6176963"/>
            <a:ext cx="4399722" cy="5461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See 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ipc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shm-posix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/*.c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12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</a:t>
            </a:r>
            <a:r>
              <a:rPr lang="en-US" i="1" u="sng" dirty="0" smtClean="0"/>
              <a:t>without</a:t>
            </a:r>
            <a:r>
              <a:rPr lang="en-US" dirty="0" smtClean="0"/>
              <a:t> shared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goal is to share data, without any form of shared space</a:t>
            </a:r>
          </a:p>
          <a:p>
            <a:r>
              <a:rPr lang="en-US" dirty="0" smtClean="0"/>
              <a:t>Typically </a:t>
            </a:r>
          </a:p>
          <a:p>
            <a:pPr lvl="1"/>
            <a:r>
              <a:rPr lang="en-US" strike="sngStrike" dirty="0" smtClean="0"/>
              <a:t>Files</a:t>
            </a:r>
          </a:p>
          <a:p>
            <a:pPr lvl="1"/>
            <a:r>
              <a:rPr lang="en-US" b="1" dirty="0" smtClean="0"/>
              <a:t>Pipes </a:t>
            </a:r>
          </a:p>
          <a:p>
            <a:pPr lvl="2"/>
            <a:r>
              <a:rPr lang="en-US" dirty="0" smtClean="0"/>
              <a:t>Pipe() – </a:t>
            </a:r>
            <a:r>
              <a:rPr lang="en-US" dirty="0" err="1" smtClean="0"/>
              <a:t>fd</a:t>
            </a:r>
            <a:r>
              <a:rPr lang="en-US" dirty="0" smtClean="0"/>
              <a:t> pair </a:t>
            </a:r>
          </a:p>
          <a:p>
            <a:pPr lvl="2"/>
            <a:r>
              <a:rPr lang="en-US" dirty="0" smtClean="0"/>
              <a:t>Named pipe (similar to a file)</a:t>
            </a:r>
          </a:p>
          <a:p>
            <a:pPr lvl="1"/>
            <a:r>
              <a:rPr lang="en-US" b="1" dirty="0" smtClean="0"/>
              <a:t>Message queues</a:t>
            </a:r>
          </a:p>
          <a:p>
            <a:pPr lvl="1"/>
            <a:r>
              <a:rPr lang="en-US" b="1" dirty="0" smtClean="0"/>
              <a:t>Sockets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445000" cy="803275"/>
          </a:xfrm>
        </p:spPr>
        <p:txBody>
          <a:bodyPr/>
          <a:lstStyle/>
          <a:p>
            <a:r>
              <a:rPr lang="en-US" dirty="0" smtClean="0"/>
              <a:t>Conceptually common: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6760083" y="3005835"/>
            <a:ext cx="4005834" cy="1301406"/>
            <a:chOff x="2804981" y="3145535"/>
            <a:chExt cx="4005834" cy="1301406"/>
          </a:xfrm>
        </p:grpSpPr>
        <p:grpSp>
          <p:nvGrpSpPr>
            <p:cNvPr id="8" name="Group 7"/>
            <p:cNvGrpSpPr/>
            <p:nvPr/>
          </p:nvGrpSpPr>
          <p:grpSpPr>
            <a:xfrm>
              <a:off x="3530599" y="3627120"/>
              <a:ext cx="2640731" cy="335280"/>
              <a:chOff x="2767584" y="2365248"/>
              <a:chExt cx="4639056" cy="597408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V="1">
                <a:off x="2779776" y="2377440"/>
                <a:ext cx="4626864" cy="18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2767584" y="2913888"/>
                <a:ext cx="4626864" cy="18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2980944" y="2377440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283567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586190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888813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4191436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494059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4796682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5099305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5401928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5704551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6007174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309797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6612420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6915043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7217664" y="236524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/>
            <p:cNvSpPr/>
            <p:nvPr/>
          </p:nvSpPr>
          <p:spPr>
            <a:xfrm>
              <a:off x="3193403" y="3145535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193404" y="4149294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804981" y="3644225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47820" y="3145536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508918" y="3642515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48836" y="4149294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6259037" y="3436955"/>
              <a:ext cx="106327" cy="234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endCxn id="14" idx="1"/>
            </p:cNvCxnSpPr>
            <p:nvPr/>
          </p:nvCxnSpPr>
          <p:spPr>
            <a:xfrm>
              <a:off x="6247820" y="3915802"/>
              <a:ext cx="45228" cy="277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6107365" y="3789308"/>
              <a:ext cx="410595" cy="1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3388973" y="3882369"/>
              <a:ext cx="106327" cy="234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351179" y="3450469"/>
              <a:ext cx="91969" cy="2208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3135259" y="3802106"/>
              <a:ext cx="410595" cy="1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ontent Placeholder 3"/>
          <p:cNvSpPr txBox="1">
            <a:spLocks/>
          </p:cNvSpPr>
          <p:nvPr/>
        </p:nvSpPr>
        <p:spPr>
          <a:xfrm>
            <a:off x="6169968" y="4915015"/>
            <a:ext cx="5552132" cy="13968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Basically a queue with variations in:</a:t>
            </a:r>
          </a:p>
          <a:p>
            <a:pPr lvl="1"/>
            <a:r>
              <a:rPr lang="en-US" dirty="0" smtClean="0"/>
              <a:t>A way for different processes to identify and access it</a:t>
            </a:r>
          </a:p>
          <a:p>
            <a:pPr lvl="1"/>
            <a:r>
              <a:rPr lang="en-US" dirty="0" smtClean="0"/>
              <a:t>Send and receive operations</a:t>
            </a:r>
          </a:p>
          <a:p>
            <a:pPr lvl="1"/>
            <a:r>
              <a:rPr lang="en-US" dirty="0" smtClean="0"/>
              <a:t>Data format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38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5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Pipes and named pipes</a:t>
            </a:r>
            <a:endParaRPr lang="en-US" dirty="0"/>
          </a:p>
        </p:txBody>
      </p:sp>
      <p:sp>
        <p:nvSpPr>
          <p:cNvPr id="59" name="Content Placeholder 58"/>
          <p:cNvSpPr>
            <a:spLocks noGrp="1"/>
          </p:cNvSpPr>
          <p:nvPr>
            <p:ph idx="1"/>
          </p:nvPr>
        </p:nvSpPr>
        <p:spPr>
          <a:xfrm>
            <a:off x="838200" y="1825624"/>
            <a:ext cx="9260094" cy="5032376"/>
          </a:xfrm>
        </p:spPr>
        <p:txBody>
          <a:bodyPr>
            <a:normAutofit/>
          </a:bodyPr>
          <a:lstStyle/>
          <a:p>
            <a:r>
              <a:rPr lang="en-US" dirty="0" smtClean="0"/>
              <a:t>Pipes: We saw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fd</a:t>
            </a:r>
            <a:r>
              <a:rPr lang="en-US" dirty="0" smtClean="0"/>
              <a:t>[2];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ipe(</a:t>
            </a:r>
            <a:r>
              <a:rPr lang="en-US" dirty="0" err="1" smtClean="0"/>
              <a:t>fd</a:t>
            </a:r>
            <a:r>
              <a:rPr lang="en-US" dirty="0" smtClean="0"/>
              <a:t>)</a:t>
            </a:r>
          </a:p>
          <a:p>
            <a:pPr lvl="1"/>
            <a:endParaRPr lang="en-US" dirty="0"/>
          </a:p>
          <a:p>
            <a:r>
              <a:rPr lang="en-US" dirty="0" smtClean="0"/>
              <a:t>Named Pipes: with different processes</a:t>
            </a:r>
          </a:p>
          <a:p>
            <a:pPr lvl="1"/>
            <a:r>
              <a:rPr lang="en-US" dirty="0" smtClean="0"/>
              <a:t>Also called FIFOs.</a:t>
            </a:r>
          </a:p>
          <a:p>
            <a:pPr lvl="1"/>
            <a:r>
              <a:rPr lang="en-US" u="sng" dirty="0" smtClean="0"/>
              <a:t>Identified</a:t>
            </a:r>
            <a:r>
              <a:rPr lang="en-US" dirty="0" smtClean="0"/>
              <a:t> by a special </a:t>
            </a:r>
            <a:r>
              <a:rPr lang="en-US" b="1" dirty="0" smtClean="0"/>
              <a:t>file</a:t>
            </a:r>
            <a:r>
              <a:rPr lang="en-US" dirty="0" smtClean="0"/>
              <a:t> called a FIFO see </a:t>
            </a:r>
            <a:r>
              <a:rPr lang="en-US" dirty="0" err="1" smtClean="0"/>
              <a:t>mkfifo</a:t>
            </a:r>
            <a:r>
              <a:rPr lang="en-US" dirty="0" smtClean="0"/>
              <a:t>(1) or </a:t>
            </a:r>
            <a:r>
              <a:rPr lang="en-US" dirty="0" err="1" smtClean="0"/>
              <a:t>mkfifo</a:t>
            </a:r>
            <a:r>
              <a:rPr lang="en-US" dirty="0" smtClean="0"/>
              <a:t>(3)</a:t>
            </a:r>
          </a:p>
          <a:p>
            <a:pPr lvl="1"/>
            <a:r>
              <a:rPr lang="en-US" dirty="0" smtClean="0"/>
              <a:t>The rest is exactly like files – opening reading, writing, closing.</a:t>
            </a:r>
          </a:p>
          <a:p>
            <a:pPr lvl="2"/>
            <a:r>
              <a:rPr lang="en-US" dirty="0" smtClean="0"/>
              <a:t>Notice  how the writer waits for a reader.</a:t>
            </a:r>
          </a:p>
          <a:p>
            <a:pPr lvl="1"/>
            <a:r>
              <a:rPr lang="en-US" dirty="0" smtClean="0"/>
              <a:t>Closing the write end automatically signals EOF for the read end.</a:t>
            </a:r>
          </a:p>
          <a:p>
            <a:pPr lvl="1"/>
            <a:r>
              <a:rPr lang="en-US" dirty="0" smtClean="0"/>
              <a:t>No real data is written onto the disk!</a:t>
            </a:r>
          </a:p>
          <a:p>
            <a:pPr lvl="1"/>
            <a:r>
              <a:rPr lang="en-US" dirty="0" smtClean="0"/>
              <a:t>Data is simply a sequence of characters (just like a file)</a:t>
            </a:r>
            <a:endParaRPr lang="en-US" dirty="0"/>
          </a:p>
        </p:txBody>
      </p:sp>
      <p:grpSp>
        <p:nvGrpSpPr>
          <p:cNvPr id="57" name="Group 56"/>
          <p:cNvGrpSpPr/>
          <p:nvPr/>
        </p:nvGrpSpPr>
        <p:grpSpPr>
          <a:xfrm>
            <a:off x="7960812" y="2790395"/>
            <a:ext cx="4005834" cy="1301406"/>
            <a:chOff x="2804981" y="3145535"/>
            <a:chExt cx="4005834" cy="1301406"/>
          </a:xfrm>
        </p:grpSpPr>
        <p:grpSp>
          <p:nvGrpSpPr>
            <p:cNvPr id="6" name="Group 5"/>
            <p:cNvGrpSpPr/>
            <p:nvPr/>
          </p:nvGrpSpPr>
          <p:grpSpPr>
            <a:xfrm>
              <a:off x="3530599" y="3627120"/>
              <a:ext cx="2640731" cy="335280"/>
              <a:chOff x="2767584" y="2365248"/>
              <a:chExt cx="4639056" cy="597408"/>
            </a:xfrm>
          </p:grpSpPr>
          <p:cxnSp>
            <p:nvCxnSpPr>
              <p:cNvPr id="7" name="Straight Connector 6"/>
              <p:cNvCxnSpPr/>
              <p:nvPr/>
            </p:nvCxnSpPr>
            <p:spPr>
              <a:xfrm flipV="1">
                <a:off x="2779776" y="2377440"/>
                <a:ext cx="4626864" cy="18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2767584" y="2913888"/>
                <a:ext cx="4626864" cy="182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980944" y="2377440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283567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586190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888813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4191436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494059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96682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099305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401928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5704551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007174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309797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612420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915043" y="239572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7217664" y="2365248"/>
                <a:ext cx="0" cy="5669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Oval 23"/>
            <p:cNvSpPr/>
            <p:nvPr/>
          </p:nvSpPr>
          <p:spPr>
            <a:xfrm>
              <a:off x="3193403" y="3145535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3193404" y="4149294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804981" y="3644225"/>
              <a:ext cx="301897" cy="29764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247820" y="3145536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6508918" y="3642515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6248836" y="4149294"/>
              <a:ext cx="301897" cy="29764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6259037" y="3436955"/>
              <a:ext cx="106327" cy="234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endCxn id="32" idx="1"/>
            </p:cNvCxnSpPr>
            <p:nvPr/>
          </p:nvCxnSpPr>
          <p:spPr>
            <a:xfrm>
              <a:off x="6247820" y="3915802"/>
              <a:ext cx="45228" cy="277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6107365" y="3789308"/>
              <a:ext cx="410595" cy="1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3388973" y="3882369"/>
              <a:ext cx="106327" cy="234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3351179" y="3450469"/>
              <a:ext cx="91969" cy="2208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V="1">
              <a:off x="3135259" y="3802106"/>
              <a:ext cx="410595" cy="13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7304865" y="4016156"/>
            <a:ext cx="487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</a:t>
            </a:r>
            <a:r>
              <a:rPr lang="en-US" dirty="0" err="1" smtClean="0"/>
              <a:t>d</a:t>
            </a:r>
            <a:r>
              <a:rPr lang="en-US" dirty="0" smtClean="0"/>
              <a:t>= </a:t>
            </a:r>
            <a:r>
              <a:rPr lang="en-US" b="1" dirty="0" smtClean="0"/>
              <a:t>open</a:t>
            </a:r>
            <a:r>
              <a:rPr lang="en-US" dirty="0" smtClean="0"/>
              <a:t>(…)    </a:t>
            </a:r>
            <a:r>
              <a:rPr lang="en-US" b="1" dirty="0" smtClean="0">
                <a:solidFill>
                  <a:schemeClr val="accent1"/>
                </a:solidFill>
              </a:rPr>
              <a:t>read</a:t>
            </a:r>
            <a:r>
              <a:rPr lang="en-US" dirty="0" smtClean="0"/>
              <a:t>(</a:t>
            </a:r>
            <a:r>
              <a:rPr lang="en-US" dirty="0" err="1" smtClean="0"/>
              <a:t>fd</a:t>
            </a:r>
            <a:r>
              <a:rPr lang="en-US" dirty="0" smtClean="0"/>
              <a:t>,..)     </a:t>
            </a:r>
            <a:r>
              <a:rPr lang="en-US" b="1" dirty="0" smtClean="0">
                <a:solidFill>
                  <a:schemeClr val="accent1"/>
                </a:solidFill>
              </a:rPr>
              <a:t>write</a:t>
            </a:r>
            <a:r>
              <a:rPr lang="en-US" dirty="0" smtClean="0"/>
              <a:t>(</a:t>
            </a:r>
            <a:r>
              <a:rPr lang="en-US" dirty="0" err="1" smtClean="0"/>
              <a:t>fd</a:t>
            </a:r>
            <a:r>
              <a:rPr lang="en-US" dirty="0" smtClean="0"/>
              <a:t>,…)      </a:t>
            </a:r>
            <a:r>
              <a:rPr lang="en-US" b="1" dirty="0" smtClean="0"/>
              <a:t>close</a:t>
            </a:r>
            <a:r>
              <a:rPr lang="en-US" dirty="0" smtClean="0"/>
              <a:t>(</a:t>
            </a:r>
            <a:r>
              <a:rPr lang="en-US" dirty="0" err="1" smtClean="0"/>
              <a:t>fd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3838413" y="1973530"/>
            <a:ext cx="3356314" cy="816865"/>
            <a:chOff x="8366256" y="1727315"/>
            <a:chExt cx="3356314" cy="816865"/>
          </a:xfrm>
        </p:grpSpPr>
        <p:grpSp>
          <p:nvGrpSpPr>
            <p:cNvPr id="2" name="Group 1"/>
            <p:cNvGrpSpPr/>
            <p:nvPr/>
          </p:nvGrpSpPr>
          <p:grpSpPr>
            <a:xfrm>
              <a:off x="8366256" y="1727315"/>
              <a:ext cx="3356314" cy="816865"/>
              <a:chOff x="8366256" y="1727315"/>
              <a:chExt cx="3356314" cy="816865"/>
            </a:xfrm>
          </p:grpSpPr>
          <p:grpSp>
            <p:nvGrpSpPr>
              <p:cNvPr id="78" name="Group 77"/>
              <p:cNvGrpSpPr/>
              <p:nvPr/>
            </p:nvGrpSpPr>
            <p:grpSpPr>
              <a:xfrm>
                <a:off x="8703452" y="2208900"/>
                <a:ext cx="2640731" cy="335280"/>
                <a:chOff x="2767584" y="2365248"/>
                <a:chExt cx="4639056" cy="597408"/>
              </a:xfrm>
            </p:grpSpPr>
            <p:cxnSp>
              <p:nvCxnSpPr>
                <p:cNvPr id="91" name="Straight Connector 90"/>
                <p:cNvCxnSpPr/>
                <p:nvPr/>
              </p:nvCxnSpPr>
              <p:spPr>
                <a:xfrm flipV="1">
                  <a:off x="2779776" y="2377440"/>
                  <a:ext cx="4626864" cy="182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 flipV="1">
                  <a:off x="2767584" y="2913888"/>
                  <a:ext cx="4626864" cy="1828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80944" y="2377440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3283567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3586190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3888813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4191436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4494059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4796682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5099305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5401928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>
                  <a:off x="5704551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>
                  <a:off x="6007174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/>
              </p:nvCxnSpPr>
              <p:spPr>
                <a:xfrm>
                  <a:off x="6309797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6612420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6915043" y="239572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7217664" y="2365248"/>
                  <a:ext cx="0" cy="56692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Oval 78"/>
              <p:cNvSpPr/>
              <p:nvPr/>
            </p:nvSpPr>
            <p:spPr>
              <a:xfrm>
                <a:off x="8366256" y="1727315"/>
                <a:ext cx="301897" cy="297647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11420673" y="1727316"/>
                <a:ext cx="301897" cy="297647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/>
              <p:cNvCxnSpPr/>
              <p:nvPr/>
            </p:nvCxnSpPr>
            <p:spPr>
              <a:xfrm flipV="1">
                <a:off x="11431890" y="2018735"/>
                <a:ext cx="106327" cy="2343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/>
              <p:nvPr/>
            </p:nvCxnSpPr>
            <p:spPr>
              <a:xfrm>
                <a:off x="8524032" y="2032249"/>
                <a:ext cx="91969" cy="2208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8784339" y="1852240"/>
              <a:ext cx="6291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fd</a:t>
              </a:r>
              <a:r>
                <a:rPr lang="en-US" dirty="0" smtClean="0"/>
                <a:t>[1]</a:t>
              </a:r>
              <a:endParaRPr lang="en-US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747672" y="1832573"/>
              <a:ext cx="6291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fd</a:t>
              </a:r>
              <a:r>
                <a:rPr lang="en-US" dirty="0" smtClean="0"/>
                <a:t>[0]</a:t>
              </a:r>
              <a:endParaRPr lang="en-US" dirty="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297310" y="5908507"/>
            <a:ext cx="37773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See example in: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ipc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/named-pipe/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5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uiExpand="1" build="p"/>
      <p:bldP spid="60" grpId="0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Named-Pipes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number of processes may open() simultaneously</a:t>
            </a:r>
          </a:p>
          <a:p>
            <a:r>
              <a:rPr lang="en-US" dirty="0" smtClean="0"/>
              <a:t>Any number of processes may read() and any number may write()</a:t>
            </a:r>
          </a:p>
          <a:p>
            <a:r>
              <a:rPr lang="en-US" dirty="0" smtClean="0"/>
              <a:t>A process may open it for both reading and writing</a:t>
            </a:r>
          </a:p>
          <a:p>
            <a:r>
              <a:rPr lang="en-US" dirty="0" smtClean="0"/>
              <a:t>The reads fail when there are no writers </a:t>
            </a:r>
            <a:r>
              <a:rPr lang="en-US" dirty="0"/>
              <a:t>(</a:t>
            </a:r>
            <a:r>
              <a:rPr lang="en-US" dirty="0" smtClean="0"/>
              <a:t>i.e., </a:t>
            </a:r>
            <a:r>
              <a:rPr lang="en-US" dirty="0"/>
              <a:t>they have all closed or exited)</a:t>
            </a:r>
          </a:p>
          <a:p>
            <a:r>
              <a:rPr lang="en-US" dirty="0" smtClean="0"/>
              <a:t>The writes fail when there are no readers (i.e., </a:t>
            </a:r>
            <a:r>
              <a:rPr lang="en-US" dirty="0"/>
              <a:t>they have all closed or exited)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17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128657" cy="1325563"/>
          </a:xfrm>
        </p:spPr>
        <p:txBody>
          <a:bodyPr/>
          <a:lstStyle/>
          <a:p>
            <a:r>
              <a:rPr lang="en-US" dirty="0" smtClean="0"/>
              <a:t>Message queues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Unlike a pipe, a message queue typically has a notion of a data unit “</a:t>
            </a:r>
            <a:r>
              <a:rPr lang="en-US" b="1" dirty="0" smtClean="0"/>
              <a:t>message</a:t>
            </a:r>
            <a:r>
              <a:rPr lang="en-US" dirty="0" smtClean="0"/>
              <a:t>”.</a:t>
            </a:r>
          </a:p>
          <a:p>
            <a:pPr lvl="1"/>
            <a:r>
              <a:rPr lang="en-US" dirty="0" smtClean="0"/>
              <a:t>Any number of processes can open, read or write.</a:t>
            </a:r>
          </a:p>
          <a:p>
            <a:pPr lvl="1"/>
            <a:r>
              <a:rPr lang="en-US" dirty="0" smtClean="0"/>
              <a:t>Messages are stored in an order until anyone reads.</a:t>
            </a:r>
          </a:p>
          <a:p>
            <a:pPr lvl="1"/>
            <a:r>
              <a:rPr lang="en-US" dirty="0" smtClean="0"/>
              <a:t>write() and read() are usually called send() and receive().</a:t>
            </a:r>
            <a:endParaRPr lang="en-US" dirty="0"/>
          </a:p>
          <a:p>
            <a:pPr lvl="2"/>
            <a:r>
              <a:rPr lang="en-US" dirty="0" smtClean="0"/>
              <a:t>So one talks of “sending” and “receiving” messages..</a:t>
            </a:r>
          </a:p>
          <a:p>
            <a:pPr lvl="1"/>
            <a:r>
              <a:rPr lang="en-US" dirty="0" smtClean="0"/>
              <a:t>Messages also have the notion of a special tag or a priority used to select or wait for an appropriate message during receive.</a:t>
            </a:r>
            <a:endParaRPr lang="en-US" dirty="0"/>
          </a:p>
          <a:p>
            <a:pPr lvl="1"/>
            <a:r>
              <a:rPr lang="en-US" dirty="0" smtClean="0"/>
              <a:t>Also note that we need some common way (across processes) to identify a message queue – some kind of pre-agreed name or key just like we had the name of the </a:t>
            </a:r>
            <a:r>
              <a:rPr lang="en-US" dirty="0" err="1" smtClean="0"/>
              <a:t>fifo</a:t>
            </a:r>
            <a:r>
              <a:rPr lang="en-US" dirty="0" smtClean="0"/>
              <a:t> in the previous example.</a:t>
            </a:r>
          </a:p>
          <a:p>
            <a:pPr marL="914400" lvl="2" indent="0">
              <a:buNone/>
            </a:pPr>
            <a:endParaRPr lang="en-US" dirty="0" smtClean="0"/>
          </a:p>
          <a:p>
            <a:r>
              <a:rPr lang="en-US" dirty="0" smtClean="0"/>
              <a:t>Message queue continues to hold data until removed.</a:t>
            </a:r>
          </a:p>
          <a:p>
            <a:pPr lvl="1"/>
            <a:r>
              <a:rPr lang="en-US" dirty="0" smtClean="0"/>
              <a:t>It persists and is not linked to the life of a process that uses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3824" y="316300"/>
            <a:ext cx="5116291" cy="369332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4000">
                <a:srgbClr val="EBF937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 smtClean="0"/>
              <a:t>ABCDEFGHIJKLMNOPQRSTUVWXYZ…….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738255" y="870649"/>
            <a:ext cx="5061860" cy="369332"/>
            <a:chOff x="6738255" y="870649"/>
            <a:chExt cx="5061860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6738255" y="870649"/>
              <a:ext cx="914401" cy="369332"/>
            </a:xfrm>
            <a:prstGeom prst="rect">
              <a:avLst/>
            </a:prstGeom>
            <a:solidFill>
              <a:srgbClr val="EBF93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ABCDE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842249" y="870649"/>
              <a:ext cx="645886" cy="369332"/>
            </a:xfrm>
            <a:prstGeom prst="rect">
              <a:avLst/>
            </a:prstGeom>
            <a:solidFill>
              <a:srgbClr val="EBF93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FGH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77728" y="870649"/>
              <a:ext cx="914401" cy="369332"/>
            </a:xfrm>
            <a:prstGeom prst="rect">
              <a:avLst/>
            </a:prstGeom>
            <a:solidFill>
              <a:srgbClr val="EBF93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IJKLMN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781722" y="870649"/>
              <a:ext cx="914401" cy="369332"/>
            </a:xfrm>
            <a:prstGeom prst="rect">
              <a:avLst/>
            </a:prstGeom>
            <a:solidFill>
              <a:srgbClr val="EBF93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….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885714" y="870649"/>
              <a:ext cx="914401" cy="369332"/>
            </a:xfrm>
            <a:prstGeom prst="rect">
              <a:avLst/>
            </a:prstGeom>
            <a:solidFill>
              <a:srgbClr val="EBF937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….</a:t>
              </a:r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140509" y="316300"/>
            <a:ext cx="1446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Pipe/</a:t>
            </a:r>
            <a:r>
              <a:rPr lang="en-US" dirty="0" err="1" smtClean="0"/>
              <a:t>Fifo</a:t>
            </a:r>
            <a:r>
              <a:rPr lang="en-US" dirty="0" smtClean="0"/>
              <a:t>/File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27384" y="870649"/>
            <a:ext cx="1659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Message queue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7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POSIX Message Queues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Control operations (resembles file ops)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332412" cy="3684588"/>
          </a:xfrm>
        </p:spPr>
        <p:txBody>
          <a:bodyPr>
            <a:normAutofit/>
          </a:bodyPr>
          <a:lstStyle/>
          <a:p>
            <a:r>
              <a:rPr lang="en-US" dirty="0" smtClean="0"/>
              <a:t>Create/open: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 err="1"/>
              <a:t>mq</a:t>
            </a:r>
            <a:r>
              <a:rPr lang="en-US" dirty="0"/>
              <a:t>= </a:t>
            </a:r>
            <a:r>
              <a:rPr lang="en-US" dirty="0" err="1"/>
              <a:t>mq_open</a:t>
            </a:r>
            <a:r>
              <a:rPr lang="en-US" dirty="0"/>
              <a:t>(MQ_NAME, O_CREAT|O_RDWR,0644,NULL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Close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err="1" smtClean="0"/>
              <a:t>mq_close</a:t>
            </a:r>
            <a:r>
              <a:rPr lang="en-US" dirty="0" smtClean="0"/>
              <a:t>(</a:t>
            </a:r>
            <a:r>
              <a:rPr lang="en-US" dirty="0" err="1" smtClean="0"/>
              <a:t>mq</a:t>
            </a:r>
            <a:r>
              <a:rPr lang="en-US" dirty="0" smtClean="0"/>
              <a:t>);</a:t>
            </a:r>
            <a:endParaRPr lang="en-US" dirty="0"/>
          </a:p>
          <a:p>
            <a:r>
              <a:rPr lang="en-US" dirty="0" smtClean="0"/>
              <a:t>Remove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dirty="0" err="1" smtClean="0"/>
              <a:t>mq_unlink</a:t>
            </a:r>
            <a:r>
              <a:rPr lang="en-US" dirty="0" smtClean="0"/>
              <a:t>(MQ_NAME);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Send  and receive operations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73448" cy="3684588"/>
          </a:xfrm>
        </p:spPr>
        <p:txBody>
          <a:bodyPr>
            <a:normAutofit/>
          </a:bodyPr>
          <a:lstStyle/>
          <a:p>
            <a:r>
              <a:rPr lang="en-US" dirty="0" smtClean="0"/>
              <a:t>Send</a:t>
            </a:r>
            <a:r>
              <a:rPr lang="en-US" dirty="0"/>
              <a:t/>
            </a:r>
            <a:br>
              <a:rPr lang="en-US" dirty="0"/>
            </a:br>
            <a:r>
              <a:rPr lang="en-US" sz="2600" dirty="0" err="1" smtClean="0"/>
              <a:t>mq_send</a:t>
            </a:r>
            <a:r>
              <a:rPr lang="en-US" sz="2600" dirty="0" smtClean="0"/>
              <a:t>   (</a:t>
            </a:r>
            <a:r>
              <a:rPr lang="en-US" sz="2600" dirty="0" err="1" smtClean="0"/>
              <a:t>mq</a:t>
            </a:r>
            <a:r>
              <a:rPr lang="en-US" sz="2600" dirty="0" smtClean="0"/>
              <a:t>,    </a:t>
            </a:r>
            <a:r>
              <a:rPr lang="en-US" sz="2600" dirty="0" err="1" smtClean="0"/>
              <a:t>buffr</a:t>
            </a:r>
            <a:r>
              <a:rPr lang="en-US" sz="2600" dirty="0" smtClean="0"/>
              <a:t>, </a:t>
            </a:r>
            <a:r>
              <a:rPr lang="en-US" sz="2600" dirty="0" err="1" smtClean="0"/>
              <a:t>nbytes</a:t>
            </a:r>
            <a:r>
              <a:rPr lang="en-US" sz="2600" dirty="0" smtClean="0"/>
              <a:t>, </a:t>
            </a:r>
            <a:r>
              <a:rPr lang="en-US" sz="2600" dirty="0" err="1" smtClean="0"/>
              <a:t>prio</a:t>
            </a:r>
            <a:r>
              <a:rPr lang="en-US" sz="2600" dirty="0" smtClean="0"/>
              <a:t>);</a:t>
            </a:r>
          </a:p>
          <a:p>
            <a:r>
              <a:rPr lang="en-US" dirty="0" smtClean="0"/>
              <a:t>Receive</a:t>
            </a:r>
            <a:br>
              <a:rPr lang="en-US" dirty="0" smtClean="0"/>
            </a:br>
            <a:r>
              <a:rPr lang="en-US" dirty="0" err="1" smtClean="0"/>
              <a:t>mq_receive</a:t>
            </a:r>
            <a:r>
              <a:rPr lang="en-US" sz="2600" dirty="0" smtClean="0"/>
              <a:t>(</a:t>
            </a:r>
            <a:r>
              <a:rPr lang="en-US" sz="2600" dirty="0" err="1" smtClean="0"/>
              <a:t>mq</a:t>
            </a:r>
            <a:r>
              <a:rPr lang="en-US" sz="2600" dirty="0" smtClean="0"/>
              <a:t>, </a:t>
            </a:r>
            <a:r>
              <a:rPr lang="en-US" sz="2600" dirty="0" err="1" smtClean="0"/>
              <a:t>buffr</a:t>
            </a:r>
            <a:r>
              <a:rPr lang="en-US" sz="2600" dirty="0" smtClean="0"/>
              <a:t>,  size,     </a:t>
            </a:r>
            <a:r>
              <a:rPr lang="en-US" sz="2600" dirty="0" err="1" smtClean="0"/>
              <a:t>prio</a:t>
            </a:r>
            <a:r>
              <a:rPr lang="en-US" sz="2600" dirty="0" smtClean="0"/>
              <a:t>); </a:t>
            </a:r>
          </a:p>
          <a:p>
            <a:r>
              <a:rPr lang="en-US" dirty="0" smtClean="0"/>
              <a:t>Get attributes: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smtClean="0"/>
              <a:t>  </a:t>
            </a:r>
            <a:r>
              <a:rPr lang="en-US" sz="2600" dirty="0" err="1" smtClean="0"/>
              <a:t>mq_getattr</a:t>
            </a:r>
            <a:r>
              <a:rPr lang="en-US" sz="2600" dirty="0" smtClean="0"/>
              <a:t>  (</a:t>
            </a:r>
            <a:r>
              <a:rPr lang="en-US" sz="2600" dirty="0" err="1" smtClean="0"/>
              <a:t>mq</a:t>
            </a:r>
            <a:r>
              <a:rPr lang="en-US" sz="2600" dirty="0"/>
              <a:t>, &amp;</a:t>
            </a:r>
            <a:r>
              <a:rPr lang="en-US" sz="2600" dirty="0" err="1"/>
              <a:t>attr</a:t>
            </a:r>
            <a:r>
              <a:rPr lang="en-US" sz="2600" dirty="0"/>
              <a:t>)</a:t>
            </a:r>
            <a:endParaRPr lang="en-US" sz="26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6467928" y="5573486"/>
            <a:ext cx="5181991" cy="10944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>
                <a:solidFill>
                  <a:schemeClr val="bg1"/>
                </a:solidFill>
              </a:rPr>
              <a:t>See example in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ipc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mq-posix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anose="02070309020205020404" pitchFamily="49" charset="0"/>
              </a:rPr>
              <a:t>In particular see the use of getting the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mq_getattr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anose="02070309020205020404" pitchFamily="49" charset="0"/>
              </a:rPr>
              <a:t>along with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mq_receive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99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“POSIX” 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may have noticed our nomenclature</a:t>
            </a:r>
          </a:p>
          <a:p>
            <a:pPr lvl="1"/>
            <a:r>
              <a:rPr lang="en-US" dirty="0" smtClean="0"/>
              <a:t>POSIX shared memory</a:t>
            </a:r>
          </a:p>
          <a:p>
            <a:pPr lvl="1"/>
            <a:r>
              <a:rPr lang="en-US" dirty="0"/>
              <a:t>POSIX message queue</a:t>
            </a:r>
          </a:p>
          <a:p>
            <a:pPr lvl="1"/>
            <a:r>
              <a:rPr lang="en-US" dirty="0" smtClean="0"/>
              <a:t>POSIX semaphore</a:t>
            </a:r>
          </a:p>
          <a:p>
            <a:r>
              <a:rPr lang="en-US" dirty="0" smtClean="0"/>
              <a:t>There is another interface (different calls, but same </a:t>
            </a:r>
            <a:r>
              <a:rPr lang="en-US" dirty="0" err="1" smtClean="0"/>
              <a:t>underying</a:t>
            </a:r>
            <a:r>
              <a:rPr lang="en-US" dirty="0" smtClean="0"/>
              <a:t> functionality) offered by Linux and several older UNIX flavors.</a:t>
            </a:r>
          </a:p>
          <a:p>
            <a:pPr lvl="1"/>
            <a:r>
              <a:rPr lang="en-US" dirty="0" smtClean="0"/>
              <a:t>System-V interface</a:t>
            </a:r>
          </a:p>
          <a:p>
            <a:pPr lvl="1"/>
            <a:r>
              <a:rPr lang="en-US" dirty="0" smtClean="0"/>
              <a:t>So when you look up any manual page, please ensure you are looking at the right pages.</a:t>
            </a:r>
          </a:p>
          <a:p>
            <a:r>
              <a:rPr lang="en-US" dirty="0" smtClean="0"/>
              <a:t>We studied POSIX because it is modern and simplified.</a:t>
            </a:r>
          </a:p>
        </p:txBody>
      </p:sp>
      <p:sp>
        <p:nvSpPr>
          <p:cNvPr id="5" name="Right Brace 4"/>
          <p:cNvSpPr/>
          <p:nvPr/>
        </p:nvSpPr>
        <p:spPr>
          <a:xfrm>
            <a:off x="4431323" y="2250830"/>
            <a:ext cx="141380" cy="8018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t"/>
          <a:lstStyle/>
          <a:p>
            <a:pPr algn="ctr"/>
            <a:r>
              <a:rPr lang="en-US" sz="2000" dirty="0" err="1" smtClean="0"/>
              <a:t>comm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932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4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between processes via sockets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Sockets provide a mechanism that work</a:t>
            </a:r>
          </a:p>
          <a:p>
            <a:pPr lvl="1"/>
            <a:r>
              <a:rPr lang="en-US" dirty="0" smtClean="0"/>
              <a:t>Between processes inside an OS instance  (</a:t>
            </a:r>
            <a:r>
              <a:rPr lang="en-US" b="1" dirty="0" smtClean="0">
                <a:solidFill>
                  <a:schemeClr val="accent1"/>
                </a:solidFill>
              </a:rPr>
              <a:t>UNIX</a:t>
            </a:r>
            <a:r>
              <a:rPr lang="en-US" dirty="0" smtClean="0"/>
              <a:t> sockets)</a:t>
            </a:r>
          </a:p>
          <a:p>
            <a:pPr lvl="1"/>
            <a:r>
              <a:rPr lang="en-US" dirty="0" smtClean="0"/>
              <a:t>Between two different systems also!           (</a:t>
            </a:r>
            <a:r>
              <a:rPr lang="en-US" b="1" dirty="0" smtClean="0">
                <a:solidFill>
                  <a:schemeClr val="accent1"/>
                </a:solidFill>
              </a:rPr>
              <a:t>INET</a:t>
            </a:r>
            <a:r>
              <a:rPr lang="en-US" dirty="0" smtClean="0"/>
              <a:t> sockets)</a:t>
            </a:r>
          </a:p>
          <a:p>
            <a:r>
              <a:rPr lang="en-US" dirty="0" smtClean="0"/>
              <a:t>It is two way.</a:t>
            </a:r>
          </a:p>
          <a:p>
            <a:r>
              <a:rPr lang="en-US" dirty="0" smtClean="0"/>
              <a:t>It is the basis of communication between nodes in a network and on the internet</a:t>
            </a:r>
          </a:p>
          <a:p>
            <a:r>
              <a:rPr lang="en-US" dirty="0" smtClean="0"/>
              <a:t>Communication primitive is based on the notion of send-</a:t>
            </a:r>
            <a:r>
              <a:rPr lang="en-US" dirty="0" err="1" smtClean="0"/>
              <a:t>recv</a:t>
            </a:r>
            <a:r>
              <a:rPr lang="en-US" dirty="0" smtClean="0"/>
              <a:t>, However…</a:t>
            </a:r>
          </a:p>
          <a:p>
            <a:pPr lvl="1"/>
            <a:r>
              <a:rPr lang="en-US" dirty="0" smtClean="0"/>
              <a:t>identity is established in a manner that is internet wide acceptable.</a:t>
            </a:r>
          </a:p>
          <a:p>
            <a:pPr lvl="1"/>
            <a:r>
              <a:rPr lang="en-US" dirty="0" smtClean="0"/>
              <a:t>Here the notion of the identity of a socket endpoint is a 5-tuple</a:t>
            </a:r>
          </a:p>
          <a:p>
            <a:pPr lvl="1"/>
            <a:r>
              <a:rPr lang="en-US" dirty="0" smtClean="0"/>
              <a:t>Two endpoints together make the socket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39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Socket: Communication by send() and </a:t>
            </a:r>
            <a:r>
              <a:rPr lang="en-US" dirty="0" err="1" smtClean="0"/>
              <a:t>recv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</a:t>
            </a:r>
            <a:r>
              <a:rPr lang="en-US" dirty="0" smtClean="0"/>
              <a:t>end(</a:t>
            </a:r>
            <a:r>
              <a:rPr lang="en-US" dirty="0" err="1" smtClean="0"/>
              <a:t>sockfd</a:t>
            </a:r>
            <a:r>
              <a:rPr lang="en-US" dirty="0" smtClean="0"/>
              <a:t>, </a:t>
            </a:r>
            <a:r>
              <a:rPr lang="en-US" dirty="0" err="1" smtClean="0"/>
              <a:t>data_buff</a:t>
            </a:r>
            <a:r>
              <a:rPr lang="en-US" dirty="0" smtClean="0"/>
              <a:t>, </a:t>
            </a:r>
            <a:r>
              <a:rPr lang="en-US" dirty="0" err="1" smtClean="0"/>
              <a:t>data_length</a:t>
            </a:r>
            <a:r>
              <a:rPr lang="en-US" dirty="0" smtClean="0"/>
              <a:t>, flags) or   write()</a:t>
            </a:r>
          </a:p>
          <a:p>
            <a:r>
              <a:rPr lang="en-US" dirty="0" err="1" smtClean="0"/>
              <a:t>recv</a:t>
            </a:r>
            <a:r>
              <a:rPr lang="en-US" dirty="0" smtClean="0"/>
              <a:t>(</a:t>
            </a:r>
            <a:r>
              <a:rPr lang="en-US" dirty="0" err="1" smtClean="0"/>
              <a:t>sockfd</a:t>
            </a:r>
            <a:r>
              <a:rPr lang="en-US" dirty="0" smtClean="0"/>
              <a:t>, </a:t>
            </a:r>
            <a:r>
              <a:rPr lang="en-US" dirty="0" err="1" smtClean="0"/>
              <a:t>data_buff</a:t>
            </a:r>
            <a:r>
              <a:rPr lang="en-US" dirty="0" smtClean="0"/>
              <a:t>, </a:t>
            </a:r>
            <a:r>
              <a:rPr lang="en-US" dirty="0" err="1" smtClean="0"/>
              <a:t>data_length</a:t>
            </a:r>
            <a:r>
              <a:rPr lang="en-US" dirty="0" smtClean="0"/>
              <a:t>, flags)  or    read()</a:t>
            </a:r>
          </a:p>
          <a:p>
            <a:r>
              <a:rPr lang="en-US" dirty="0" smtClean="0"/>
              <a:t>These are very similar in form to read and write.</a:t>
            </a:r>
          </a:p>
          <a:p>
            <a:endParaRPr lang="en-US" dirty="0"/>
          </a:p>
          <a:p>
            <a:r>
              <a:rPr lang="en-US" dirty="0" smtClean="0"/>
              <a:t>What is </a:t>
            </a:r>
            <a:r>
              <a:rPr lang="en-US" dirty="0" err="1" smtClean="0"/>
              <a:t>sockfd</a:t>
            </a:r>
            <a:r>
              <a:rPr lang="en-US" dirty="0" smtClean="0"/>
              <a:t> ? </a:t>
            </a:r>
          </a:p>
          <a:p>
            <a:pPr lvl="1"/>
            <a:r>
              <a:rPr lang="en-US" dirty="0" smtClean="0"/>
              <a:t>It is like a file descriptor.</a:t>
            </a:r>
          </a:p>
          <a:p>
            <a:pPr lvl="1"/>
            <a:r>
              <a:rPr lang="en-US" dirty="0" smtClean="0"/>
              <a:t>It identifies a </a:t>
            </a:r>
            <a:r>
              <a:rPr lang="en-US" b="1" dirty="0" smtClean="0"/>
              <a:t>communication endpoint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965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internet socket endpoints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58462" y="1533378"/>
            <a:ext cx="2053883" cy="34887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Computer-1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72529" y="1561514"/>
            <a:ext cx="2025748" cy="27994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OS-1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on Computer-1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3711" y="1690688"/>
            <a:ext cx="829994" cy="1615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564880" y="1533378"/>
            <a:ext cx="2053883" cy="34887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Computer-2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8947" y="1561514"/>
            <a:ext cx="2025748" cy="27994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 smtClean="0">
                <a:solidFill>
                  <a:schemeClr val="tx1"/>
                </a:solidFill>
              </a:rPr>
              <a:t>OS-2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on Computer-2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40129" y="1690688"/>
            <a:ext cx="829994" cy="1615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P2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3358661" y="4266027"/>
            <a:ext cx="5645835" cy="1607235"/>
            <a:chOff x="3358661" y="4266027"/>
            <a:chExt cx="5645835" cy="1607235"/>
          </a:xfrm>
        </p:grpSpPr>
        <p:pic>
          <p:nvPicPr>
            <p:cNvPr id="10" name="Picture 9" descr="SVG &gt; &lt;strong&gt;wi-fi&lt;/strong&gt; internet wireless &lt;strong&gt;wifi&lt;/strong&gt; - Free SVG Image &amp; Icon. | SVG Silh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492219" y="4360985"/>
              <a:ext cx="1512277" cy="1512277"/>
            </a:xfrm>
            <a:prstGeom prst="rect">
              <a:avLst/>
            </a:prstGeom>
          </p:spPr>
        </p:pic>
        <p:pic>
          <p:nvPicPr>
            <p:cNvPr id="11" name="Picture 10" descr="SVG &gt; &lt;strong&gt;wi-fi&lt;/strong&gt; internet wireless &lt;strong&gt;wifi&lt;/strong&gt; - Free SVG Image &amp; Icon. | SVG Silh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358661" y="4266027"/>
              <a:ext cx="1512277" cy="1512277"/>
            </a:xfrm>
            <a:prstGeom prst="rect">
              <a:avLst/>
            </a:prstGeom>
          </p:spPr>
        </p:pic>
        <p:sp>
          <p:nvSpPr>
            <p:cNvPr id="12" name="Left-Right Arrow 11"/>
            <p:cNvSpPr/>
            <p:nvPr/>
          </p:nvSpPr>
          <p:spPr>
            <a:xfrm>
              <a:off x="4557933" y="5117122"/>
              <a:ext cx="3183402" cy="484632"/>
            </a:xfrm>
            <a:prstGeom prst="leftRightArrow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  <a:latin typeface="Georgia" panose="02040502050405020303" pitchFamily="18" charset="0"/>
                </a:rPr>
                <a:t>Internet</a:t>
              </a:r>
              <a:endParaRPr lang="en-US" b="1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72152" y="5232422"/>
            <a:ext cx="8164007" cy="369332"/>
            <a:chOff x="2172152" y="5232422"/>
            <a:chExt cx="8164007" cy="369332"/>
          </a:xfrm>
        </p:grpSpPr>
        <p:sp>
          <p:nvSpPr>
            <p:cNvPr id="13" name="TextBox 12"/>
            <p:cNvSpPr txBox="1"/>
            <p:nvPr/>
          </p:nvSpPr>
          <p:spPr>
            <a:xfrm>
              <a:off x="2172152" y="5232422"/>
              <a:ext cx="1640193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IP1 128.213.3.4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78947" y="5232422"/>
              <a:ext cx="1757212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IP2 113.13.23.10</a:t>
              </a:r>
              <a:endParaRPr 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939342" y="2961249"/>
            <a:ext cx="439045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TCP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3068516" y="2082018"/>
            <a:ext cx="6386692" cy="416280"/>
            <a:chOff x="3068516" y="2082018"/>
            <a:chExt cx="6386692" cy="416280"/>
          </a:xfrm>
        </p:grpSpPr>
        <p:sp>
          <p:nvSpPr>
            <p:cNvPr id="17" name="Oval 16"/>
            <p:cNvSpPr/>
            <p:nvPr/>
          </p:nvSpPr>
          <p:spPr>
            <a:xfrm>
              <a:off x="3068516" y="2082018"/>
              <a:ext cx="1125416" cy="41628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Port-1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8329792" y="2082018"/>
              <a:ext cx="1125416" cy="41628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Port-2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541520" y="5983068"/>
            <a:ext cx="6385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See:</a:t>
            </a:r>
            <a:br>
              <a:rPr lang="en-US" dirty="0" smtClean="0"/>
            </a:b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netstat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–numeric-ports –a   </a:t>
            </a:r>
            <a:r>
              <a:rPr lang="en-US" dirty="0" smtClean="0"/>
              <a:t>(to see what ports are active)</a:t>
            </a:r>
          </a:p>
          <a:p>
            <a:r>
              <a:rPr lang="en-US" dirty="0" smtClean="0"/>
              <a:t>Try running a process waiting on 8080: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93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Aside: A little experiment to understand this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Use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netstat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--numeric-ports  -a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… and see some connection activity </a:t>
            </a:r>
            <a:br>
              <a:rPr lang="en-US" dirty="0" smtClean="0"/>
            </a:br>
            <a:r>
              <a:rPr lang="en-US" dirty="0" smtClean="0"/>
              <a:t>… can you identify some sockets?</a:t>
            </a:r>
          </a:p>
          <a:p>
            <a:r>
              <a:rPr lang="en-US" dirty="0" smtClean="0"/>
              <a:t>Here </a:t>
            </a:r>
            <a:r>
              <a:rPr lang="en-US" dirty="0"/>
              <a:t>is </a:t>
            </a:r>
            <a:r>
              <a:rPr lang="en-US" dirty="0" smtClean="0"/>
              <a:t>a simple server to listen and respond to a connection :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while : ; do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cat README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-l -p 8080 ;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en-US" sz="2400" dirty="0" smtClean="0"/>
          </a:p>
          <a:p>
            <a:r>
              <a:rPr lang="en-US" dirty="0" smtClean="0"/>
              <a:t>Use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netstat</a:t>
            </a:r>
            <a:r>
              <a:rPr lang="en-US" dirty="0" smtClean="0"/>
              <a:t>  again and see that 8080 has someone in </a:t>
            </a:r>
            <a:r>
              <a:rPr lang="en-US" dirty="0"/>
              <a:t>LISTEN mode</a:t>
            </a:r>
          </a:p>
          <a:p>
            <a:r>
              <a:rPr lang="en-US" dirty="0" smtClean="0"/>
              <a:t>Now run a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localhost:8080 </a:t>
            </a:r>
            <a:r>
              <a:rPr lang="en-US" dirty="0" smtClean="0"/>
              <a:t>and see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netstat</a:t>
            </a:r>
            <a:r>
              <a:rPr lang="en-US" dirty="0" smtClean="0"/>
              <a:t> output again</a:t>
            </a:r>
          </a:p>
          <a:p>
            <a:r>
              <a:rPr lang="en-US" dirty="0" smtClean="0"/>
              <a:t>Fun aside: run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wireshark</a:t>
            </a:r>
            <a:r>
              <a:rPr lang="en-US" dirty="0" smtClean="0"/>
              <a:t> and see data moving in and out of your PC</a:t>
            </a:r>
          </a:p>
          <a:p>
            <a:r>
              <a:rPr lang="en-US" dirty="0" smtClean="0"/>
              <a:t>See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/services </a:t>
            </a:r>
            <a:r>
              <a:rPr lang="en-US" dirty="0" smtClean="0"/>
              <a:t>for standardized service-port mappings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0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Socket: </a:t>
            </a:r>
            <a:r>
              <a:rPr lang="en-US" dirty="0"/>
              <a:t>U</a:t>
            </a:r>
            <a:r>
              <a:rPr lang="en-US" dirty="0" smtClean="0"/>
              <a:t>nderstanding a socket file descriptor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Recall</a:t>
            </a:r>
            <a:r>
              <a:rPr lang="en-US" dirty="0" smtClean="0"/>
              <a:t>:  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send(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data_buff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data_length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flags) 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… </a:t>
            </a:r>
            <a:r>
              <a:rPr lang="en-US" sz="2600" dirty="0" smtClean="0">
                <a:cs typeface="Courier New" panose="02070309020205020404" pitchFamily="49" charset="0"/>
              </a:rPr>
              <a:t>similarly 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,…))</a:t>
            </a:r>
          </a:p>
          <a:p>
            <a:r>
              <a:rPr lang="en-US" dirty="0" smtClean="0"/>
              <a:t>What is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dirty="0" smtClean="0"/>
              <a:t> ? It identifies a </a:t>
            </a:r>
            <a:r>
              <a:rPr lang="en-US" b="1" dirty="0" smtClean="0"/>
              <a:t>socket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/>
              <a:t>sockfd</a:t>
            </a:r>
            <a:r>
              <a:rPr lang="en-US" dirty="0"/>
              <a:t> can be used for send </a:t>
            </a:r>
            <a:r>
              <a:rPr lang="en-US" dirty="0" err="1"/>
              <a:t>recv</a:t>
            </a:r>
            <a:r>
              <a:rPr lang="en-US" dirty="0"/>
              <a:t> only after it has both endpoints established.</a:t>
            </a:r>
          </a:p>
          <a:p>
            <a:pPr lvl="1"/>
            <a:r>
              <a:rPr lang="en-US" dirty="0"/>
              <a:t>In particular it identifies the  protocol being used. Common varieties:</a:t>
            </a:r>
          </a:p>
          <a:p>
            <a:pPr lvl="2"/>
            <a:r>
              <a:rPr lang="en-US" i="1" u="sng" dirty="0"/>
              <a:t>Internet sockets: </a:t>
            </a:r>
            <a:r>
              <a:rPr lang="en-US" i="1" dirty="0"/>
              <a:t>TCP, UDP              </a:t>
            </a:r>
            <a:r>
              <a:rPr lang="en-US" i="1" u="sng" dirty="0"/>
              <a:t>UNIX domain </a:t>
            </a:r>
            <a:r>
              <a:rPr lang="en-US" i="1" u="sng" dirty="0" smtClean="0"/>
              <a:t>sockets</a:t>
            </a:r>
            <a:endParaRPr lang="en-US" dirty="0"/>
          </a:p>
          <a:p>
            <a:r>
              <a:rPr lang="en-US" dirty="0" smtClean="0"/>
              <a:t>An </a:t>
            </a:r>
            <a:r>
              <a:rPr lang="en-US" u="sng" dirty="0" smtClean="0"/>
              <a:t>internet socket </a:t>
            </a:r>
            <a:r>
              <a:rPr lang="en-US" dirty="0" smtClean="0"/>
              <a:t>has IP addresses and ports associated with the endpoints:</a:t>
            </a:r>
          </a:p>
          <a:p>
            <a:pPr lvl="1"/>
            <a:r>
              <a:rPr lang="en-US" sz="2200" dirty="0" smtClean="0">
                <a:latin typeface="Arial Rounded MT Bold" panose="020F0704030504030204" pitchFamily="34" charset="0"/>
              </a:rPr>
              <a:t>{ </a:t>
            </a:r>
            <a:r>
              <a:rPr lang="en-US" sz="2200" dirty="0" err="1" smtClean="0">
                <a:solidFill>
                  <a:schemeClr val="accent1"/>
                </a:solidFill>
                <a:latin typeface="Arial Rounded MT Bold" panose="020F0704030504030204" pitchFamily="34" charset="0"/>
              </a:rPr>
              <a:t>local_ip_address</a:t>
            </a:r>
            <a:r>
              <a:rPr lang="en-US" sz="2200" dirty="0" smtClean="0">
                <a:solidFill>
                  <a:schemeClr val="accent1"/>
                </a:solidFill>
                <a:latin typeface="Arial Rounded MT Bold" panose="020F0704030504030204" pitchFamily="34" charset="0"/>
              </a:rPr>
              <a:t>,     </a:t>
            </a:r>
            <a:r>
              <a:rPr lang="en-US" sz="2200" dirty="0" err="1" smtClean="0">
                <a:solidFill>
                  <a:schemeClr val="accent1"/>
                </a:solidFill>
                <a:latin typeface="Arial Rounded MT Bold" panose="020F0704030504030204" pitchFamily="34" charset="0"/>
              </a:rPr>
              <a:t>local_port</a:t>
            </a:r>
            <a:r>
              <a:rPr lang="en-US" sz="2200" dirty="0" smtClean="0">
                <a:solidFill>
                  <a:schemeClr val="accent1"/>
                </a:solidFill>
                <a:latin typeface="Arial Rounded MT Bold" panose="020F0704030504030204" pitchFamily="34" charset="0"/>
              </a:rPr>
              <a:t>,     </a:t>
            </a:r>
            <a:r>
              <a:rPr lang="en-US" sz="2200" dirty="0" err="1" smtClean="0">
                <a:solidFill>
                  <a:srgbClr val="3EDB19"/>
                </a:solidFill>
                <a:latin typeface="Arial Rounded MT Bold" panose="020F0704030504030204" pitchFamily="34" charset="0"/>
              </a:rPr>
              <a:t>remote_ip_address</a:t>
            </a:r>
            <a:r>
              <a:rPr lang="en-US" sz="2200" dirty="0" smtClean="0">
                <a:solidFill>
                  <a:srgbClr val="3EDB19"/>
                </a:solidFill>
                <a:latin typeface="Arial Rounded MT Bold" panose="020F0704030504030204" pitchFamily="34" charset="0"/>
              </a:rPr>
              <a:t>,    </a:t>
            </a:r>
            <a:r>
              <a:rPr lang="en-US" sz="2200" dirty="0" err="1" smtClean="0">
                <a:solidFill>
                  <a:srgbClr val="3EDB19"/>
                </a:solidFill>
                <a:latin typeface="Arial Rounded MT Bold" panose="020F0704030504030204" pitchFamily="34" charset="0"/>
              </a:rPr>
              <a:t>remote_port</a:t>
            </a:r>
            <a:r>
              <a:rPr lang="en-US" sz="2200" dirty="0" smtClean="0">
                <a:solidFill>
                  <a:srgbClr val="3EDB19"/>
                </a:solidFill>
                <a:latin typeface="Arial Rounded MT Bold" panose="020F0704030504030204" pitchFamily="34" charset="0"/>
              </a:rPr>
              <a:t>,   </a:t>
            </a:r>
            <a:r>
              <a:rPr lang="en-US" sz="2200" dirty="0" smtClean="0">
                <a:latin typeface="Arial Rounded MT Bold" panose="020F0704030504030204" pitchFamily="34" charset="0"/>
              </a:rPr>
              <a:t>protocol }</a:t>
            </a:r>
          </a:p>
          <a:p>
            <a:pPr lvl="1"/>
            <a:r>
              <a:rPr lang="en-US" dirty="0" smtClean="0"/>
              <a:t>This is got not all at once, but in stages – </a:t>
            </a:r>
            <a:r>
              <a:rPr lang="en-US" i="1" u="sng" dirty="0" smtClean="0"/>
              <a:t>connection establishment process</a:t>
            </a:r>
          </a:p>
          <a:p>
            <a:r>
              <a:rPr lang="en-US" dirty="0" smtClean="0"/>
              <a:t>A </a:t>
            </a:r>
            <a:r>
              <a:rPr lang="en-US" u="sng" dirty="0" smtClean="0"/>
              <a:t>Unix domain socket </a:t>
            </a:r>
            <a:r>
              <a:rPr lang="en-US" dirty="0" smtClean="0"/>
              <a:t>only works within the OS</a:t>
            </a:r>
          </a:p>
          <a:p>
            <a:pPr lvl="1"/>
            <a:r>
              <a:rPr lang="en-US" dirty="0" smtClean="0"/>
              <a:t>Identified by a socket path name (like we saw semaphore and </a:t>
            </a:r>
            <a:r>
              <a:rPr lang="en-US" dirty="0" err="1" smtClean="0"/>
              <a:t>fifo</a:t>
            </a:r>
            <a:r>
              <a:rPr lang="en-US" dirty="0" smtClean="0"/>
              <a:t> names)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89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Focus for this study: a TCP connection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Initially create a socket (and get an </a:t>
            </a:r>
            <a:r>
              <a:rPr lang="en-US" dirty="0" err="1" smtClean="0"/>
              <a:t>fd</a:t>
            </a:r>
            <a:r>
              <a:rPr lang="en-US" dirty="0" smtClean="0"/>
              <a:t>) which has not yet established a connection. (‘half’ socket)</a:t>
            </a:r>
          </a:p>
          <a:p>
            <a:r>
              <a:rPr lang="en-US" dirty="0" smtClean="0"/>
              <a:t>The connection process identifies the </a:t>
            </a:r>
            <a:r>
              <a:rPr lang="en-US" u="sng" dirty="0" smtClean="0"/>
              <a:t>endpoint pair </a:t>
            </a:r>
            <a:r>
              <a:rPr lang="en-US" dirty="0" smtClean="0"/>
              <a:t>and now both ends are sure who they are talking to.  This is the ‘full’ socket.</a:t>
            </a:r>
          </a:p>
          <a:p>
            <a:r>
              <a:rPr lang="en-US" dirty="0" smtClean="0"/>
              <a:t>Once connected then it is like having two directed connections between the end points to send and receive: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86629" y="5094515"/>
            <a:ext cx="1846941" cy="667657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TCP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2685142" y="4727461"/>
            <a:ext cx="1001486" cy="14017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P1 Port &amp; IP </a:t>
            </a:r>
            <a:r>
              <a:rPr lang="en-US" dirty="0" err="1" smtClean="0">
                <a:solidFill>
                  <a:schemeClr val="tx1"/>
                </a:solidFill>
              </a:rPr>
              <a:t>addr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49371" y="5094515"/>
            <a:ext cx="1487715" cy="667657"/>
          </a:xfrm>
          <a:prstGeom prst="rect">
            <a:avLst/>
          </a:prstGeom>
          <a:gradFill flip="none" rotWithShape="1">
            <a:gsLst>
              <a:gs pos="30000">
                <a:srgbClr val="FFFF00"/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TCP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437085" y="4727461"/>
            <a:ext cx="1001486" cy="14017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P2 Port &amp; IP </a:t>
            </a:r>
            <a:r>
              <a:rPr lang="en-US" dirty="0" err="1" smtClean="0">
                <a:solidFill>
                  <a:schemeClr val="tx1"/>
                </a:solidFill>
              </a:rPr>
              <a:t>addr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86628" y="4867046"/>
            <a:ext cx="3015574" cy="895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686628" y="5197966"/>
            <a:ext cx="2750456" cy="32734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686628" y="5603751"/>
            <a:ext cx="2743200" cy="0"/>
          </a:xfrm>
          <a:prstGeom prst="straightConnector1">
            <a:avLst/>
          </a:prstGeom>
          <a:ln w="2222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84443" y="6210294"/>
            <a:ext cx="232089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1. TCP Server endpoint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921043" y="6243047"/>
            <a:ext cx="22611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2. TCP Client endpoint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7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6" grpId="0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657" y="185112"/>
            <a:ext cx="5454914" cy="14985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Big Picture of a</a:t>
            </a:r>
            <a:br>
              <a:rPr lang="en-US" dirty="0" smtClean="0"/>
            </a:br>
            <a:r>
              <a:rPr lang="en-US" dirty="0" smtClean="0"/>
              <a:t>Sample TCP connection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74" y="185112"/>
            <a:ext cx="6972887" cy="7349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3032" y="1709112"/>
            <a:ext cx="27522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one “half” 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Establish connection with a server creating a “full” socket.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the new full socket for send() </a:t>
            </a:r>
            <a:r>
              <a:rPr lang="en-US" dirty="0" err="1" smtClean="0"/>
              <a:t>recv</a:t>
            </a:r>
            <a:r>
              <a:rPr lang="en-US" dirty="0" smtClean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the normal close() to close the 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739" y="1683657"/>
            <a:ext cx="27522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one “half” 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Set it to listen mode and 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Once you receive a client request, accept it and create a new “full” socket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the new full socket for send() </a:t>
            </a:r>
            <a:r>
              <a:rPr lang="en-US" dirty="0" err="1" smtClean="0"/>
              <a:t>recv</a:t>
            </a:r>
            <a:r>
              <a:rPr lang="en-US" dirty="0" smtClean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 the normal close() to close the socket</a:t>
            </a:r>
            <a:br>
              <a:rPr lang="en-US" dirty="0" smtClean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old “half” socket is still usable to listen for new connections.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4519" y="4895557"/>
            <a:ext cx="1997612" cy="196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endCxn id="3" idx="3"/>
          </p:cNvCxnSpPr>
          <p:nvPr/>
        </p:nvCxnSpPr>
        <p:spPr>
          <a:xfrm flipV="1">
            <a:off x="7976381" y="4994031"/>
            <a:ext cx="2103120" cy="1406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86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Socket: Process – </a:t>
            </a:r>
            <a:r>
              <a:rPr lang="en-US" b="1" dirty="0" smtClean="0"/>
              <a:t>Server side </a:t>
            </a:r>
            <a:r>
              <a:rPr lang="en-US" dirty="0" smtClean="0"/>
              <a:t>for a SOCK_STEAM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sockfd</a:t>
            </a:r>
            <a:r>
              <a:rPr lang="en-US" sz="2000" dirty="0" smtClean="0"/>
              <a:t>=socket(AF/domain, Type,  Protocol) 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bind(</a:t>
            </a:r>
            <a:r>
              <a:rPr lang="en-US" sz="2000" dirty="0" err="1" smtClean="0"/>
              <a:t>sockfd</a:t>
            </a:r>
            <a:r>
              <a:rPr lang="en-US" sz="2000" dirty="0" smtClean="0"/>
              <a:t>, &amp;</a:t>
            </a:r>
            <a:r>
              <a:rPr lang="en-US" sz="2000" dirty="0" err="1" smtClean="0"/>
              <a:t>sockaddr</a:t>
            </a:r>
            <a:r>
              <a:rPr lang="en-US" sz="2000" dirty="0" smtClean="0"/>
              <a:t>, </a:t>
            </a:r>
            <a:r>
              <a:rPr lang="en-US" sz="2000" dirty="0" err="1" smtClean="0"/>
              <a:t>addr_len</a:t>
            </a:r>
            <a:r>
              <a:rPr lang="en-US" sz="20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 listen(</a:t>
            </a:r>
            <a:r>
              <a:rPr lang="en-US" sz="2000" dirty="0" err="1" smtClean="0"/>
              <a:t>sockfd</a:t>
            </a:r>
            <a:r>
              <a:rPr lang="en-US" sz="2000" dirty="0" smtClean="0"/>
              <a:t>, </a:t>
            </a:r>
            <a:r>
              <a:rPr lang="en-US" sz="2000" dirty="0" err="1" smtClean="0"/>
              <a:t>connection_backlog</a:t>
            </a:r>
            <a:r>
              <a:rPr lang="en-US" sz="20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newfd</a:t>
            </a:r>
            <a:r>
              <a:rPr lang="en-US" sz="2000" dirty="0" smtClean="0"/>
              <a:t>=accept(</a:t>
            </a:r>
            <a:r>
              <a:rPr lang="en-US" sz="2000" dirty="0" err="1" smtClean="0"/>
              <a:t>sockfd</a:t>
            </a:r>
            <a:r>
              <a:rPr lang="en-US" sz="2000" dirty="0" smtClean="0"/>
              <a:t>, &amp;</a:t>
            </a:r>
            <a:r>
              <a:rPr lang="en-US" sz="2000" dirty="0" err="1" smtClean="0"/>
              <a:t>sockaddr</a:t>
            </a:r>
            <a:r>
              <a:rPr lang="en-US" sz="2000" dirty="0" smtClean="0"/>
              <a:t>,</a:t>
            </a:r>
            <a:br>
              <a:rPr lang="en-US" sz="2000" dirty="0" smtClean="0"/>
            </a:br>
            <a:r>
              <a:rPr lang="en-US" sz="2000" dirty="0" smtClean="0"/>
              <a:t>                                        &amp;</a:t>
            </a:r>
            <a:r>
              <a:rPr lang="en-US" sz="2000" dirty="0" err="1" smtClean="0"/>
              <a:t>addr_len</a:t>
            </a:r>
            <a:r>
              <a:rPr lang="en-US" sz="2000" dirty="0" smtClean="0"/>
              <a:t>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6751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>
                <a:solidFill>
                  <a:schemeClr val="accent1"/>
                </a:solidFill>
              </a:rPr>
              <a:t>fd</a:t>
            </a:r>
            <a:r>
              <a:rPr lang="en-US" sz="2000" b="1" dirty="0" smtClean="0">
                <a:solidFill>
                  <a:schemeClr val="accent1"/>
                </a:solidFill>
              </a:rPr>
              <a:t> </a:t>
            </a:r>
            <a:r>
              <a:rPr lang="en-US" sz="2000" dirty="0" smtClean="0"/>
              <a:t>= socket(AF_INET, SOCK_STREAM, 0)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bind(</a:t>
            </a:r>
            <a:r>
              <a:rPr lang="en-US" sz="2000" b="1" dirty="0" err="1" smtClean="0">
                <a:solidFill>
                  <a:schemeClr val="accent1"/>
                </a:solidFill>
              </a:rPr>
              <a:t>fd</a:t>
            </a:r>
            <a:r>
              <a:rPr lang="en-US" sz="2000" dirty="0" smtClean="0"/>
              <a:t>, &amp;</a:t>
            </a:r>
            <a:r>
              <a:rPr lang="en-US" sz="2000" b="1" dirty="0" smtClean="0">
                <a:solidFill>
                  <a:schemeClr val="accent2"/>
                </a:solidFill>
              </a:rPr>
              <a:t>local</a:t>
            </a:r>
            <a:r>
              <a:rPr lang="en-US" sz="2000" dirty="0" smtClean="0"/>
              <a:t>, </a:t>
            </a:r>
            <a:r>
              <a:rPr lang="en-US" sz="2000" dirty="0" err="1" smtClean="0"/>
              <a:t>sizeof</a:t>
            </a:r>
            <a:r>
              <a:rPr lang="en-US" sz="2000" dirty="0" smtClean="0"/>
              <a:t>(local));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listen(</a:t>
            </a:r>
            <a:r>
              <a:rPr lang="en-US" sz="2000" b="1" dirty="0" smtClean="0">
                <a:solidFill>
                  <a:schemeClr val="accent1"/>
                </a:solidFill>
              </a:rPr>
              <a:t>fd</a:t>
            </a:r>
            <a:r>
              <a:rPr lang="en-US" sz="2000" dirty="0" smtClean="0"/>
              <a:t>,2);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>
                <a:solidFill>
                  <a:srgbClr val="00B050"/>
                </a:solidFill>
              </a:rPr>
              <a:t>newfd</a:t>
            </a:r>
            <a:r>
              <a:rPr lang="en-US" sz="2000" dirty="0" smtClean="0"/>
              <a:t>=accept(</a:t>
            </a:r>
            <a:r>
              <a:rPr lang="en-US" sz="2000" b="1" dirty="0" err="1" smtClean="0">
                <a:solidFill>
                  <a:schemeClr val="accent1"/>
                </a:solidFill>
              </a:rPr>
              <a:t>fd</a:t>
            </a:r>
            <a:r>
              <a:rPr lang="en-US" sz="2000" dirty="0" smtClean="0"/>
              <a:t>,&amp;</a:t>
            </a:r>
            <a:r>
              <a:rPr lang="en-US" sz="2000" b="1" dirty="0" err="1" smtClean="0"/>
              <a:t>cliaddr</a:t>
            </a:r>
            <a:r>
              <a:rPr lang="en-US" sz="2000" dirty="0" smtClean="0"/>
              <a:t>, &amp;</a:t>
            </a:r>
            <a:r>
              <a:rPr lang="en-US" sz="2000" b="1" dirty="0" err="1" smtClean="0"/>
              <a:t>cliaddr_len</a:t>
            </a:r>
            <a:r>
              <a:rPr lang="en-US" sz="2000" dirty="0" smtClean="0"/>
              <a:t>)</a:t>
            </a:r>
            <a:br>
              <a:rPr lang="en-US" sz="2000" dirty="0" smtClean="0"/>
            </a:br>
            <a:r>
              <a:rPr lang="en-US" sz="2000" dirty="0" smtClean="0"/>
              <a:t> - </a:t>
            </a:r>
            <a:r>
              <a:rPr lang="en-US" sz="2000" i="1" dirty="0" smtClean="0"/>
              <a:t>at this point you can find remote process address and port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1120515" y="2268528"/>
            <a:ext cx="489928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</a:t>
            </a:r>
            <a:r>
              <a:rPr lang="en-US" sz="1600" dirty="0" err="1"/>
              <a:t>struct</a:t>
            </a:r>
            <a:r>
              <a:rPr lang="en-US" sz="1600" dirty="0"/>
              <a:t> </a:t>
            </a:r>
            <a:r>
              <a:rPr lang="en-US" sz="1600" dirty="0" err="1"/>
              <a:t>sockaddr_in</a:t>
            </a:r>
            <a:r>
              <a:rPr lang="en-US" sz="1600" dirty="0"/>
              <a:t> {</a:t>
            </a:r>
          </a:p>
          <a:p>
            <a:r>
              <a:rPr lang="en-US" sz="1600" dirty="0"/>
              <a:t>               </a:t>
            </a:r>
            <a:r>
              <a:rPr lang="en-US" sz="1600" dirty="0" err="1"/>
              <a:t>sa_family_t</a:t>
            </a:r>
            <a:r>
              <a:rPr lang="en-US" sz="1600" dirty="0"/>
              <a:t>    </a:t>
            </a:r>
            <a:r>
              <a:rPr lang="en-US" sz="1600" dirty="0" err="1"/>
              <a:t>sin_family</a:t>
            </a:r>
            <a:r>
              <a:rPr lang="en-US" sz="1600" dirty="0"/>
              <a:t>; </a:t>
            </a:r>
            <a:r>
              <a:rPr lang="en-US" sz="1200" dirty="0"/>
              <a:t>/* address family: AF_INET */</a:t>
            </a:r>
            <a:endParaRPr lang="en-US" sz="1600" dirty="0"/>
          </a:p>
          <a:p>
            <a:r>
              <a:rPr lang="en-US" sz="1600" dirty="0"/>
              <a:t>               </a:t>
            </a:r>
            <a:r>
              <a:rPr lang="en-US" sz="1600" dirty="0" err="1"/>
              <a:t>in_port_t</a:t>
            </a:r>
            <a:r>
              <a:rPr lang="en-US" sz="1600" dirty="0"/>
              <a:t>      </a:t>
            </a:r>
            <a:r>
              <a:rPr lang="en-US" sz="1600" dirty="0" err="1"/>
              <a:t>sin_port</a:t>
            </a:r>
            <a:r>
              <a:rPr lang="en-US" sz="1600" dirty="0"/>
              <a:t>;   </a:t>
            </a:r>
            <a:r>
              <a:rPr lang="en-US" sz="1200" dirty="0"/>
              <a:t>/* port in network byte order */</a:t>
            </a:r>
            <a:endParaRPr lang="en-US" sz="1600" dirty="0"/>
          </a:p>
          <a:p>
            <a:r>
              <a:rPr lang="en-US" sz="1600" dirty="0"/>
              <a:t>               </a:t>
            </a:r>
            <a:r>
              <a:rPr lang="en-US" sz="1600" dirty="0" err="1"/>
              <a:t>struct</a:t>
            </a:r>
            <a:r>
              <a:rPr lang="en-US" sz="1600" dirty="0"/>
              <a:t> </a:t>
            </a:r>
            <a:r>
              <a:rPr lang="en-US" sz="1600" dirty="0" err="1"/>
              <a:t>in_addr</a:t>
            </a:r>
            <a:r>
              <a:rPr lang="en-US" sz="1600" dirty="0"/>
              <a:t> </a:t>
            </a:r>
            <a:r>
              <a:rPr lang="en-US" sz="1600" dirty="0" err="1"/>
              <a:t>sin_addr</a:t>
            </a:r>
            <a:r>
              <a:rPr lang="en-US" sz="1600" dirty="0"/>
              <a:t>; </a:t>
            </a:r>
            <a:r>
              <a:rPr lang="en-US" sz="1200" dirty="0"/>
              <a:t>  /* internet address */</a:t>
            </a:r>
            <a:endParaRPr lang="en-US" sz="1600" dirty="0"/>
          </a:p>
          <a:p>
            <a:r>
              <a:rPr lang="en-US" sz="1600" dirty="0"/>
              <a:t>           </a:t>
            </a:r>
            <a:r>
              <a:rPr lang="en-US" sz="1600" dirty="0" smtClean="0"/>
              <a:t>}; ….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719455" y="2268528"/>
            <a:ext cx="4505178" cy="120032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</a:t>
            </a:r>
            <a:r>
              <a:rPr lang="en-US" dirty="0" err="1" smtClean="0"/>
              <a:t>truct</a:t>
            </a:r>
            <a:r>
              <a:rPr lang="en-US" dirty="0" smtClean="0"/>
              <a:t> </a:t>
            </a:r>
            <a:r>
              <a:rPr lang="en-US" dirty="0" err="1" smtClean="0"/>
              <a:t>sockaddr_in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local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local.family</a:t>
            </a:r>
            <a:r>
              <a:rPr lang="en-US" dirty="0" smtClean="0"/>
              <a:t>= AF_INET</a:t>
            </a:r>
          </a:p>
          <a:p>
            <a:r>
              <a:rPr lang="en-US" dirty="0" err="1" smtClean="0"/>
              <a:t>local.sin_addr.s_addr</a:t>
            </a:r>
            <a:r>
              <a:rPr lang="en-US" dirty="0" smtClean="0"/>
              <a:t> = </a:t>
            </a:r>
            <a:r>
              <a:rPr lang="en-US" dirty="0" err="1" smtClean="0"/>
              <a:t>htonl</a:t>
            </a:r>
            <a:r>
              <a:rPr lang="en-US" dirty="0" smtClean="0"/>
              <a:t>(INADDR_ANY);</a:t>
            </a:r>
          </a:p>
          <a:p>
            <a:r>
              <a:rPr lang="en-US" dirty="0" err="1" smtClean="0"/>
              <a:t>local.sin_port</a:t>
            </a:r>
            <a:r>
              <a:rPr lang="en-US" dirty="0" smtClean="0"/>
              <a:t> = </a:t>
            </a:r>
            <a:r>
              <a:rPr lang="en-US" dirty="0" err="1" smtClean="0"/>
              <a:t>htons</a:t>
            </a:r>
            <a:r>
              <a:rPr lang="en-US" dirty="0" smtClean="0"/>
              <a:t>(33333);</a:t>
            </a:r>
            <a:endParaRPr lang="en-US" dirty="0"/>
          </a:p>
        </p:txBody>
      </p:sp>
      <p:sp>
        <p:nvSpPr>
          <p:cNvPr id="17" name="Rectangular Callout 16"/>
          <p:cNvSpPr/>
          <p:nvPr/>
        </p:nvSpPr>
        <p:spPr>
          <a:xfrm>
            <a:off x="138545" y="5912862"/>
            <a:ext cx="1857375" cy="781050"/>
          </a:xfrm>
          <a:prstGeom prst="wedgeRectCallout">
            <a:avLst>
              <a:gd name="adj1" fmla="val 70706"/>
              <a:gd name="adj2" fmla="val -7957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Waiting for a connection here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Rectangular Callout 17"/>
          <p:cNvSpPr/>
          <p:nvPr/>
        </p:nvSpPr>
        <p:spPr>
          <a:xfrm>
            <a:off x="0" y="4182199"/>
            <a:ext cx="3362822" cy="477583"/>
          </a:xfrm>
          <a:prstGeom prst="wedgeRectCallout">
            <a:avLst>
              <a:gd name="adj1" fmla="val -4556"/>
              <a:gd name="adj2" fmla="val 7086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Socket now set to listen mode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286232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2--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3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7" grpId="0" animBg="1"/>
      <p:bldP spid="1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Socket: Process – Server side for a </a:t>
            </a:r>
            <a:r>
              <a:rPr lang="en-US" dirty="0" smtClean="0"/>
              <a:t>SOCK_STEAM (</a:t>
            </a:r>
            <a:r>
              <a:rPr lang="en-US" dirty="0" err="1" smtClean="0"/>
              <a:t>contd</a:t>
            </a:r>
            <a:r>
              <a:rPr lang="en-US" dirty="0" smtClean="0"/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US" dirty="0" smtClean="0"/>
              <a:t>When you exit the accept you have a </a:t>
            </a:r>
            <a:r>
              <a:rPr lang="en-US" dirty="0" err="1" smtClean="0"/>
              <a:t>newfd</a:t>
            </a:r>
            <a:r>
              <a:rPr lang="en-US" dirty="0" smtClean="0"/>
              <a:t> which is a complete socket and use it:</a:t>
            </a:r>
          </a:p>
          <a:p>
            <a:r>
              <a:rPr lang="en-US" dirty="0" smtClean="0"/>
              <a:t>send(</a:t>
            </a:r>
            <a:r>
              <a:rPr lang="en-US" dirty="0" err="1" smtClean="0"/>
              <a:t>newfd</a:t>
            </a:r>
            <a:r>
              <a:rPr lang="en-US" dirty="0"/>
              <a:t>, </a:t>
            </a:r>
            <a:r>
              <a:rPr lang="en-US" dirty="0" err="1" smtClean="0"/>
              <a:t>data_buff</a:t>
            </a:r>
            <a:r>
              <a:rPr lang="en-US" dirty="0"/>
              <a:t>, </a:t>
            </a:r>
            <a:r>
              <a:rPr lang="en-US" dirty="0" err="1" smtClean="0"/>
              <a:t>data_length</a:t>
            </a:r>
            <a:r>
              <a:rPr lang="en-US" dirty="0" smtClean="0"/>
              <a:t>,  </a:t>
            </a:r>
            <a:r>
              <a:rPr lang="en-US" dirty="0"/>
              <a:t>flags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recv</a:t>
            </a:r>
            <a:r>
              <a:rPr lang="en-US" dirty="0" smtClean="0"/>
              <a:t>(</a:t>
            </a:r>
            <a:r>
              <a:rPr lang="en-US" dirty="0" err="1" smtClean="0"/>
              <a:t>newfd</a:t>
            </a:r>
            <a:r>
              <a:rPr lang="en-US" dirty="0" smtClean="0"/>
              <a:t>, </a:t>
            </a:r>
            <a:r>
              <a:rPr lang="en-US" dirty="0" err="1" smtClean="0"/>
              <a:t>data_buff</a:t>
            </a:r>
            <a:r>
              <a:rPr lang="en-US" dirty="0"/>
              <a:t>, </a:t>
            </a:r>
            <a:r>
              <a:rPr lang="en-US" dirty="0" err="1" smtClean="0"/>
              <a:t>buff_size</a:t>
            </a:r>
            <a:r>
              <a:rPr lang="en-US" dirty="0" smtClean="0"/>
              <a:t>,  flags)</a:t>
            </a:r>
          </a:p>
          <a:p>
            <a:r>
              <a:rPr lang="en-US" dirty="0" smtClean="0"/>
              <a:t>…. Repeatedly…</a:t>
            </a:r>
          </a:p>
          <a:p>
            <a:r>
              <a:rPr lang="en-US" dirty="0" smtClean="0"/>
              <a:t>close(</a:t>
            </a:r>
            <a:r>
              <a:rPr lang="en-US" dirty="0" err="1" smtClean="0"/>
              <a:t>newfd</a:t>
            </a:r>
            <a:r>
              <a:rPr lang="en-US" dirty="0" smtClean="0"/>
              <a:t>)</a:t>
            </a:r>
          </a:p>
          <a:p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/>
              <a:t>c</a:t>
            </a:r>
            <a:r>
              <a:rPr lang="en-US" dirty="0" smtClean="0"/>
              <a:t>har </a:t>
            </a:r>
            <a:r>
              <a:rPr lang="en-US" dirty="0" err="1" smtClean="0"/>
              <a:t>str</a:t>
            </a:r>
            <a:r>
              <a:rPr lang="en-US" dirty="0" smtClean="0"/>
              <a:t>[100]=“Hello World\n”;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n=send(</a:t>
            </a:r>
            <a:r>
              <a:rPr lang="en-US" b="1" dirty="0" err="1" smtClean="0">
                <a:solidFill>
                  <a:srgbClr val="00B050"/>
                </a:solidFill>
              </a:rPr>
              <a:t>newfd</a:t>
            </a:r>
            <a:r>
              <a:rPr lang="en-US" dirty="0" err="1" smtClean="0"/>
              <a:t>,str</a:t>
            </a:r>
            <a:r>
              <a:rPr lang="en-US" dirty="0" smtClean="0"/>
              <a:t>, </a:t>
            </a:r>
            <a:r>
              <a:rPr lang="en-US" dirty="0" err="1" smtClean="0"/>
              <a:t>strlen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 smtClean="0"/>
              <a:t>), 0);</a:t>
            </a:r>
          </a:p>
          <a:p>
            <a:endParaRPr lang="en-US" dirty="0"/>
          </a:p>
          <a:p>
            <a:r>
              <a:rPr lang="en-US" dirty="0"/>
              <a:t>n</a:t>
            </a:r>
            <a:r>
              <a:rPr lang="en-US" dirty="0" smtClean="0"/>
              <a:t>=</a:t>
            </a:r>
            <a:r>
              <a:rPr lang="en-US" dirty="0" err="1" smtClean="0"/>
              <a:t>recv</a:t>
            </a:r>
            <a:r>
              <a:rPr lang="en-US" dirty="0" smtClean="0"/>
              <a:t>(</a:t>
            </a:r>
            <a:r>
              <a:rPr lang="en-US" b="1" dirty="0" err="1">
                <a:solidFill>
                  <a:srgbClr val="00B050"/>
                </a:solidFill>
              </a:rPr>
              <a:t>newfd</a:t>
            </a:r>
            <a:r>
              <a:rPr lang="en-US" dirty="0" smtClean="0"/>
              <a:t>,  </a:t>
            </a:r>
            <a:r>
              <a:rPr lang="en-US" dirty="0" err="1" smtClean="0"/>
              <a:t>str</a:t>
            </a:r>
            <a:r>
              <a:rPr lang="en-US" dirty="0" smtClean="0"/>
              <a:t>, </a:t>
            </a:r>
            <a:r>
              <a:rPr lang="en-US" dirty="0" err="1" smtClean="0"/>
              <a:t>maxlen</a:t>
            </a:r>
            <a:r>
              <a:rPr lang="en-US" dirty="0" smtClean="0"/>
              <a:t>, 0);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c</a:t>
            </a:r>
            <a:r>
              <a:rPr lang="en-US" dirty="0" smtClean="0"/>
              <a:t>lose(</a:t>
            </a:r>
            <a:r>
              <a:rPr lang="en-US" b="1" dirty="0" err="1">
                <a:solidFill>
                  <a:srgbClr val="00B050"/>
                </a:solidFill>
              </a:rPr>
              <a:t>newfd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172199" y="2177143"/>
            <a:ext cx="5671457" cy="2873828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8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Socket: Process – </a:t>
            </a:r>
            <a:r>
              <a:rPr lang="en-US" b="1" dirty="0" smtClean="0"/>
              <a:t>Client </a:t>
            </a:r>
            <a:r>
              <a:rPr lang="en-US" b="1" dirty="0"/>
              <a:t>side </a:t>
            </a:r>
            <a:r>
              <a:rPr lang="en-US" dirty="0"/>
              <a:t>for a SOCK_STEAM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400" dirty="0" smtClean="0"/>
              <a:t>=socket(</a:t>
            </a:r>
            <a:r>
              <a:rPr lang="en-US" sz="2400" dirty="0" smtClean="0">
                <a:solidFill>
                  <a:schemeClr val="accent6"/>
                </a:solidFill>
              </a:rPr>
              <a:t>AF_INET</a:t>
            </a:r>
            <a:r>
              <a:rPr lang="en-US" sz="2400" dirty="0" smtClean="0"/>
              <a:t>, SOCK_STREAM, 0);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</a:t>
            </a:r>
            <a:r>
              <a:rPr lang="en-US" dirty="0" smtClean="0"/>
              <a:t>onnect(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chemeClr val="accent2"/>
                </a:solidFill>
              </a:rPr>
              <a:t>&amp;server</a:t>
            </a:r>
            <a:r>
              <a:rPr lang="en-US" dirty="0" smtClean="0"/>
              <a:t>, </a:t>
            </a:r>
            <a:r>
              <a:rPr lang="en-US" dirty="0" err="1" smtClean="0"/>
              <a:t>sizeof</a:t>
            </a:r>
            <a:r>
              <a:rPr lang="en-US" dirty="0" smtClean="0"/>
              <a:t>(server));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83706" y="2644561"/>
            <a:ext cx="4836837" cy="193899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6"/>
                </a:solidFill>
              </a:rPr>
              <a:t>struct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dirty="0" err="1">
                <a:solidFill>
                  <a:schemeClr val="accent6"/>
                </a:solidFill>
              </a:rPr>
              <a:t>sockaddr_in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b="1" dirty="0" smtClean="0">
                <a:solidFill>
                  <a:schemeClr val="accent2"/>
                </a:solidFill>
              </a:rPr>
              <a:t>server</a:t>
            </a:r>
            <a:r>
              <a:rPr lang="en-US" sz="2000" dirty="0" smtClean="0"/>
              <a:t>;</a:t>
            </a:r>
            <a:endParaRPr lang="en-US" sz="2000" dirty="0"/>
          </a:p>
          <a:p>
            <a:r>
              <a:rPr lang="en-US" sz="2000" dirty="0" err="1" smtClean="0"/>
              <a:t>server.family</a:t>
            </a:r>
            <a:r>
              <a:rPr lang="en-US" sz="2000" dirty="0"/>
              <a:t>= </a:t>
            </a:r>
            <a:r>
              <a:rPr lang="en-US" sz="2000" dirty="0" smtClean="0">
                <a:solidFill>
                  <a:schemeClr val="accent6"/>
                </a:solidFill>
              </a:rPr>
              <a:t>AF_INET</a:t>
            </a:r>
            <a:r>
              <a:rPr lang="en-US" sz="2000" dirty="0" smtClean="0"/>
              <a:t>;</a:t>
            </a:r>
            <a:endParaRPr lang="en-US" sz="2000" dirty="0"/>
          </a:p>
          <a:p>
            <a:r>
              <a:rPr lang="en-US" sz="2000" dirty="0" err="1" smtClean="0"/>
              <a:t>server.sin_addr.s_addr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                            </a:t>
            </a:r>
            <a:r>
              <a:rPr lang="en-US" sz="2000" dirty="0" err="1" smtClean="0"/>
              <a:t>inet_addr</a:t>
            </a:r>
            <a:r>
              <a:rPr lang="en-US" sz="2000" dirty="0" smtClean="0"/>
              <a:t>(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server_ip_string</a:t>
            </a:r>
            <a:r>
              <a:rPr lang="en-US" sz="2000" dirty="0" smtClean="0"/>
              <a:t>);</a:t>
            </a:r>
            <a:endParaRPr lang="en-US" sz="2000" dirty="0"/>
          </a:p>
          <a:p>
            <a:r>
              <a:rPr lang="en-US" sz="2000" dirty="0" err="1" smtClean="0"/>
              <a:t>server.sin_port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err="1" smtClean="0"/>
              <a:t>htons</a:t>
            </a:r>
            <a:r>
              <a:rPr lang="en-US" sz="2000" dirty="0" smtClean="0"/>
              <a:t>(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server_port_int</a:t>
            </a:r>
            <a:r>
              <a:rPr lang="en-US" sz="2000" dirty="0" smtClean="0"/>
              <a:t>);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6172199" y="2177143"/>
            <a:ext cx="5729515" cy="2873828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172199" y="2373315"/>
            <a:ext cx="673100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[100]=“Hello World\n”;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n=send(</a:t>
            </a:r>
            <a:r>
              <a:rPr lang="en-US" sz="2000" b="1" dirty="0" err="1" smtClean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,str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), 0);</a:t>
            </a: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n=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0);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close(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25" y="2523966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</a:rPr>
              <a:t>2--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07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server             vs       concurrent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socket(…);</a:t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setup the address</a:t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bind(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listen(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=accept(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send(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b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  <a:b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close(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2400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close(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93370"/>
            <a:ext cx="5802086" cy="546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socket(…);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setup the address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bind(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listen(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Loop{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=accept(</a:t>
            </a:r>
            <a:r>
              <a:rPr lang="en-US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lsockfd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fork and create a child.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In the child: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send(</a:t>
            </a:r>
            <a:r>
              <a:rPr lang="en-US" sz="1800" b="1" dirty="0" err="1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800" b="1" dirty="0" err="1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recv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...</a:t>
            </a: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…</a:t>
            </a: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close(</a:t>
            </a:r>
            <a:r>
              <a:rPr lang="en-US" sz="1800" b="1" dirty="0" err="1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exit();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close(</a:t>
            </a:r>
            <a:r>
              <a:rPr lang="en-US" sz="1800" b="1" dirty="0" err="1" smtClean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newfd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4542971" y="1393370"/>
            <a:ext cx="1843315" cy="432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4274457" y="2438400"/>
            <a:ext cx="2111829" cy="753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98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on </a:t>
            </a:r>
            <a:r>
              <a:rPr lang="en-US" dirty="0" err="1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Simple </a:t>
            </a:r>
            <a:r>
              <a:rPr lang="en-US" dirty="0" err="1" smtClean="0"/>
              <a:t>tcp</a:t>
            </a:r>
            <a:r>
              <a:rPr lang="en-US" dirty="0" smtClean="0"/>
              <a:t> server – client : Single message exchange</a:t>
            </a:r>
          </a:p>
          <a:p>
            <a:r>
              <a:rPr lang="en-US" dirty="0" smtClean="0"/>
              <a:t>Concurrent </a:t>
            </a:r>
            <a:r>
              <a:rPr lang="en-US" dirty="0" err="1" smtClean="0"/>
              <a:t>tcp</a:t>
            </a:r>
            <a:r>
              <a:rPr lang="en-US" dirty="0" smtClean="0"/>
              <a:t> server – long running client (5 messages)</a:t>
            </a:r>
          </a:p>
          <a:p>
            <a:r>
              <a:rPr lang="en-US" dirty="0" smtClean="0"/>
              <a:t>Simple </a:t>
            </a:r>
            <a:r>
              <a:rPr lang="en-US" dirty="0" err="1" smtClean="0"/>
              <a:t>udp</a:t>
            </a:r>
            <a:r>
              <a:rPr lang="en-US" dirty="0" smtClean="0"/>
              <a:t> server – client : Single message exchange</a:t>
            </a:r>
          </a:p>
          <a:p>
            <a:r>
              <a:rPr lang="en-US" dirty="0" smtClean="0"/>
              <a:t>Simple </a:t>
            </a:r>
            <a:r>
              <a:rPr lang="en-US" dirty="0" err="1" smtClean="0"/>
              <a:t>udp</a:t>
            </a:r>
            <a:r>
              <a:rPr lang="en-US" dirty="0"/>
              <a:t> </a:t>
            </a:r>
            <a:r>
              <a:rPr lang="en-US" dirty="0" smtClean="0"/>
              <a:t>server in a loop that </a:t>
            </a:r>
            <a:r>
              <a:rPr lang="en-US" dirty="0" err="1" smtClean="0"/>
              <a:t>echos</a:t>
            </a:r>
            <a:r>
              <a:rPr lang="en-US" dirty="0" smtClean="0"/>
              <a:t> any client message</a:t>
            </a:r>
          </a:p>
          <a:p>
            <a:r>
              <a:rPr lang="en-US" dirty="0" smtClean="0"/>
              <a:t>Simple </a:t>
            </a:r>
            <a:r>
              <a:rPr lang="en-US" dirty="0" err="1" smtClean="0"/>
              <a:t>unix</a:t>
            </a:r>
            <a:r>
              <a:rPr lang="en-US" dirty="0" smtClean="0"/>
              <a:t> domain socket server – client : Single message exchange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You can see connection states:</a:t>
            </a:r>
            <a:br>
              <a:rPr lang="en-US" dirty="0" smtClean="0"/>
            </a:b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netstat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–a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smtClean="0"/>
              <a:t>( ..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 more</a:t>
            </a:r>
            <a:r>
              <a:rPr lang="en-US" dirty="0" smtClean="0"/>
              <a:t>)</a:t>
            </a:r>
          </a:p>
          <a:p>
            <a:r>
              <a:rPr lang="en-US" dirty="0" smtClean="0"/>
              <a:t>Sockets don’t vanish as soon as your program exits… So be patient.</a:t>
            </a:r>
          </a:p>
          <a:p>
            <a:r>
              <a:rPr lang="en-US" dirty="0" smtClean="0"/>
              <a:t>Good practice to unlink Unix domain sockets at the beginning.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406415" y="785238"/>
            <a:ext cx="3824292" cy="4853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See: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ipc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/sockets/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8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Sockets… there is more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Socket programming in practice is a more elaborate topic that is covered typically in a network programming 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7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Signals</a:t>
            </a:r>
            <a:r>
              <a:rPr lang="en-US" dirty="0" smtClean="0"/>
              <a:t> as a way to communicate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99951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[Despite the name it has nothing to do with condition variables or semaphores </a:t>
            </a:r>
            <a:r>
              <a:rPr lang="en-US" sz="2000" dirty="0" smtClean="0">
                <a:sym typeface="Wingdings" panose="05000000000000000000" pitchFamily="2" charset="2"/>
              </a:rPr>
              <a:t> ]</a:t>
            </a:r>
            <a:endParaRPr lang="en-US" sz="2000" dirty="0" smtClean="0"/>
          </a:p>
          <a:p>
            <a:r>
              <a:rPr lang="en-US" dirty="0" smtClean="0"/>
              <a:t>Unlike most other methods it is inherently asynchronous to the program instructions.</a:t>
            </a:r>
          </a:p>
          <a:p>
            <a:r>
              <a:rPr lang="en-US" dirty="0"/>
              <a:t>P</a:t>
            </a:r>
            <a:r>
              <a:rPr lang="en-US" dirty="0" smtClean="0"/>
              <a:t>rocesses can send a signal to another process.</a:t>
            </a:r>
          </a:p>
          <a:p>
            <a:pPr lvl="1"/>
            <a:r>
              <a:rPr lang="en-US" dirty="0" smtClean="0"/>
              <a:t>“kill” (despite the name) is a command line utility to send a signal to a process</a:t>
            </a:r>
          </a:p>
          <a:p>
            <a:pPr lvl="1"/>
            <a:r>
              <a:rPr lang="en-US" dirty="0" smtClean="0"/>
              <a:t>The kill() system call</a:t>
            </a:r>
          </a:p>
          <a:p>
            <a:r>
              <a:rPr lang="en-US" dirty="0" smtClean="0"/>
              <a:t>The receiving process executes a signal handler in response to a signal</a:t>
            </a:r>
          </a:p>
          <a:p>
            <a:r>
              <a:rPr lang="en-US" dirty="0" smtClean="0"/>
              <a:t>Reminiscent of ‘interrupts’, ‘event handlers’ or ‘threads’</a:t>
            </a:r>
          </a:p>
          <a:p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503920" y="1528354"/>
            <a:ext cx="600891" cy="4049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P1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>
          <a:xfrm>
            <a:off x="8308202" y="1933304"/>
            <a:ext cx="796609" cy="1410788"/>
          </a:xfrm>
          <a:custGeom>
            <a:avLst/>
            <a:gdLst>
              <a:gd name="connsiteX0" fmla="*/ 456974 w 1104812"/>
              <a:gd name="connsiteY0" fmla="*/ 0 h 3775166"/>
              <a:gd name="connsiteX1" fmla="*/ 12837 w 1104812"/>
              <a:gd name="connsiteY1" fmla="*/ 457200 h 3775166"/>
              <a:gd name="connsiteX2" fmla="*/ 901111 w 1104812"/>
              <a:gd name="connsiteY2" fmla="*/ 783771 h 3775166"/>
              <a:gd name="connsiteX3" fmla="*/ 261031 w 1104812"/>
              <a:gd name="connsiteY3" fmla="*/ 1306286 h 3775166"/>
              <a:gd name="connsiteX4" fmla="*/ 888048 w 1104812"/>
              <a:gd name="connsiteY4" fmla="*/ 1658983 h 3775166"/>
              <a:gd name="connsiteX5" fmla="*/ 182654 w 1104812"/>
              <a:gd name="connsiteY5" fmla="*/ 2194560 h 3775166"/>
              <a:gd name="connsiteX6" fmla="*/ 992551 w 1104812"/>
              <a:gd name="connsiteY6" fmla="*/ 2481943 h 3775166"/>
              <a:gd name="connsiteX7" fmla="*/ 391660 w 1104812"/>
              <a:gd name="connsiteY7" fmla="*/ 3069771 h 3775166"/>
              <a:gd name="connsiteX8" fmla="*/ 1097054 w 1104812"/>
              <a:gd name="connsiteY8" fmla="*/ 3370217 h 3775166"/>
              <a:gd name="connsiteX9" fmla="*/ 757420 w 1104812"/>
              <a:gd name="connsiteY9" fmla="*/ 3631474 h 3775166"/>
              <a:gd name="connsiteX10" fmla="*/ 587603 w 1104812"/>
              <a:gd name="connsiteY10" fmla="*/ 3775166 h 3775166"/>
              <a:gd name="connsiteX11" fmla="*/ 587603 w 1104812"/>
              <a:gd name="connsiteY11" fmla="*/ 3775166 h 3775166"/>
              <a:gd name="connsiteX0" fmla="*/ 456974 w 1104812"/>
              <a:gd name="connsiteY0" fmla="*/ 0 h 3775166"/>
              <a:gd name="connsiteX1" fmla="*/ 12837 w 1104812"/>
              <a:gd name="connsiteY1" fmla="*/ 457200 h 3775166"/>
              <a:gd name="connsiteX2" fmla="*/ 901111 w 1104812"/>
              <a:gd name="connsiteY2" fmla="*/ 783771 h 3775166"/>
              <a:gd name="connsiteX3" fmla="*/ 261031 w 1104812"/>
              <a:gd name="connsiteY3" fmla="*/ 1306286 h 3775166"/>
              <a:gd name="connsiteX4" fmla="*/ 888048 w 1104812"/>
              <a:gd name="connsiteY4" fmla="*/ 1658983 h 3775166"/>
              <a:gd name="connsiteX5" fmla="*/ 182654 w 1104812"/>
              <a:gd name="connsiteY5" fmla="*/ 2194560 h 3775166"/>
              <a:gd name="connsiteX6" fmla="*/ 391660 w 1104812"/>
              <a:gd name="connsiteY6" fmla="*/ 3069771 h 3775166"/>
              <a:gd name="connsiteX7" fmla="*/ 1097054 w 1104812"/>
              <a:gd name="connsiteY7" fmla="*/ 3370217 h 3775166"/>
              <a:gd name="connsiteX8" fmla="*/ 757420 w 1104812"/>
              <a:gd name="connsiteY8" fmla="*/ 3631474 h 3775166"/>
              <a:gd name="connsiteX9" fmla="*/ 587603 w 1104812"/>
              <a:gd name="connsiteY9" fmla="*/ 3775166 h 3775166"/>
              <a:gd name="connsiteX10" fmla="*/ 587603 w 1104812"/>
              <a:gd name="connsiteY10" fmla="*/ 3775166 h 3775166"/>
              <a:gd name="connsiteX0" fmla="*/ 456974 w 1104812"/>
              <a:gd name="connsiteY0" fmla="*/ 0 h 3775166"/>
              <a:gd name="connsiteX1" fmla="*/ 12837 w 1104812"/>
              <a:gd name="connsiteY1" fmla="*/ 457200 h 3775166"/>
              <a:gd name="connsiteX2" fmla="*/ 901111 w 1104812"/>
              <a:gd name="connsiteY2" fmla="*/ 783771 h 3775166"/>
              <a:gd name="connsiteX3" fmla="*/ 261031 w 1104812"/>
              <a:gd name="connsiteY3" fmla="*/ 1306286 h 3775166"/>
              <a:gd name="connsiteX4" fmla="*/ 182654 w 1104812"/>
              <a:gd name="connsiteY4" fmla="*/ 2194560 h 3775166"/>
              <a:gd name="connsiteX5" fmla="*/ 391660 w 1104812"/>
              <a:gd name="connsiteY5" fmla="*/ 3069771 h 3775166"/>
              <a:gd name="connsiteX6" fmla="*/ 1097054 w 1104812"/>
              <a:gd name="connsiteY6" fmla="*/ 3370217 h 3775166"/>
              <a:gd name="connsiteX7" fmla="*/ 757420 w 1104812"/>
              <a:gd name="connsiteY7" fmla="*/ 3631474 h 3775166"/>
              <a:gd name="connsiteX8" fmla="*/ 587603 w 1104812"/>
              <a:gd name="connsiteY8" fmla="*/ 3775166 h 3775166"/>
              <a:gd name="connsiteX9" fmla="*/ 587603 w 1104812"/>
              <a:gd name="connsiteY9" fmla="*/ 3775166 h 3775166"/>
              <a:gd name="connsiteX0" fmla="*/ 456974 w 903283"/>
              <a:gd name="connsiteY0" fmla="*/ 0 h 3775166"/>
              <a:gd name="connsiteX1" fmla="*/ 12837 w 903283"/>
              <a:gd name="connsiteY1" fmla="*/ 457200 h 3775166"/>
              <a:gd name="connsiteX2" fmla="*/ 901111 w 903283"/>
              <a:gd name="connsiteY2" fmla="*/ 783771 h 3775166"/>
              <a:gd name="connsiteX3" fmla="*/ 261031 w 903283"/>
              <a:gd name="connsiteY3" fmla="*/ 1306286 h 3775166"/>
              <a:gd name="connsiteX4" fmla="*/ 182654 w 903283"/>
              <a:gd name="connsiteY4" fmla="*/ 2194560 h 3775166"/>
              <a:gd name="connsiteX5" fmla="*/ 391660 w 903283"/>
              <a:gd name="connsiteY5" fmla="*/ 3069771 h 3775166"/>
              <a:gd name="connsiteX6" fmla="*/ 757420 w 903283"/>
              <a:gd name="connsiteY6" fmla="*/ 3631474 h 3775166"/>
              <a:gd name="connsiteX7" fmla="*/ 587603 w 903283"/>
              <a:gd name="connsiteY7" fmla="*/ 3775166 h 3775166"/>
              <a:gd name="connsiteX8" fmla="*/ 587603 w 903283"/>
              <a:gd name="connsiteY8" fmla="*/ 3775166 h 3775166"/>
              <a:gd name="connsiteX0" fmla="*/ 456974 w 903163"/>
              <a:gd name="connsiteY0" fmla="*/ 0 h 3775166"/>
              <a:gd name="connsiteX1" fmla="*/ 12837 w 903163"/>
              <a:gd name="connsiteY1" fmla="*/ 457200 h 3775166"/>
              <a:gd name="connsiteX2" fmla="*/ 901111 w 903163"/>
              <a:gd name="connsiteY2" fmla="*/ 783771 h 3775166"/>
              <a:gd name="connsiteX3" fmla="*/ 261031 w 903163"/>
              <a:gd name="connsiteY3" fmla="*/ 1306286 h 3775166"/>
              <a:gd name="connsiteX4" fmla="*/ 391660 w 903163"/>
              <a:gd name="connsiteY4" fmla="*/ 3069771 h 3775166"/>
              <a:gd name="connsiteX5" fmla="*/ 757420 w 903163"/>
              <a:gd name="connsiteY5" fmla="*/ 3631474 h 3775166"/>
              <a:gd name="connsiteX6" fmla="*/ 587603 w 903163"/>
              <a:gd name="connsiteY6" fmla="*/ 3775166 h 3775166"/>
              <a:gd name="connsiteX7" fmla="*/ 587603 w 903163"/>
              <a:gd name="connsiteY7" fmla="*/ 3775166 h 3775166"/>
              <a:gd name="connsiteX0" fmla="*/ 456974 w 902943"/>
              <a:gd name="connsiteY0" fmla="*/ 0 h 3837528"/>
              <a:gd name="connsiteX1" fmla="*/ 12837 w 902943"/>
              <a:gd name="connsiteY1" fmla="*/ 457200 h 3837528"/>
              <a:gd name="connsiteX2" fmla="*/ 901111 w 902943"/>
              <a:gd name="connsiteY2" fmla="*/ 783771 h 3837528"/>
              <a:gd name="connsiteX3" fmla="*/ 261031 w 902943"/>
              <a:gd name="connsiteY3" fmla="*/ 1306286 h 3837528"/>
              <a:gd name="connsiteX4" fmla="*/ 848860 w 902943"/>
              <a:gd name="connsiteY4" fmla="*/ 1645919 h 3837528"/>
              <a:gd name="connsiteX5" fmla="*/ 757420 w 902943"/>
              <a:gd name="connsiteY5" fmla="*/ 3631474 h 3837528"/>
              <a:gd name="connsiteX6" fmla="*/ 587603 w 902943"/>
              <a:gd name="connsiteY6" fmla="*/ 3775166 h 3837528"/>
              <a:gd name="connsiteX7" fmla="*/ 587603 w 902943"/>
              <a:gd name="connsiteY7" fmla="*/ 3775166 h 3837528"/>
              <a:gd name="connsiteX0" fmla="*/ 456974 w 902943"/>
              <a:gd name="connsiteY0" fmla="*/ 0 h 3775166"/>
              <a:gd name="connsiteX1" fmla="*/ 12837 w 902943"/>
              <a:gd name="connsiteY1" fmla="*/ 457200 h 3775166"/>
              <a:gd name="connsiteX2" fmla="*/ 901111 w 902943"/>
              <a:gd name="connsiteY2" fmla="*/ 783771 h 3775166"/>
              <a:gd name="connsiteX3" fmla="*/ 261031 w 902943"/>
              <a:gd name="connsiteY3" fmla="*/ 1306286 h 3775166"/>
              <a:gd name="connsiteX4" fmla="*/ 848860 w 902943"/>
              <a:gd name="connsiteY4" fmla="*/ 1645919 h 3775166"/>
              <a:gd name="connsiteX5" fmla="*/ 247969 w 902943"/>
              <a:gd name="connsiteY5" fmla="*/ 1907177 h 3775166"/>
              <a:gd name="connsiteX6" fmla="*/ 587603 w 902943"/>
              <a:gd name="connsiteY6" fmla="*/ 3775166 h 3775166"/>
              <a:gd name="connsiteX7" fmla="*/ 587603 w 902943"/>
              <a:gd name="connsiteY7" fmla="*/ 3775166 h 3775166"/>
              <a:gd name="connsiteX0" fmla="*/ 456974 w 902943"/>
              <a:gd name="connsiteY0" fmla="*/ 0 h 3778511"/>
              <a:gd name="connsiteX1" fmla="*/ 12837 w 902943"/>
              <a:gd name="connsiteY1" fmla="*/ 457200 h 3778511"/>
              <a:gd name="connsiteX2" fmla="*/ 901111 w 902943"/>
              <a:gd name="connsiteY2" fmla="*/ 783771 h 3778511"/>
              <a:gd name="connsiteX3" fmla="*/ 261031 w 902943"/>
              <a:gd name="connsiteY3" fmla="*/ 1306286 h 3778511"/>
              <a:gd name="connsiteX4" fmla="*/ 848860 w 902943"/>
              <a:gd name="connsiteY4" fmla="*/ 1645919 h 3778511"/>
              <a:gd name="connsiteX5" fmla="*/ 247969 w 902943"/>
              <a:gd name="connsiteY5" fmla="*/ 1907177 h 3778511"/>
              <a:gd name="connsiteX6" fmla="*/ 587603 w 902943"/>
              <a:gd name="connsiteY6" fmla="*/ 3775166 h 3778511"/>
              <a:gd name="connsiteX7" fmla="*/ 861923 w 902943"/>
              <a:gd name="connsiteY7" fmla="*/ 2325189 h 3778511"/>
              <a:gd name="connsiteX0" fmla="*/ 456974 w 902943"/>
              <a:gd name="connsiteY0" fmla="*/ 0 h 2498287"/>
              <a:gd name="connsiteX1" fmla="*/ 12837 w 902943"/>
              <a:gd name="connsiteY1" fmla="*/ 457200 h 2498287"/>
              <a:gd name="connsiteX2" fmla="*/ 901111 w 902943"/>
              <a:gd name="connsiteY2" fmla="*/ 783771 h 2498287"/>
              <a:gd name="connsiteX3" fmla="*/ 261031 w 902943"/>
              <a:gd name="connsiteY3" fmla="*/ 1306286 h 2498287"/>
              <a:gd name="connsiteX4" fmla="*/ 848860 w 902943"/>
              <a:gd name="connsiteY4" fmla="*/ 1645919 h 2498287"/>
              <a:gd name="connsiteX5" fmla="*/ 247969 w 902943"/>
              <a:gd name="connsiteY5" fmla="*/ 1907177 h 2498287"/>
              <a:gd name="connsiteX6" fmla="*/ 861923 w 902943"/>
              <a:gd name="connsiteY6" fmla="*/ 2063932 h 2498287"/>
              <a:gd name="connsiteX7" fmla="*/ 861923 w 902943"/>
              <a:gd name="connsiteY7" fmla="*/ 2325189 h 2498287"/>
              <a:gd name="connsiteX0" fmla="*/ 456974 w 902943"/>
              <a:gd name="connsiteY0" fmla="*/ 0 h 2431881"/>
              <a:gd name="connsiteX1" fmla="*/ 12837 w 902943"/>
              <a:gd name="connsiteY1" fmla="*/ 457200 h 2431881"/>
              <a:gd name="connsiteX2" fmla="*/ 901111 w 902943"/>
              <a:gd name="connsiteY2" fmla="*/ 783771 h 2431881"/>
              <a:gd name="connsiteX3" fmla="*/ 261031 w 902943"/>
              <a:gd name="connsiteY3" fmla="*/ 1306286 h 2431881"/>
              <a:gd name="connsiteX4" fmla="*/ 848860 w 902943"/>
              <a:gd name="connsiteY4" fmla="*/ 1645919 h 2431881"/>
              <a:gd name="connsiteX5" fmla="*/ 247969 w 902943"/>
              <a:gd name="connsiteY5" fmla="*/ 1907177 h 2431881"/>
              <a:gd name="connsiteX6" fmla="*/ 861923 w 902943"/>
              <a:gd name="connsiteY6" fmla="*/ 2063932 h 2431881"/>
              <a:gd name="connsiteX7" fmla="*/ 287157 w 902943"/>
              <a:gd name="connsiteY7" fmla="*/ 2246812 h 2431881"/>
              <a:gd name="connsiteX0" fmla="*/ 456974 w 928239"/>
              <a:gd name="connsiteY0" fmla="*/ 0 h 2439508"/>
              <a:gd name="connsiteX1" fmla="*/ 12837 w 928239"/>
              <a:gd name="connsiteY1" fmla="*/ 457200 h 2439508"/>
              <a:gd name="connsiteX2" fmla="*/ 901111 w 928239"/>
              <a:gd name="connsiteY2" fmla="*/ 783771 h 2439508"/>
              <a:gd name="connsiteX3" fmla="*/ 261031 w 928239"/>
              <a:gd name="connsiteY3" fmla="*/ 1306286 h 2439508"/>
              <a:gd name="connsiteX4" fmla="*/ 848860 w 928239"/>
              <a:gd name="connsiteY4" fmla="*/ 1645919 h 2439508"/>
              <a:gd name="connsiteX5" fmla="*/ 861923 w 928239"/>
              <a:gd name="connsiteY5" fmla="*/ 2063932 h 2439508"/>
              <a:gd name="connsiteX6" fmla="*/ 287157 w 928239"/>
              <a:gd name="connsiteY6" fmla="*/ 2246812 h 2439508"/>
              <a:gd name="connsiteX0" fmla="*/ 456974 w 902943"/>
              <a:gd name="connsiteY0" fmla="*/ 0 h 2246812"/>
              <a:gd name="connsiteX1" fmla="*/ 12837 w 902943"/>
              <a:gd name="connsiteY1" fmla="*/ 457200 h 2246812"/>
              <a:gd name="connsiteX2" fmla="*/ 901111 w 902943"/>
              <a:gd name="connsiteY2" fmla="*/ 783771 h 2246812"/>
              <a:gd name="connsiteX3" fmla="*/ 261031 w 902943"/>
              <a:gd name="connsiteY3" fmla="*/ 1306286 h 2246812"/>
              <a:gd name="connsiteX4" fmla="*/ 848860 w 902943"/>
              <a:gd name="connsiteY4" fmla="*/ 1645919 h 2246812"/>
              <a:gd name="connsiteX5" fmla="*/ 287157 w 902943"/>
              <a:gd name="connsiteY5" fmla="*/ 2246812 h 2246812"/>
              <a:gd name="connsiteX0" fmla="*/ 456974 w 902943"/>
              <a:gd name="connsiteY0" fmla="*/ 0 h 2037807"/>
              <a:gd name="connsiteX1" fmla="*/ 12837 w 902943"/>
              <a:gd name="connsiteY1" fmla="*/ 457200 h 2037807"/>
              <a:gd name="connsiteX2" fmla="*/ 901111 w 902943"/>
              <a:gd name="connsiteY2" fmla="*/ 783771 h 2037807"/>
              <a:gd name="connsiteX3" fmla="*/ 261031 w 902943"/>
              <a:gd name="connsiteY3" fmla="*/ 1306286 h 2037807"/>
              <a:gd name="connsiteX4" fmla="*/ 848860 w 902943"/>
              <a:gd name="connsiteY4" fmla="*/ 1645919 h 2037807"/>
              <a:gd name="connsiteX5" fmla="*/ 287157 w 902943"/>
              <a:gd name="connsiteY5" fmla="*/ 2037807 h 2037807"/>
              <a:gd name="connsiteX0" fmla="*/ 456974 w 902943"/>
              <a:gd name="connsiteY0" fmla="*/ 0 h 1645919"/>
              <a:gd name="connsiteX1" fmla="*/ 12837 w 902943"/>
              <a:gd name="connsiteY1" fmla="*/ 457200 h 1645919"/>
              <a:gd name="connsiteX2" fmla="*/ 901111 w 902943"/>
              <a:gd name="connsiteY2" fmla="*/ 783771 h 1645919"/>
              <a:gd name="connsiteX3" fmla="*/ 261031 w 902943"/>
              <a:gd name="connsiteY3" fmla="*/ 1306286 h 1645919"/>
              <a:gd name="connsiteX4" fmla="*/ 848860 w 902943"/>
              <a:gd name="connsiteY4" fmla="*/ 1645919 h 164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2943" h="1645919">
                <a:moveTo>
                  <a:pt x="456974" y="0"/>
                </a:moveTo>
                <a:cubicBezTo>
                  <a:pt x="197894" y="163285"/>
                  <a:pt x="-61186" y="326571"/>
                  <a:pt x="12837" y="457200"/>
                </a:cubicBezTo>
                <a:cubicBezTo>
                  <a:pt x="86860" y="587829"/>
                  <a:pt x="859745" y="642257"/>
                  <a:pt x="901111" y="783771"/>
                </a:cubicBezTo>
                <a:cubicBezTo>
                  <a:pt x="942477" y="925285"/>
                  <a:pt x="269739" y="1162595"/>
                  <a:pt x="261031" y="1306286"/>
                </a:cubicBezTo>
                <a:cubicBezTo>
                  <a:pt x="252323" y="1449977"/>
                  <a:pt x="844506" y="1523999"/>
                  <a:pt x="848860" y="164591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0739846" y="1933303"/>
            <a:ext cx="705317" cy="3709851"/>
            <a:chOff x="10739846" y="1933303"/>
            <a:chExt cx="705317" cy="3709851"/>
          </a:xfrm>
        </p:grpSpPr>
        <p:sp>
          <p:nvSpPr>
            <p:cNvPr id="10" name="Oval 9"/>
            <p:cNvSpPr/>
            <p:nvPr/>
          </p:nvSpPr>
          <p:spPr>
            <a:xfrm>
              <a:off x="10739846" y="1933303"/>
              <a:ext cx="613954" cy="43542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P2</a:t>
              </a:r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10797467" y="2377440"/>
              <a:ext cx="647696" cy="3265714"/>
            </a:xfrm>
            <a:custGeom>
              <a:avLst/>
              <a:gdLst>
                <a:gd name="connsiteX0" fmla="*/ 279836 w 647696"/>
                <a:gd name="connsiteY0" fmla="*/ 0 h 3265714"/>
                <a:gd name="connsiteX1" fmla="*/ 5516 w 647696"/>
                <a:gd name="connsiteY1" fmla="*/ 169817 h 3265714"/>
                <a:gd name="connsiteX2" fmla="*/ 501904 w 647696"/>
                <a:gd name="connsiteY2" fmla="*/ 457200 h 3265714"/>
                <a:gd name="connsiteX3" fmla="*/ 136144 w 647696"/>
                <a:gd name="connsiteY3" fmla="*/ 809897 h 3265714"/>
                <a:gd name="connsiteX4" fmla="*/ 554156 w 647696"/>
                <a:gd name="connsiteY4" fmla="*/ 1097280 h 3265714"/>
                <a:gd name="connsiteX5" fmla="*/ 149207 w 647696"/>
                <a:gd name="connsiteY5" fmla="*/ 1658983 h 3265714"/>
                <a:gd name="connsiteX6" fmla="*/ 541093 w 647696"/>
                <a:gd name="connsiteY6" fmla="*/ 1920240 h 3265714"/>
                <a:gd name="connsiteX7" fmla="*/ 305962 w 647696"/>
                <a:gd name="connsiteY7" fmla="*/ 2325189 h 3265714"/>
                <a:gd name="connsiteX8" fmla="*/ 645596 w 647696"/>
                <a:gd name="connsiteY8" fmla="*/ 2704011 h 3265714"/>
                <a:gd name="connsiteX9" fmla="*/ 423527 w 647696"/>
                <a:gd name="connsiteY9" fmla="*/ 3265714 h 326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7696" h="3265714">
                  <a:moveTo>
                    <a:pt x="279836" y="0"/>
                  </a:moveTo>
                  <a:cubicBezTo>
                    <a:pt x="124170" y="46808"/>
                    <a:pt x="-31495" y="93617"/>
                    <a:pt x="5516" y="169817"/>
                  </a:cubicBezTo>
                  <a:cubicBezTo>
                    <a:pt x="42527" y="246017"/>
                    <a:pt x="480133" y="350520"/>
                    <a:pt x="501904" y="457200"/>
                  </a:cubicBezTo>
                  <a:cubicBezTo>
                    <a:pt x="523675" y="563880"/>
                    <a:pt x="127435" y="703217"/>
                    <a:pt x="136144" y="809897"/>
                  </a:cubicBezTo>
                  <a:cubicBezTo>
                    <a:pt x="144853" y="916577"/>
                    <a:pt x="551979" y="955766"/>
                    <a:pt x="554156" y="1097280"/>
                  </a:cubicBezTo>
                  <a:cubicBezTo>
                    <a:pt x="556333" y="1238794"/>
                    <a:pt x="151384" y="1521823"/>
                    <a:pt x="149207" y="1658983"/>
                  </a:cubicBezTo>
                  <a:cubicBezTo>
                    <a:pt x="147030" y="1796143"/>
                    <a:pt x="514967" y="1809206"/>
                    <a:pt x="541093" y="1920240"/>
                  </a:cubicBezTo>
                  <a:cubicBezTo>
                    <a:pt x="567219" y="2031274"/>
                    <a:pt x="288545" y="2194561"/>
                    <a:pt x="305962" y="2325189"/>
                  </a:cubicBezTo>
                  <a:cubicBezTo>
                    <a:pt x="323379" y="2455817"/>
                    <a:pt x="626002" y="2547257"/>
                    <a:pt x="645596" y="2704011"/>
                  </a:cubicBezTo>
                  <a:cubicBezTo>
                    <a:pt x="665190" y="2860765"/>
                    <a:pt x="544358" y="3063239"/>
                    <a:pt x="423527" y="326571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Left Arrow 12"/>
          <p:cNvSpPr/>
          <p:nvPr/>
        </p:nvSpPr>
        <p:spPr>
          <a:xfrm>
            <a:off x="9575299" y="3239589"/>
            <a:ext cx="2035220" cy="209006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975272" y="3239589"/>
            <a:ext cx="209005" cy="20900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15" idx="4"/>
          </p:cNvCxnSpPr>
          <p:nvPr/>
        </p:nvCxnSpPr>
        <p:spPr>
          <a:xfrm>
            <a:off x="9079775" y="3448595"/>
            <a:ext cx="25036" cy="177654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8840179" y="5016137"/>
            <a:ext cx="479192" cy="1160826"/>
            <a:chOff x="8840179" y="5016137"/>
            <a:chExt cx="479192" cy="1160826"/>
          </a:xfrm>
        </p:grpSpPr>
        <p:sp>
          <p:nvSpPr>
            <p:cNvPr id="18" name="Oval 17"/>
            <p:cNvSpPr/>
            <p:nvPr/>
          </p:nvSpPr>
          <p:spPr>
            <a:xfrm>
              <a:off x="8987246" y="5016137"/>
              <a:ext cx="209005" cy="209006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840179" y="5197247"/>
              <a:ext cx="479192" cy="979716"/>
            </a:xfrm>
            <a:custGeom>
              <a:avLst/>
              <a:gdLst>
                <a:gd name="connsiteX0" fmla="*/ 266403 w 479192"/>
                <a:gd name="connsiteY0" fmla="*/ 0 h 796835"/>
                <a:gd name="connsiteX1" fmla="*/ 5146 w 479192"/>
                <a:gd name="connsiteY1" fmla="*/ 91440 h 796835"/>
                <a:gd name="connsiteX2" fmla="*/ 475409 w 479192"/>
                <a:gd name="connsiteY2" fmla="*/ 444138 h 796835"/>
                <a:gd name="connsiteX3" fmla="*/ 188026 w 479192"/>
                <a:gd name="connsiteY3" fmla="*/ 796835 h 796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9192" h="796835">
                  <a:moveTo>
                    <a:pt x="266403" y="0"/>
                  </a:moveTo>
                  <a:cubicBezTo>
                    <a:pt x="118357" y="8708"/>
                    <a:pt x="-29688" y="17417"/>
                    <a:pt x="5146" y="91440"/>
                  </a:cubicBezTo>
                  <a:cubicBezTo>
                    <a:pt x="39980" y="165463"/>
                    <a:pt x="444929" y="326572"/>
                    <a:pt x="475409" y="444138"/>
                  </a:cubicBezTo>
                  <a:cubicBezTo>
                    <a:pt x="505889" y="561704"/>
                    <a:pt x="346957" y="679269"/>
                    <a:pt x="188026" y="7968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091749" y="3357154"/>
            <a:ext cx="765491" cy="1731781"/>
            <a:chOff x="9091749" y="3357154"/>
            <a:chExt cx="765491" cy="1731781"/>
          </a:xfrm>
        </p:grpSpPr>
        <p:sp>
          <p:nvSpPr>
            <p:cNvPr id="14" name="Freeform 13"/>
            <p:cNvSpPr/>
            <p:nvPr/>
          </p:nvSpPr>
          <p:spPr>
            <a:xfrm>
              <a:off x="9091749" y="3357154"/>
              <a:ext cx="752429" cy="1711235"/>
            </a:xfrm>
            <a:custGeom>
              <a:avLst/>
              <a:gdLst>
                <a:gd name="connsiteX0" fmla="*/ 0 w 752429"/>
                <a:gd name="connsiteY0" fmla="*/ 0 h 1711235"/>
                <a:gd name="connsiteX1" fmla="*/ 574765 w 752429"/>
                <a:gd name="connsiteY1" fmla="*/ 209006 h 1711235"/>
                <a:gd name="connsiteX2" fmla="*/ 287382 w 752429"/>
                <a:gd name="connsiteY2" fmla="*/ 509452 h 1711235"/>
                <a:gd name="connsiteX3" fmla="*/ 613954 w 752429"/>
                <a:gd name="connsiteY3" fmla="*/ 692332 h 1711235"/>
                <a:gd name="connsiteX4" fmla="*/ 431074 w 752429"/>
                <a:gd name="connsiteY4" fmla="*/ 979715 h 1711235"/>
                <a:gd name="connsiteX5" fmla="*/ 744582 w 752429"/>
                <a:gd name="connsiteY5" fmla="*/ 1214846 h 1711235"/>
                <a:gd name="connsiteX6" fmla="*/ 627017 w 752429"/>
                <a:gd name="connsiteY6" fmla="*/ 1711235 h 171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2429" h="1711235">
                  <a:moveTo>
                    <a:pt x="0" y="0"/>
                  </a:moveTo>
                  <a:cubicBezTo>
                    <a:pt x="263434" y="62048"/>
                    <a:pt x="526868" y="124097"/>
                    <a:pt x="574765" y="209006"/>
                  </a:cubicBezTo>
                  <a:cubicBezTo>
                    <a:pt x="622662" y="293915"/>
                    <a:pt x="280851" y="428898"/>
                    <a:pt x="287382" y="509452"/>
                  </a:cubicBezTo>
                  <a:cubicBezTo>
                    <a:pt x="293913" y="590006"/>
                    <a:pt x="590005" y="613955"/>
                    <a:pt x="613954" y="692332"/>
                  </a:cubicBezTo>
                  <a:cubicBezTo>
                    <a:pt x="637903" y="770709"/>
                    <a:pt x="409303" y="892629"/>
                    <a:pt x="431074" y="979715"/>
                  </a:cubicBezTo>
                  <a:cubicBezTo>
                    <a:pt x="452845" y="1066801"/>
                    <a:pt x="711925" y="1092926"/>
                    <a:pt x="744582" y="1214846"/>
                  </a:cubicBezTo>
                  <a:cubicBezTo>
                    <a:pt x="777239" y="1336766"/>
                    <a:pt x="702128" y="1524000"/>
                    <a:pt x="627017" y="1711235"/>
                  </a:cubicBezTo>
                </a:path>
              </a:pathLst>
            </a:cu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9648235" y="4879929"/>
              <a:ext cx="209005" cy="20900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9466438" y="4075611"/>
            <a:ext cx="1702304" cy="2732270"/>
            <a:chOff x="9466438" y="4075611"/>
            <a:chExt cx="1702304" cy="2732270"/>
          </a:xfrm>
        </p:grpSpPr>
        <p:sp>
          <p:nvSpPr>
            <p:cNvPr id="24" name="TextBox 23"/>
            <p:cNvSpPr txBox="1"/>
            <p:nvPr/>
          </p:nvSpPr>
          <p:spPr>
            <a:xfrm>
              <a:off x="9466438" y="5053555"/>
              <a:ext cx="1702304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Signal Handler</a:t>
              </a: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Usually other</a:t>
              </a:r>
              <a:br>
                <a:rPr lang="en-US" dirty="0" smtClean="0"/>
              </a:br>
              <a:r>
                <a:rPr lang="en-US" dirty="0" smtClean="0"/>
                <a:t>signals are blocked</a:t>
              </a:r>
              <a:br>
                <a:rPr lang="en-US" dirty="0" smtClean="0"/>
              </a:br>
              <a:r>
                <a:rPr lang="en-US" dirty="0" smtClean="0"/>
                <a:t>during this time</a:t>
              </a:r>
              <a:endParaRPr lang="en-US" dirty="0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757954" y="4075611"/>
              <a:ext cx="908836" cy="1175658"/>
            </a:xfrm>
            <a:custGeom>
              <a:avLst/>
              <a:gdLst>
                <a:gd name="connsiteX0" fmla="*/ 770709 w 908836"/>
                <a:gd name="connsiteY0" fmla="*/ 1175658 h 1175658"/>
                <a:gd name="connsiteX1" fmla="*/ 849086 w 908836"/>
                <a:gd name="connsiteY1" fmla="*/ 313509 h 1175658"/>
                <a:gd name="connsiteX2" fmla="*/ 0 w 908836"/>
                <a:gd name="connsiteY2" fmla="*/ 0 h 1175658"/>
                <a:gd name="connsiteX3" fmla="*/ 0 w 908836"/>
                <a:gd name="connsiteY3" fmla="*/ 0 h 1175658"/>
                <a:gd name="connsiteX4" fmla="*/ 0 w 908836"/>
                <a:gd name="connsiteY4" fmla="*/ 0 h 117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8836" h="1175658">
                  <a:moveTo>
                    <a:pt x="770709" y="1175658"/>
                  </a:moveTo>
                  <a:cubicBezTo>
                    <a:pt x="874123" y="842555"/>
                    <a:pt x="977537" y="509452"/>
                    <a:pt x="849086" y="313509"/>
                  </a:cubicBezTo>
                  <a:cubicBezTo>
                    <a:pt x="720635" y="117566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126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Signals are used inside the operating system in a rather elaborate way!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 signal is generated when</a:t>
            </a:r>
          </a:p>
          <a:p>
            <a:pPr lvl="1"/>
            <a:r>
              <a:rPr lang="en-US" dirty="0" smtClean="0"/>
              <a:t>Illegal memory access</a:t>
            </a:r>
          </a:p>
          <a:p>
            <a:pPr lvl="1"/>
            <a:r>
              <a:rPr lang="en-US" dirty="0" smtClean="0"/>
              <a:t>Illegal instruction code</a:t>
            </a:r>
          </a:p>
          <a:p>
            <a:pPr lvl="1"/>
            <a:r>
              <a:rPr lang="en-US" dirty="0" smtClean="0"/>
              <a:t>Child exits</a:t>
            </a:r>
          </a:p>
          <a:p>
            <a:pPr lvl="1"/>
            <a:r>
              <a:rPr lang="en-US" dirty="0" smtClean="0"/>
              <a:t>Divide by zero </a:t>
            </a:r>
          </a:p>
          <a:p>
            <a:pPr lvl="1"/>
            <a:r>
              <a:rPr lang="en-US" dirty="0" smtClean="0"/>
              <a:t>Out of some limits</a:t>
            </a:r>
          </a:p>
          <a:p>
            <a:pPr lvl="1"/>
            <a:r>
              <a:rPr lang="en-US" dirty="0" smtClean="0"/>
              <a:t>Process stop/continue/end from user</a:t>
            </a:r>
          </a:p>
          <a:p>
            <a:pPr lvl="1"/>
            <a:r>
              <a:rPr lang="en-US" dirty="0" smtClean="0"/>
              <a:t>SIGUSR1, SIGUSR2</a:t>
            </a:r>
          </a:p>
          <a:p>
            <a:r>
              <a:rPr lang="en-US" dirty="0" smtClean="0"/>
              <a:t>kill(</a:t>
            </a:r>
            <a:r>
              <a:rPr lang="en-US" i="1" dirty="0" err="1" smtClean="0"/>
              <a:t>pid</a:t>
            </a:r>
            <a:r>
              <a:rPr lang="en-US" dirty="0" smtClean="0"/>
              <a:t>, </a:t>
            </a:r>
            <a:r>
              <a:rPr lang="en-US" i="1" dirty="0" err="1" smtClean="0"/>
              <a:t>signum</a:t>
            </a:r>
            <a:r>
              <a:rPr lang="en-US" dirty="0" smtClean="0"/>
              <a:t>)</a:t>
            </a:r>
          </a:p>
          <a:p>
            <a:r>
              <a:rPr lang="en-US" dirty="0" smtClean="0"/>
              <a:t>signal(</a:t>
            </a:r>
            <a:r>
              <a:rPr lang="en-US" i="1" dirty="0" err="1" smtClean="0"/>
              <a:t>signum</a:t>
            </a:r>
            <a:r>
              <a:rPr lang="en-US" dirty="0" smtClean="0"/>
              <a:t>, </a:t>
            </a:r>
            <a:r>
              <a:rPr lang="en-US" i="1" dirty="0" smtClean="0"/>
              <a:t>handler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New alternate </a:t>
            </a:r>
            <a:r>
              <a:rPr lang="en-US" dirty="0" err="1" smtClean="0"/>
              <a:t>sigaction</a:t>
            </a:r>
            <a:r>
              <a:rPr lang="en-US" dirty="0" smtClean="0"/>
              <a:t>()</a:t>
            </a:r>
          </a:p>
          <a:p>
            <a:r>
              <a:rPr lang="en-US" dirty="0" smtClean="0"/>
              <a:t>Command line </a:t>
            </a:r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k</a:t>
            </a:r>
            <a:r>
              <a:rPr lang="en-US" dirty="0" smtClean="0"/>
              <a:t>ill –s SIGUSR1 &lt;</a:t>
            </a:r>
            <a:r>
              <a:rPr lang="en-US" dirty="0" err="1" smtClean="0"/>
              <a:t>pid</a:t>
            </a:r>
            <a:r>
              <a:rPr lang="en-US" dirty="0" smtClean="0"/>
              <a:t>&gt;</a:t>
            </a:r>
          </a:p>
          <a:p>
            <a:pPr lvl="1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SIG_IGN and SIG_DFL handlers</a:t>
            </a:r>
          </a:p>
          <a:p>
            <a:r>
              <a:rPr lang="en-US" dirty="0" smtClean="0"/>
              <a:t>Usually the default handlers do the appropriate thing for each of these. </a:t>
            </a:r>
            <a:endParaRPr lang="en-US" dirty="0"/>
          </a:p>
          <a:p>
            <a:pPr lvl="1"/>
            <a:r>
              <a:rPr lang="en-US" dirty="0" smtClean="0"/>
              <a:t>Exits the program on receiving SIGSEGV</a:t>
            </a:r>
          </a:p>
          <a:p>
            <a:pPr lvl="1"/>
            <a:r>
              <a:rPr lang="en-US" dirty="0" smtClean="0"/>
              <a:t>Ends the process on receiving SIGKILL</a:t>
            </a:r>
          </a:p>
          <a:p>
            <a:r>
              <a:rPr lang="en-US" dirty="0" smtClean="0"/>
              <a:t>SIGKILL and SIGSTOP cant be caught or ignored !</a:t>
            </a:r>
          </a:p>
          <a:p>
            <a:r>
              <a:rPr lang="en-US" dirty="0"/>
              <a:t>Checkout</a:t>
            </a:r>
          </a:p>
          <a:p>
            <a:pPr lvl="1"/>
            <a:r>
              <a:rPr lang="en-US" dirty="0"/>
              <a:t>man signal</a:t>
            </a:r>
          </a:p>
          <a:p>
            <a:pPr lvl="1"/>
            <a:r>
              <a:rPr lang="en-US" dirty="0"/>
              <a:t>kill –</a:t>
            </a:r>
            <a:r>
              <a:rPr lang="en-US" dirty="0" smtClean="0"/>
              <a:t>L</a:t>
            </a:r>
          </a:p>
          <a:p>
            <a:pPr lvl="1"/>
            <a:r>
              <a:rPr lang="en-US" dirty="0" smtClean="0"/>
              <a:t>A negative PID has an interesting meaning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934200" y="6311900"/>
            <a:ext cx="3657600" cy="457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See: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misc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sig.c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8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 Communication methods in OS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Shared memory between processes too</a:t>
            </a:r>
          </a:p>
          <a:p>
            <a:r>
              <a:rPr lang="en-US" dirty="0" smtClean="0"/>
              <a:t>Named Pipes</a:t>
            </a:r>
          </a:p>
          <a:p>
            <a:r>
              <a:rPr lang="en-US" dirty="0" smtClean="0"/>
              <a:t>Message queues</a:t>
            </a:r>
          </a:p>
          <a:p>
            <a:r>
              <a:rPr lang="en-US" dirty="0" smtClean="0"/>
              <a:t>Sockets – can be used between different systems as well.</a:t>
            </a:r>
          </a:p>
          <a:p>
            <a:r>
              <a:rPr lang="en-US" dirty="0" smtClean="0"/>
              <a:t>Signals</a:t>
            </a:r>
          </a:p>
          <a:p>
            <a:r>
              <a:rPr lang="en-US" dirty="0" smtClean="0"/>
              <a:t>We also saw a POSIX standard implementation of several of these.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7000">
              <a:schemeClr val="accent1">
                <a:lumMod val="5000"/>
                <a:lumOff val="95000"/>
              </a:schemeClr>
            </a:gs>
            <a:gs pos="100000">
              <a:srgbClr val="FFFF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125416"/>
            <a:ext cx="10515600" cy="3437060"/>
          </a:xfrm>
        </p:spPr>
        <p:txBody>
          <a:bodyPr>
            <a:normAutofit/>
          </a:bodyPr>
          <a:lstStyle/>
          <a:p>
            <a:r>
              <a:rPr lang="en-US" dirty="0" smtClean="0"/>
              <a:t>This ends the lectures on</a:t>
            </a:r>
            <a:br>
              <a:rPr lang="en-US" dirty="0" smtClean="0"/>
            </a:br>
            <a:r>
              <a:rPr lang="en-US" dirty="0" smtClean="0"/>
              <a:t>Concurrency</a:t>
            </a:r>
            <a:br>
              <a:rPr lang="en-US" dirty="0" smtClean="0"/>
            </a:br>
            <a:r>
              <a:rPr lang="en-US" dirty="0" smtClean="0"/>
              <a:t>Coordination and</a:t>
            </a:r>
            <a:br>
              <a:rPr lang="en-US" dirty="0" smtClean="0"/>
            </a:br>
            <a:r>
              <a:rPr lang="en-US" dirty="0" smtClean="0"/>
              <a:t>Communication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34209</TotalTime>
  <Words>4370</Words>
  <Application>Microsoft Office PowerPoint</Application>
  <PresentationFormat>Widescreen</PresentationFormat>
  <Paragraphs>778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Arial</vt:lpstr>
      <vt:lpstr>Arial Rounded MT Bold</vt:lpstr>
      <vt:lpstr>Bradley Hand ITC</vt:lpstr>
      <vt:lpstr>Calibri</vt:lpstr>
      <vt:lpstr>Calibri Light</vt:lpstr>
      <vt:lpstr>Courier New</vt:lpstr>
      <vt:lpstr>Georgia</vt:lpstr>
      <vt:lpstr>Times New Roman</vt:lpstr>
      <vt:lpstr>Wingdings</vt:lpstr>
      <vt:lpstr>Office Theme</vt:lpstr>
      <vt:lpstr>Concurrency, Coordination and Communication</vt:lpstr>
      <vt:lpstr>Sources of Concurrency</vt:lpstr>
      <vt:lpstr>Sources of Concurrency in Operating Systems</vt:lpstr>
      <vt:lpstr>The concept of ‘threads’ and an example with Linux pthreads library functions.</vt:lpstr>
      <vt:lpstr>Concurrency with Threads (as opposed to processes)</vt:lpstr>
      <vt:lpstr>Processes and threads – creating and using threads in practice</vt:lpstr>
      <vt:lpstr>pthread library functions create and join</vt:lpstr>
      <vt:lpstr>A few notes about pthread_ calls we saw</vt:lpstr>
      <vt:lpstr>So concurrency can happen with processes or threads</vt:lpstr>
      <vt:lpstr>Processes and threads working collaboratively and concurrently</vt:lpstr>
      <vt:lpstr>Challenges in dealing with concurrency - Races and Deadlocks</vt:lpstr>
      <vt:lpstr>Concurrency can create its own issues</vt:lpstr>
      <vt:lpstr>Another example of race</vt:lpstr>
      <vt:lpstr>The problems of concurrency – Races and Deadlocks</vt:lpstr>
      <vt:lpstr>Coordination of Concurrency  … so as to avoid races and deadlocks</vt:lpstr>
      <vt:lpstr>Notion of a Critical Section and Mutual Exclusion</vt:lpstr>
      <vt:lpstr>Important</vt:lpstr>
      <vt:lpstr>Implementing the lock() and unclock() operations</vt:lpstr>
      <vt:lpstr>A Proposed locking code – Aim is that at most one process is in the CS at any time</vt:lpstr>
      <vt:lpstr>Peterson’s Algorithm</vt:lpstr>
      <vt:lpstr>Hardware support: Test and Set</vt:lpstr>
      <vt:lpstr>Avoiding the busy loop</vt:lpstr>
      <vt:lpstr>A practical example in the pthreads library: Mutual Exclusion using a mutex.</vt:lpstr>
      <vt:lpstr>Mutexes, Condition Variables, Semaphores</vt:lpstr>
      <vt:lpstr>Typical usage</vt:lpstr>
      <vt:lpstr>Mutex ensures locking  but sometimes we want conditional locking</vt:lpstr>
      <vt:lpstr>Condition Variables</vt:lpstr>
      <vt:lpstr>Synchronization with mutexes and conditional variables – a template supported by pthreads</vt:lpstr>
      <vt:lpstr>Semaphore – A more general solution:</vt:lpstr>
      <vt:lpstr>Implementing sem_wait and sem_post atomically</vt:lpstr>
      <vt:lpstr>Example: The (multi) producer-consumer problem</vt:lpstr>
      <vt:lpstr>A PC problem solution that combines Mutexes and POSIX Semaphores</vt:lpstr>
      <vt:lpstr>Aside: Shared memory among processes</vt:lpstr>
      <vt:lpstr>Processes and semaphores and Linux</vt:lpstr>
      <vt:lpstr>Semaphore can be used as a mutex too!</vt:lpstr>
      <vt:lpstr>Monitors:  A high level abstraction</vt:lpstr>
      <vt:lpstr>Deadlocks</vt:lpstr>
      <vt:lpstr>Example: Dining Philosophers’ Problem</vt:lpstr>
      <vt:lpstr>Solving deadlock problems in OS</vt:lpstr>
      <vt:lpstr>Deadlock conditions formally</vt:lpstr>
      <vt:lpstr>Summary about Concurrency and Coordination</vt:lpstr>
      <vt:lpstr>Now more about communication</vt:lpstr>
      <vt:lpstr>Shared memory between processes on the same OS instance</vt:lpstr>
      <vt:lpstr>POSIX interface for shared memory ops</vt:lpstr>
      <vt:lpstr>Communication without shared space</vt:lpstr>
      <vt:lpstr>Pipes and named pipes</vt:lpstr>
      <vt:lpstr>Named-Pipes (contd.)</vt:lpstr>
      <vt:lpstr>Message queues</vt:lpstr>
      <vt:lpstr>POSIX Message Queues</vt:lpstr>
      <vt:lpstr>Why “POSIX”  ?</vt:lpstr>
      <vt:lpstr>Sockets</vt:lpstr>
      <vt:lpstr>Communication between processes via sockets</vt:lpstr>
      <vt:lpstr>Socket: Communication by send() and recv()</vt:lpstr>
      <vt:lpstr>The internet socket endpoints</vt:lpstr>
      <vt:lpstr>Aside: A little experiment to understand this</vt:lpstr>
      <vt:lpstr>Socket: Understanding a socket file descriptor</vt:lpstr>
      <vt:lpstr>Focus for this study: a TCP connection</vt:lpstr>
      <vt:lpstr>Big Picture of a Sample TCP connection </vt:lpstr>
      <vt:lpstr>Socket: Process – Server side for a SOCK_STEAM</vt:lpstr>
      <vt:lpstr>Socket: Process – Server side for a SOCK_STEAM (contd…)</vt:lpstr>
      <vt:lpstr>Socket: Process – Client side for a SOCK_STEAM</vt:lpstr>
      <vt:lpstr>Simple server             vs       concurrent server</vt:lpstr>
      <vt:lpstr>Examples on github</vt:lpstr>
      <vt:lpstr>Sockets… there is more</vt:lpstr>
      <vt:lpstr>Signals as a way to communicate</vt:lpstr>
      <vt:lpstr>Signals are used inside the operating system in a rather elaborate way!</vt:lpstr>
      <vt:lpstr>Summary: Communication methods in OS</vt:lpstr>
      <vt:lpstr>This ends the lectures on Concurrency Coordination and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 Process Communications (IPC)</dc:title>
  <dc:creator>Badrinath R</dc:creator>
  <cp:lastModifiedBy>Badrinath R</cp:lastModifiedBy>
  <cp:revision>279</cp:revision>
  <dcterms:created xsi:type="dcterms:W3CDTF">2022-02-23T13:15:58Z</dcterms:created>
  <dcterms:modified xsi:type="dcterms:W3CDTF">2025-04-15T16:19:27Z</dcterms:modified>
</cp:coreProperties>
</file>