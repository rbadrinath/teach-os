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64" r:id="rId4"/>
    <p:sldId id="261" r:id="rId5"/>
    <p:sldId id="263" r:id="rId6"/>
    <p:sldId id="265" r:id="rId7"/>
    <p:sldId id="278" r:id="rId8"/>
    <p:sldId id="274" r:id="rId9"/>
    <p:sldId id="257" r:id="rId10"/>
    <p:sldId id="267" r:id="rId11"/>
    <p:sldId id="268" r:id="rId12"/>
    <p:sldId id="276" r:id="rId13"/>
    <p:sldId id="269" r:id="rId14"/>
    <p:sldId id="270" r:id="rId15"/>
    <p:sldId id="275" r:id="rId16"/>
    <p:sldId id="277" r:id="rId17"/>
    <p:sldId id="279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B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56" autoAdjust="0"/>
    <p:restoredTop sz="94280" autoAdjust="0"/>
  </p:normalViewPr>
  <p:slideViewPr>
    <p:cSldViewPr snapToGrid="0">
      <p:cViewPr varScale="1">
        <p:scale>
          <a:sx n="68" d="100"/>
          <a:sy n="68" d="100"/>
        </p:scale>
        <p:origin x="882" y="72"/>
      </p:cViewPr>
      <p:guideLst/>
    </p:cSldViewPr>
  </p:slideViewPr>
  <p:outlineViewPr>
    <p:cViewPr>
      <p:scale>
        <a:sx n="33" d="100"/>
        <a:sy n="33" d="100"/>
      </p:scale>
      <p:origin x="0" y="-54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E827B-1134-477F-A8CA-E2AA6A762FDF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796A-9401-449F-83B2-B6D7ADBF7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0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61796A-9401-449F-83B2-B6D7ADBF78D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1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4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02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18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9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0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8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84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9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6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E8080-5087-4A72-AEBF-01E3730C35F4}" type="datetimeFigureOut">
              <a:rPr lang="en-US" smtClean="0"/>
              <a:t>03-May-25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DA99B-63D5-40D2-84C1-B55F2F6BA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8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Miscellaneous topics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4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Resources, limits and notions of time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7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via resource limits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Permission related </a:t>
            </a:r>
            <a:r>
              <a:rPr lang="en-US" b="1" dirty="0" smtClean="0"/>
              <a:t>security</a:t>
            </a:r>
            <a:r>
              <a:rPr lang="en-US" dirty="0" smtClean="0"/>
              <a:t>: (</a:t>
            </a:r>
            <a:r>
              <a:rPr lang="en-US" dirty="0" err="1" smtClean="0"/>
              <a:t>rwx</a:t>
            </a:r>
            <a:r>
              <a:rPr lang="en-US" dirty="0" smtClean="0"/>
              <a:t>, user, group)</a:t>
            </a:r>
          </a:p>
          <a:p>
            <a:pPr lvl="1"/>
            <a:r>
              <a:rPr lang="en-US" dirty="0" smtClean="0"/>
              <a:t>Processes are created associated with users and groups</a:t>
            </a:r>
          </a:p>
          <a:p>
            <a:pPr lvl="1"/>
            <a:r>
              <a:rPr lang="en-US" dirty="0" smtClean="0"/>
              <a:t>Paging system and filesystem provide their own way of protection. 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hared IPC resources  - semaphores, shared memory, named pipes </a:t>
            </a:r>
            <a:r>
              <a:rPr lang="en-US" dirty="0" err="1" smtClean="0"/>
              <a:t>etc</a:t>
            </a:r>
            <a:r>
              <a:rPr lang="en-US" dirty="0" smtClean="0"/>
              <a:t> provide user control on the permissions of the resource they create.</a:t>
            </a:r>
          </a:p>
          <a:p>
            <a:r>
              <a:rPr lang="en-US" dirty="0" smtClean="0"/>
              <a:t>Limits related </a:t>
            </a:r>
            <a:r>
              <a:rPr lang="en-US" b="1" dirty="0" smtClean="0"/>
              <a:t>safety</a:t>
            </a:r>
          </a:p>
          <a:p>
            <a:pPr lvl="1"/>
            <a:r>
              <a:rPr lang="en-US" dirty="0" smtClean="0"/>
              <a:t>So that no single user or process runs away with all the available resources, we have </a:t>
            </a:r>
            <a:r>
              <a:rPr lang="en-US" b="1" dirty="0" smtClean="0"/>
              <a:t>per user </a:t>
            </a:r>
            <a:r>
              <a:rPr lang="en-US" dirty="0" smtClean="0"/>
              <a:t>and </a:t>
            </a:r>
            <a:r>
              <a:rPr lang="en-US" b="1" dirty="0" smtClean="0"/>
              <a:t>per process </a:t>
            </a:r>
            <a:r>
              <a:rPr lang="en-US" dirty="0" smtClean="0"/>
              <a:t>limits.</a:t>
            </a:r>
          </a:p>
          <a:p>
            <a:pPr lvl="1"/>
            <a:r>
              <a:rPr lang="en-US" dirty="0" smtClean="0"/>
              <a:t>There are also </a:t>
            </a:r>
            <a:r>
              <a:rPr lang="en-US" b="1" dirty="0" smtClean="0"/>
              <a:t>system wide configurations</a:t>
            </a:r>
            <a:r>
              <a:rPr lang="en-US" dirty="0" smtClean="0"/>
              <a:t>. These are sometimes just constants that are worth knowing and some times they are limits to make sure the system stays within operating range so it behaves well.</a:t>
            </a:r>
          </a:p>
        </p:txBody>
      </p:sp>
    </p:spTree>
    <p:extLst>
      <p:ext uri="{BB962C8B-B14F-4D97-AF65-F5344CB8AC3E}">
        <p14:creationId xmlns:p14="http://schemas.microsoft.com/office/powerpoint/2010/main" val="292729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Resource limits and usage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/>
              <a:t>ulimit</a:t>
            </a:r>
            <a:r>
              <a:rPr lang="en-US" sz="2400" i="1" dirty="0" smtClean="0"/>
              <a:t> [-a]     </a:t>
            </a:r>
            <a:r>
              <a:rPr lang="en-US" sz="2400" dirty="0" smtClean="0"/>
              <a:t>or  </a:t>
            </a:r>
            <a:r>
              <a:rPr lang="en-US" sz="2400" i="1" dirty="0" err="1" smtClean="0"/>
              <a:t>getrlimit</a:t>
            </a:r>
            <a:r>
              <a:rPr lang="en-US" sz="2400" i="1" dirty="0" smtClean="0"/>
              <a:t>() </a:t>
            </a:r>
            <a:r>
              <a:rPr lang="en-US" sz="2400" dirty="0" smtClean="0"/>
              <a:t>: Per process limits; hard and soft limits</a:t>
            </a:r>
          </a:p>
          <a:p>
            <a:r>
              <a:rPr lang="en-US" sz="2400" i="1" dirty="0" err="1"/>
              <a:t>g</a:t>
            </a:r>
            <a:r>
              <a:rPr lang="en-US" sz="2400" i="1" dirty="0" err="1" smtClean="0"/>
              <a:t>etrusage</a:t>
            </a:r>
            <a:r>
              <a:rPr lang="en-US" sz="2400" i="1" dirty="0" smtClean="0"/>
              <a:t>() </a:t>
            </a:r>
            <a:r>
              <a:rPr lang="en-US" sz="2400" dirty="0" smtClean="0"/>
              <a:t>… info on actual usage,</a:t>
            </a:r>
          </a:p>
          <a:p>
            <a:pPr lvl="1"/>
            <a:r>
              <a:rPr lang="en-US" dirty="0" smtClean="0"/>
              <a:t>Includes interesting dynamic behavior counters </a:t>
            </a:r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02" y="2585748"/>
            <a:ext cx="9443395" cy="471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wide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/>
              <a:t>getconf</a:t>
            </a:r>
            <a:r>
              <a:rPr lang="en-US" i="1" dirty="0" smtClean="0"/>
              <a:t> [-a]  </a:t>
            </a:r>
            <a:r>
              <a:rPr lang="en-US" dirty="0" smtClean="0"/>
              <a:t>or </a:t>
            </a:r>
            <a:r>
              <a:rPr lang="en-US" i="1" dirty="0" err="1" smtClean="0"/>
              <a:t>sysconf</a:t>
            </a:r>
            <a:r>
              <a:rPr lang="en-US" i="1" dirty="0" smtClean="0"/>
              <a:t>() </a:t>
            </a:r>
            <a:r>
              <a:rPr lang="en-US" dirty="0" smtClean="0"/>
              <a:t>: System wide configurations</a:t>
            </a:r>
          </a:p>
          <a:p>
            <a:r>
              <a:rPr lang="en-US" dirty="0" smtClean="0"/>
              <a:t>See example in</a:t>
            </a:r>
            <a:r>
              <a:rPr lang="en-US" i="1" dirty="0" smtClean="0"/>
              <a:t> </a:t>
            </a:r>
            <a:r>
              <a:rPr lang="en-US" i="1" dirty="0" err="1" smtClean="0"/>
              <a:t>misc</a:t>
            </a:r>
            <a:r>
              <a:rPr lang="en-US" i="1" dirty="0" smtClean="0"/>
              <a:t>/</a:t>
            </a:r>
            <a:r>
              <a:rPr lang="en-US" i="1" dirty="0" err="1" smtClean="0"/>
              <a:t>showlim.c</a:t>
            </a:r>
            <a:r>
              <a:rPr lang="en-US" i="1" dirty="0" smtClean="0"/>
              <a:t> </a:t>
            </a:r>
            <a:r>
              <a:rPr lang="en-US" dirty="0" smtClean="0"/>
              <a:t>for both </a:t>
            </a:r>
            <a:r>
              <a:rPr lang="en-US" i="1" dirty="0" err="1" smtClean="0"/>
              <a:t>getrusage</a:t>
            </a:r>
            <a:r>
              <a:rPr lang="en-US" i="1" dirty="0" smtClean="0"/>
              <a:t>() </a:t>
            </a:r>
            <a:r>
              <a:rPr lang="en-US" dirty="0" smtClean="0"/>
              <a:t>and </a:t>
            </a:r>
            <a:r>
              <a:rPr lang="en-US" i="1" dirty="0" err="1" smtClean="0"/>
              <a:t>sysconf</a:t>
            </a:r>
            <a:r>
              <a:rPr lang="en-US" i="1" dirty="0" smtClean="0"/>
              <a:t>().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time, User time, Real(wall clock)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Measuring Time</a:t>
            </a:r>
          </a:p>
          <a:p>
            <a:r>
              <a:rPr lang="en-US" i="1" dirty="0" smtClean="0"/>
              <a:t>“time</a:t>
            </a:r>
            <a:r>
              <a:rPr lang="en-US" dirty="0" smtClean="0"/>
              <a:t> </a:t>
            </a:r>
            <a:r>
              <a:rPr lang="en-US" i="1" dirty="0" smtClean="0"/>
              <a:t>&lt;command&gt;”   </a:t>
            </a:r>
            <a:r>
              <a:rPr lang="en-US" dirty="0" smtClean="0"/>
              <a:t>to see the amount of time spent consumed by the execution of &lt;command&gt;… real time, user mode time, kernel mode time</a:t>
            </a:r>
          </a:p>
          <a:p>
            <a:r>
              <a:rPr lang="en-US" dirty="0" smtClean="0"/>
              <a:t>We can also get this with </a:t>
            </a:r>
            <a:r>
              <a:rPr lang="en-US" i="1" dirty="0" err="1" smtClean="0"/>
              <a:t>getrusage</a:t>
            </a:r>
            <a:r>
              <a:rPr lang="en-US" i="1" dirty="0" smtClean="0"/>
              <a:t>()</a:t>
            </a:r>
          </a:p>
          <a:p>
            <a:r>
              <a:rPr lang="en-US" dirty="0" smtClean="0"/>
              <a:t>See a simple example with a command line “</a:t>
            </a:r>
            <a:r>
              <a:rPr lang="en-US" i="1" dirty="0" smtClean="0"/>
              <a:t>time</a:t>
            </a:r>
            <a:r>
              <a:rPr lang="en-US" dirty="0" smtClean="0"/>
              <a:t>” and </a:t>
            </a:r>
            <a:r>
              <a:rPr lang="en-US" i="1" dirty="0" err="1" smtClean="0"/>
              <a:t>procs</a:t>
            </a:r>
            <a:r>
              <a:rPr lang="en-US" i="1" dirty="0" smtClean="0"/>
              <a:t>/</a:t>
            </a:r>
            <a:r>
              <a:rPr lang="en-US" i="1" dirty="0" err="1" smtClean="0"/>
              <a:t>loopy.c</a:t>
            </a:r>
            <a:endParaRPr lang="en-US" i="1" dirty="0" smtClean="0"/>
          </a:p>
          <a:p>
            <a:r>
              <a:rPr lang="en-US" dirty="0" smtClean="0"/>
              <a:t>You can also get the time of the day using</a:t>
            </a:r>
            <a:r>
              <a:rPr lang="en-US" i="1" dirty="0" smtClean="0"/>
              <a:t> </a:t>
            </a:r>
            <a:r>
              <a:rPr lang="en-US" i="1" dirty="0" err="1" smtClean="0"/>
              <a:t>gettimeofday</a:t>
            </a:r>
            <a:r>
              <a:rPr lang="en-US" i="1" dirty="0" smtClean="0"/>
              <a:t>() </a:t>
            </a:r>
            <a:r>
              <a:rPr lang="en-US" dirty="0" smtClean="0"/>
              <a:t>– </a:t>
            </a:r>
            <a:r>
              <a:rPr lang="el-GR" dirty="0" smtClean="0"/>
              <a:t>μ</a:t>
            </a:r>
            <a:r>
              <a:rPr lang="en-US" dirty="0" smtClean="0"/>
              <a:t>sec level time</a:t>
            </a:r>
            <a:r>
              <a:rPr lang="en-US" i="1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Count Down Timers</a:t>
            </a:r>
            <a:endParaRPr lang="en-US" b="1" dirty="0"/>
          </a:p>
          <a:p>
            <a:r>
              <a:rPr lang="en-US" dirty="0" smtClean="0"/>
              <a:t>It is also possible to get a signal and be notified when a certain amount of time has elapsed</a:t>
            </a:r>
          </a:p>
          <a:p>
            <a:pPr lvl="1"/>
            <a:r>
              <a:rPr lang="en-US" i="1" dirty="0" smtClean="0"/>
              <a:t>alarm(&lt;time&gt;); </a:t>
            </a:r>
            <a:r>
              <a:rPr lang="en-US" dirty="0" smtClean="0"/>
              <a:t>sets SIGALRM</a:t>
            </a:r>
          </a:p>
          <a:p>
            <a:pPr lvl="1"/>
            <a:r>
              <a:rPr lang="en-US" i="1" dirty="0" err="1"/>
              <a:t>s</a:t>
            </a:r>
            <a:r>
              <a:rPr lang="en-US" i="1" dirty="0" err="1" smtClean="0"/>
              <a:t>etitimer</a:t>
            </a:r>
            <a:r>
              <a:rPr lang="en-US" i="1" dirty="0" smtClean="0"/>
              <a:t>()  </a:t>
            </a:r>
            <a:r>
              <a:rPr lang="en-US" dirty="0" smtClean="0"/>
              <a:t>sets alarms separately for user mode/ system mode / wall clock</a:t>
            </a:r>
          </a:p>
          <a:p>
            <a:pPr lvl="2"/>
            <a:r>
              <a:rPr lang="en-US" dirty="0" smtClean="0"/>
              <a:t>Distinguishes the system, user and real times</a:t>
            </a:r>
          </a:p>
          <a:p>
            <a:pPr lvl="2"/>
            <a:r>
              <a:rPr lang="en-US" i="1" dirty="0" err="1" smtClean="0"/>
              <a:t>getitimer</a:t>
            </a:r>
            <a:r>
              <a:rPr lang="en-US" i="1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3410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Doing things regularly at the OS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cron</a:t>
            </a:r>
            <a:r>
              <a:rPr lang="en-US" dirty="0" smtClean="0"/>
              <a:t> is a daemon process. It becomes active every minute.</a:t>
            </a:r>
          </a:p>
          <a:p>
            <a:r>
              <a:rPr lang="en-US" dirty="0" smtClean="0"/>
              <a:t>When it is active it inspects some files with specific information:</a:t>
            </a:r>
          </a:p>
          <a:p>
            <a:r>
              <a:rPr lang="en-US" dirty="0" smtClean="0"/>
              <a:t>An example of such a file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crontab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/>
              <a:t>The file contains lines each with two parts</a:t>
            </a:r>
          </a:p>
          <a:p>
            <a:pPr lvl="1"/>
            <a:r>
              <a:rPr lang="en-US" dirty="0" smtClean="0"/>
              <a:t>A time specification,   and </a:t>
            </a:r>
          </a:p>
          <a:p>
            <a:pPr lvl="1"/>
            <a:r>
              <a:rPr lang="en-US" dirty="0" smtClean="0"/>
              <a:t>A command to execute</a:t>
            </a:r>
          </a:p>
          <a:p>
            <a:r>
              <a:rPr lang="en-US" dirty="0" smtClean="0"/>
              <a:t>If  </a:t>
            </a:r>
            <a:r>
              <a:rPr lang="en-US" dirty="0"/>
              <a:t>a </a:t>
            </a:r>
            <a:r>
              <a:rPr lang="en-US" dirty="0" smtClean="0"/>
              <a:t>time spec matches the current time, then it executes the corresponding command</a:t>
            </a:r>
          </a:p>
          <a:p>
            <a:r>
              <a:rPr lang="en-US" dirty="0" smtClean="0"/>
              <a:t>See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crontab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and 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man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cron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for detailed information</a:t>
            </a:r>
          </a:p>
          <a:p>
            <a:r>
              <a:rPr lang="en-US" dirty="0" smtClean="0"/>
              <a:t>It also logs the commands executed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7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Beyond the kind of OS we studied so far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2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Structurally different: Monolithic vs microkernel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Thus far we have only seen kernels like UNIX or windows</a:t>
            </a:r>
          </a:p>
          <a:p>
            <a:pPr lvl="1"/>
            <a:r>
              <a:rPr lang="en-US" dirty="0" smtClean="0"/>
              <a:t>The filesystem, memory management, process management, IPC are all implemented in the kernel. These are called </a:t>
            </a:r>
            <a:r>
              <a:rPr lang="en-US" b="1" dirty="0" smtClean="0"/>
              <a:t>monolithic</a:t>
            </a:r>
            <a:r>
              <a:rPr lang="en-US" dirty="0" smtClean="0"/>
              <a:t> kernels.</a:t>
            </a:r>
          </a:p>
          <a:p>
            <a:pPr lvl="1"/>
            <a:r>
              <a:rPr lang="en-US" dirty="0" smtClean="0"/>
              <a:t>Quite a lot of code.</a:t>
            </a:r>
            <a:endParaRPr lang="en-US" dirty="0"/>
          </a:p>
          <a:p>
            <a:r>
              <a:rPr lang="en-US" dirty="0" smtClean="0"/>
              <a:t>However there is philosophy which says the lesser the kernel the better.</a:t>
            </a:r>
          </a:p>
          <a:p>
            <a:pPr lvl="1"/>
            <a:r>
              <a:rPr lang="en-US" dirty="0" smtClean="0"/>
              <a:t>Interrupt/ exception handling, Scheduling, memory management, some IPC, some hardware control are considered “core”.</a:t>
            </a:r>
          </a:p>
          <a:p>
            <a:pPr lvl="1"/>
            <a:r>
              <a:rPr lang="en-US" dirty="0" smtClean="0"/>
              <a:t>The rest can possibly be implemented in user level as services.</a:t>
            </a:r>
          </a:p>
          <a:p>
            <a:pPr lvl="1"/>
            <a:r>
              <a:rPr lang="en-US" dirty="0" smtClean="0"/>
              <a:t>This is called a </a:t>
            </a:r>
            <a:r>
              <a:rPr lang="en-US" b="1" dirty="0" smtClean="0"/>
              <a:t>microkernel</a:t>
            </a:r>
            <a:r>
              <a:rPr lang="en-US" dirty="0" smtClean="0"/>
              <a:t> architecture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0401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idx="1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The OS is implemented as a bunch of services in the user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Some kernel level support is needed anyway to communicate with hardware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Also kernel support needed for scheduling, interrupt handling, IO, etc.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43" y="987425"/>
            <a:ext cx="6950434" cy="435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617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vs Microkernels - Pros and Cons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Monolithic OS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Arch: Single large kernel</a:t>
            </a:r>
            <a:endParaRPr lang="en-US" dirty="0"/>
          </a:p>
          <a:p>
            <a:r>
              <a:rPr lang="en-US" dirty="0" smtClean="0"/>
              <a:t>Pro – High performance</a:t>
            </a:r>
          </a:p>
          <a:p>
            <a:r>
              <a:rPr lang="en-US" dirty="0" smtClean="0"/>
              <a:t>Pro – ease of communication</a:t>
            </a:r>
          </a:p>
          <a:p>
            <a:r>
              <a:rPr lang="en-US" dirty="0" smtClean="0"/>
              <a:t>Pro – driver subsystems close to Hardware</a:t>
            </a:r>
          </a:p>
          <a:p>
            <a:r>
              <a:rPr lang="en-US" dirty="0" smtClean="0"/>
              <a:t>Con – one bug can require the whole system to be restarted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Microkernel OS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Arch: Small kernel + System services(User mode)</a:t>
            </a:r>
          </a:p>
          <a:p>
            <a:r>
              <a:rPr lang="en-US" dirty="0" smtClean="0"/>
              <a:t>Pro – Modular design – a bug/ security issue/ hang  in one subsystem, doesn’t effect the other</a:t>
            </a:r>
          </a:p>
          <a:p>
            <a:r>
              <a:rPr lang="en-US" dirty="0" smtClean="0"/>
              <a:t>Con – overhead to communicate to HW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51163" y="6040582"/>
            <a:ext cx="10266219" cy="6511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Reality – people have decided to create more modular code within monolithic systems – Windows NT/ ; </a:t>
            </a:r>
            <a:r>
              <a:rPr lang="en-US" dirty="0" err="1" smtClean="0"/>
              <a:t>MacOS</a:t>
            </a:r>
            <a:r>
              <a:rPr lang="en-US" dirty="0" smtClean="0"/>
              <a:t>(XNU) – these are called hybrid OSes.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80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Functionally </a:t>
            </a:r>
            <a:r>
              <a:rPr lang="en-US" dirty="0" smtClean="0"/>
              <a:t>different / with different emphasis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Embedded</a:t>
            </a:r>
            <a:r>
              <a:rPr lang="en-US" dirty="0"/>
              <a:t> </a:t>
            </a:r>
            <a:r>
              <a:rPr lang="en-US" dirty="0" smtClean="0"/>
              <a:t>systems and real time OS</a:t>
            </a:r>
          </a:p>
          <a:p>
            <a:r>
              <a:rPr lang="en-US" dirty="0" smtClean="0"/>
              <a:t>Application specific optimizations, </a:t>
            </a:r>
            <a:r>
              <a:rPr lang="en-US" dirty="0" err="1" smtClean="0"/>
              <a:t>eg</a:t>
            </a:r>
            <a:r>
              <a:rPr lang="en-US" dirty="0" smtClean="0"/>
              <a:t> HPC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20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move to embedded systems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Systems for controlling – Pacemakers, Critical use robotics, reactor control, etc.</a:t>
            </a:r>
          </a:p>
          <a:p>
            <a:r>
              <a:rPr lang="en-US" dirty="0" smtClean="0"/>
              <a:t>Early embedded systems did not have any operating systems</a:t>
            </a:r>
          </a:p>
          <a:p>
            <a:r>
              <a:rPr lang="en-US" dirty="0" smtClean="0"/>
              <a:t>The scheduler, filesystem, IPC and all the other code were considered </a:t>
            </a:r>
            <a:r>
              <a:rPr lang="en-US" b="1" dirty="0" smtClean="0"/>
              <a:t>overheads</a:t>
            </a:r>
            <a:r>
              <a:rPr lang="en-US" dirty="0" smtClean="0"/>
              <a:t> since embedded systems did a predetermined set of things.</a:t>
            </a:r>
          </a:p>
          <a:p>
            <a:r>
              <a:rPr lang="en-US" dirty="0" smtClean="0"/>
              <a:t>Also embedded systems may be </a:t>
            </a:r>
            <a:r>
              <a:rPr lang="en-US" b="1" dirty="0" smtClean="0"/>
              <a:t>real-time</a:t>
            </a:r>
            <a:r>
              <a:rPr lang="en-US" dirty="0" smtClean="0"/>
              <a:t>. Which means something like round-robin intended to improve overall metrics like average turn around time, does not meet specific limits for an individual task.</a:t>
            </a:r>
          </a:p>
          <a:p>
            <a:r>
              <a:rPr lang="en-US" dirty="0" smtClean="0"/>
              <a:t>So the </a:t>
            </a:r>
            <a:r>
              <a:rPr lang="en-US" b="1" dirty="0" smtClean="0"/>
              <a:t>general purpose OS (GPOS) </a:t>
            </a:r>
            <a:r>
              <a:rPr lang="en-US" dirty="0" smtClean="0"/>
              <a:t>like Windows or UNIX was considered not ideal for embedded systems</a:t>
            </a:r>
          </a:p>
          <a:p>
            <a:r>
              <a:rPr lang="en-US" dirty="0" smtClean="0"/>
              <a:t>Applications were programmed directly on the microcontroller with no OS.</a:t>
            </a:r>
          </a:p>
        </p:txBody>
      </p:sp>
    </p:spTree>
    <p:extLst>
      <p:ext uri="{BB962C8B-B14F-4D97-AF65-F5344CB8AC3E}">
        <p14:creationId xmlns:p14="http://schemas.microsoft.com/office/powerpoint/2010/main" val="153813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Time OS (RTOS)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while real time systems found the OS to be unsuitable, their complexity grew too – multiple threads/ synchronization etc., making a need for some software infrastructure different from the GPOS.</a:t>
            </a:r>
          </a:p>
          <a:p>
            <a:r>
              <a:rPr lang="en-US" dirty="0" smtClean="0"/>
              <a:t>This motivated the birth of RTOS</a:t>
            </a:r>
          </a:p>
          <a:p>
            <a:r>
              <a:rPr lang="en-US" dirty="0" smtClean="0"/>
              <a:t>Here the programmer has a lot more </a:t>
            </a:r>
            <a:r>
              <a:rPr lang="en-US" b="1" dirty="0" smtClean="0"/>
              <a:t>control of the scheduling </a:t>
            </a:r>
            <a:r>
              <a:rPr lang="en-US" dirty="0" smtClean="0"/>
              <a:t>of threads, memory mapping </a:t>
            </a:r>
            <a:r>
              <a:rPr lang="en-US" dirty="0" err="1" smtClean="0"/>
              <a:t>etc</a:t>
            </a:r>
            <a:r>
              <a:rPr lang="en-US" dirty="0" smtClean="0"/>
              <a:t>, to get time bound execution of tasks.</a:t>
            </a:r>
          </a:p>
          <a:p>
            <a:r>
              <a:rPr lang="en-US" dirty="0" smtClean="0"/>
              <a:t>Often these have </a:t>
            </a:r>
            <a:r>
              <a:rPr lang="en-US" b="1" dirty="0" smtClean="0"/>
              <a:t>much smaller space </a:t>
            </a:r>
            <a:r>
              <a:rPr lang="en-US" dirty="0" smtClean="0"/>
              <a:t>consumption than GPOS.</a:t>
            </a:r>
          </a:p>
          <a:p>
            <a:r>
              <a:rPr lang="en-US" b="1" dirty="0" smtClean="0"/>
              <a:t>Lower overheads</a:t>
            </a:r>
            <a:r>
              <a:rPr lang="en-US" dirty="0" smtClean="0"/>
              <a:t>, </a:t>
            </a:r>
            <a:r>
              <a:rPr lang="en-US" b="1" dirty="0" smtClean="0"/>
              <a:t>highly tunable</a:t>
            </a:r>
            <a:r>
              <a:rPr lang="en-US" dirty="0" smtClean="0"/>
              <a:t>.</a:t>
            </a:r>
          </a:p>
          <a:p>
            <a:r>
              <a:rPr lang="en-US" dirty="0"/>
              <a:t>Examples include </a:t>
            </a:r>
            <a:r>
              <a:rPr lang="en-US" dirty="0" err="1"/>
              <a:t>Contiki</a:t>
            </a:r>
            <a:r>
              <a:rPr lang="en-US" dirty="0"/>
              <a:t> OS and </a:t>
            </a:r>
            <a:r>
              <a:rPr lang="en-US" dirty="0" err="1"/>
              <a:t>FreeRTOS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8344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 for Large scale computing / High Performance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4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Processes, Process Groups, session, session leader, </a:t>
            </a:r>
            <a:r>
              <a:rPr lang="en-US" dirty="0" err="1" smtClean="0"/>
              <a:t>tty</a:t>
            </a:r>
            <a:r>
              <a:rPr lang="en-US" dirty="0" smtClean="0"/>
              <a:t>, foreground process-group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$ ./loopy busy &amp;</a:t>
            </a:r>
            <a:br>
              <a:rPr lang="en-US" dirty="0" smtClean="0"/>
            </a:br>
            <a:r>
              <a:rPr lang="en-US" dirty="0" smtClean="0"/>
              <a:t>$ ./loopy busy &amp;</a:t>
            </a:r>
            <a:br>
              <a:rPr lang="en-US" dirty="0" smtClean="0"/>
            </a:br>
            <a:r>
              <a:rPr lang="en-US" dirty="0" smtClean="0"/>
              <a:t>$ </a:t>
            </a:r>
            <a:r>
              <a:rPr lang="en-US" dirty="0" smtClean="0">
                <a:solidFill>
                  <a:schemeClr val="accent1"/>
                </a:solidFill>
              </a:rPr>
              <a:t>sort | more                                       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Notice all these are running, not yet done.</a:t>
            </a:r>
          </a:p>
          <a:p>
            <a:pPr marL="0" indent="0">
              <a:buNone/>
            </a:pPr>
            <a:r>
              <a:rPr lang="en-US" dirty="0" smtClean="0"/>
              <a:t>….</a:t>
            </a:r>
          </a:p>
          <a:p>
            <a:pPr marL="0" indent="0">
              <a:buNone/>
            </a:pPr>
            <a:r>
              <a:rPr lang="en-US" dirty="0" smtClean="0"/>
              <a:t>On another terminal lets do a </a:t>
            </a:r>
            <a:r>
              <a:rPr lang="en-US" dirty="0" err="1" smtClean="0"/>
              <a:t>ps</a:t>
            </a:r>
            <a:r>
              <a:rPr lang="en-US" dirty="0" smtClean="0"/>
              <a:t> and know more about these 4 processes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PID    </a:t>
            </a:r>
            <a:r>
              <a:rPr lang="en-US" dirty="0" smtClean="0"/>
              <a:t>PPID   COMM         </a:t>
            </a:r>
            <a:r>
              <a:rPr lang="en-US" dirty="0"/>
              <a:t>TT       STAT   UID   GID    PGID   </a:t>
            </a:r>
            <a:r>
              <a:rPr lang="en-US" dirty="0" smtClean="0"/>
              <a:t> </a:t>
            </a:r>
            <a:r>
              <a:rPr lang="en-US" dirty="0"/>
              <a:t>SID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1312  2485  </a:t>
            </a:r>
            <a:r>
              <a:rPr lang="en-US" dirty="0"/>
              <a:t>bash     </a:t>
            </a:r>
            <a:r>
              <a:rPr lang="en-US" dirty="0" smtClean="0"/>
              <a:t>      </a:t>
            </a:r>
            <a:r>
              <a:rPr lang="en-US" dirty="0" smtClean="0">
                <a:solidFill>
                  <a:srgbClr val="FF0000"/>
                </a:solidFill>
              </a:rPr>
              <a:t>pts/4</a:t>
            </a:r>
            <a:r>
              <a:rPr lang="en-US" dirty="0" smtClean="0"/>
              <a:t>    </a:t>
            </a:r>
            <a:r>
              <a:rPr lang="en-US" dirty="0" err="1"/>
              <a:t>S</a:t>
            </a:r>
            <a:r>
              <a:rPr lang="en-US" dirty="0" err="1">
                <a:solidFill>
                  <a:schemeClr val="accent2"/>
                </a:solidFill>
              </a:rPr>
              <a:t>s</a:t>
            </a:r>
            <a:r>
              <a:rPr lang="en-US" dirty="0"/>
              <a:t>   </a:t>
            </a:r>
            <a:r>
              <a:rPr lang="en-US" dirty="0" smtClean="0"/>
              <a:t> 1000  </a:t>
            </a:r>
            <a:r>
              <a:rPr lang="en-US" dirty="0"/>
              <a:t>1000 </a:t>
            </a:r>
            <a:r>
              <a:rPr lang="en-US" dirty="0" smtClean="0"/>
              <a:t>  1312   </a:t>
            </a:r>
            <a:r>
              <a:rPr lang="en-US" dirty="0" smtClean="0">
                <a:solidFill>
                  <a:srgbClr val="FF0000"/>
                </a:solidFill>
              </a:rPr>
              <a:t>1312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2007  1312  loopy         </a:t>
            </a:r>
            <a:r>
              <a:rPr lang="en-US" dirty="0" smtClean="0">
                <a:solidFill>
                  <a:srgbClr val="FF0000"/>
                </a:solidFill>
              </a:rPr>
              <a:t>pts/4</a:t>
            </a:r>
            <a:r>
              <a:rPr lang="en-US" dirty="0" smtClean="0"/>
              <a:t>    </a:t>
            </a:r>
            <a:r>
              <a:rPr lang="en-US" dirty="0"/>
              <a:t>R     </a:t>
            </a:r>
            <a:r>
              <a:rPr lang="en-US" dirty="0" smtClean="0"/>
              <a:t> 1000  </a:t>
            </a:r>
            <a:r>
              <a:rPr lang="en-US" dirty="0"/>
              <a:t>1000 </a:t>
            </a:r>
            <a:r>
              <a:rPr lang="en-US" dirty="0" smtClean="0"/>
              <a:t>  2008   </a:t>
            </a:r>
            <a:r>
              <a:rPr lang="en-US" dirty="0" smtClean="0">
                <a:solidFill>
                  <a:srgbClr val="FF0000"/>
                </a:solidFill>
              </a:rPr>
              <a:t>1312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2009  1312  loopy         </a:t>
            </a:r>
            <a:r>
              <a:rPr lang="en-US" dirty="0">
                <a:solidFill>
                  <a:srgbClr val="FF0000"/>
                </a:solidFill>
              </a:rPr>
              <a:t>pts/4 </a:t>
            </a:r>
            <a:r>
              <a:rPr lang="en-US" dirty="0"/>
              <a:t>   R     </a:t>
            </a:r>
            <a:r>
              <a:rPr lang="en-US" dirty="0" smtClean="0"/>
              <a:t> 1000  </a:t>
            </a:r>
            <a:r>
              <a:rPr lang="en-US" dirty="0"/>
              <a:t>1000 </a:t>
            </a:r>
            <a:r>
              <a:rPr lang="en-US" dirty="0" smtClean="0"/>
              <a:t>  2009   </a:t>
            </a:r>
            <a:r>
              <a:rPr lang="en-US" dirty="0" smtClean="0">
                <a:solidFill>
                  <a:srgbClr val="FF0000"/>
                </a:solidFill>
              </a:rPr>
              <a:t>1312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2088  1312  </a:t>
            </a:r>
            <a:r>
              <a:rPr lang="en-US" dirty="0"/>
              <a:t>sort            </a:t>
            </a:r>
            <a:r>
              <a:rPr lang="en-US" dirty="0">
                <a:solidFill>
                  <a:srgbClr val="FF0000"/>
                </a:solidFill>
              </a:rPr>
              <a:t>pts/4</a:t>
            </a:r>
            <a:r>
              <a:rPr lang="en-US" dirty="0"/>
              <a:t>    S</a:t>
            </a:r>
            <a:r>
              <a:rPr lang="en-US" dirty="0">
                <a:solidFill>
                  <a:srgbClr val="00B050"/>
                </a:solidFill>
              </a:rPr>
              <a:t>+</a:t>
            </a:r>
            <a:r>
              <a:rPr lang="en-US" dirty="0"/>
              <a:t>    1000  1000 </a:t>
            </a:r>
            <a:r>
              <a:rPr lang="en-US" dirty="0" smtClean="0"/>
              <a:t>  </a:t>
            </a:r>
            <a:r>
              <a:rPr lang="en-US" dirty="0" smtClean="0">
                <a:solidFill>
                  <a:schemeClr val="accent1"/>
                </a:solidFill>
              </a:rPr>
              <a:t>2088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FF0000"/>
                </a:solidFill>
              </a:rPr>
              <a:t>1312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/>
              <a:t>2089  1312  more          </a:t>
            </a:r>
            <a:r>
              <a:rPr lang="en-US" dirty="0" smtClean="0">
                <a:solidFill>
                  <a:srgbClr val="FF0000"/>
                </a:solidFill>
              </a:rPr>
              <a:t>pts/4</a:t>
            </a:r>
            <a:r>
              <a:rPr lang="en-US" dirty="0" smtClean="0"/>
              <a:t>    </a:t>
            </a:r>
            <a:r>
              <a:rPr lang="en-US" dirty="0"/>
              <a:t>S</a:t>
            </a:r>
            <a:r>
              <a:rPr lang="en-US" dirty="0">
                <a:solidFill>
                  <a:srgbClr val="00B050"/>
                </a:solidFill>
              </a:rPr>
              <a:t>+</a:t>
            </a:r>
            <a:r>
              <a:rPr lang="en-US" dirty="0"/>
              <a:t>    1000  1000 </a:t>
            </a:r>
            <a:r>
              <a:rPr lang="en-US" dirty="0" smtClean="0"/>
              <a:t>  </a:t>
            </a:r>
            <a:r>
              <a:rPr lang="en-US" dirty="0" smtClean="0">
                <a:solidFill>
                  <a:schemeClr val="accent1"/>
                </a:solidFill>
              </a:rPr>
              <a:t>2088</a:t>
            </a:r>
            <a:r>
              <a:rPr lang="en-US" dirty="0" smtClean="0"/>
              <a:t>   </a:t>
            </a:r>
            <a:r>
              <a:rPr lang="en-US" dirty="0" smtClean="0">
                <a:solidFill>
                  <a:srgbClr val="FF0000"/>
                </a:solidFill>
              </a:rPr>
              <a:t>1312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33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and protected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Real is the old 32 bit times intel CPU mode:</a:t>
            </a:r>
          </a:p>
          <a:p>
            <a:pPr lvl="1"/>
            <a:r>
              <a:rPr lang="en-US" dirty="0" smtClean="0"/>
              <a:t>All addresses are real (20bit), though segmented</a:t>
            </a:r>
          </a:p>
          <a:p>
            <a:pPr lvl="1"/>
            <a:r>
              <a:rPr lang="en-US" dirty="0" smtClean="0"/>
              <a:t>No support for kernel-mode / user-mode – </a:t>
            </a:r>
            <a:r>
              <a:rPr lang="en-US" dirty="0" err="1" smtClean="0"/>
              <a:t>Previlage</a:t>
            </a:r>
            <a:r>
              <a:rPr lang="en-US" dirty="0" smtClean="0"/>
              <a:t> levels</a:t>
            </a:r>
          </a:p>
          <a:p>
            <a:pPr lvl="1"/>
            <a:r>
              <a:rPr lang="en-US" dirty="0" smtClean="0"/>
              <a:t>No support for memory protection</a:t>
            </a:r>
          </a:p>
          <a:p>
            <a:pPr lvl="1"/>
            <a:r>
              <a:rPr lang="en-US" dirty="0" smtClean="0"/>
              <a:t>Basically no support that modern OS – </a:t>
            </a:r>
            <a:r>
              <a:rPr lang="en-US" dirty="0" err="1" smtClean="0"/>
              <a:t>es</a:t>
            </a:r>
            <a:r>
              <a:rPr lang="en-US" dirty="0" smtClean="0"/>
              <a:t> need</a:t>
            </a:r>
          </a:p>
          <a:p>
            <a:r>
              <a:rPr lang="en-US" dirty="0" smtClean="0"/>
              <a:t>Protected mode is all the good stuff we are used to now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549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34587</TotalTime>
  <Words>984</Words>
  <Application>Microsoft Office PowerPoint</Application>
  <PresentationFormat>Widescreen</PresentationFormat>
  <Paragraphs>101</Paragraphs>
  <Slides>18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Office Theme</vt:lpstr>
      <vt:lpstr>Miscellaneous topics</vt:lpstr>
      <vt:lpstr>Resources, limits and notions of time</vt:lpstr>
      <vt:lpstr>Safety via resource limits</vt:lpstr>
      <vt:lpstr>Resource limits and usage information</vt:lpstr>
      <vt:lpstr>System wide configurations</vt:lpstr>
      <vt:lpstr>System time, User time, Real(wall clock) time</vt:lpstr>
      <vt:lpstr>Doing things regularly at the OS level</vt:lpstr>
      <vt:lpstr>Beyond the kind of OS we studied so far</vt:lpstr>
      <vt:lpstr>Structurally different: Monolithic vs microkernel architecture</vt:lpstr>
      <vt:lpstr>PowerPoint Presentation</vt:lpstr>
      <vt:lpstr>Monolithic vs Microkernels - Pros and Cons</vt:lpstr>
      <vt:lpstr>Functionally different / with different emphasis</vt:lpstr>
      <vt:lpstr>The move to embedded systems</vt:lpstr>
      <vt:lpstr>Real Time OS (RTOS)</vt:lpstr>
      <vt:lpstr>OS for Large scale computing / High Performance Computing</vt:lpstr>
      <vt:lpstr>The End</vt:lpstr>
      <vt:lpstr>Processes, Process Groups, session, session leader, tty, foreground process-group</vt:lpstr>
      <vt:lpstr>Real and protected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Badrinath R</dc:creator>
  <cp:lastModifiedBy>Badrinath R</cp:lastModifiedBy>
  <cp:revision>69</cp:revision>
  <dcterms:created xsi:type="dcterms:W3CDTF">2022-03-24T08:36:13Z</dcterms:created>
  <dcterms:modified xsi:type="dcterms:W3CDTF">2025-05-03T08:09:03Z</dcterms:modified>
</cp:coreProperties>
</file>