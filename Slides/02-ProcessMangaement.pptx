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56" r:id="rId2"/>
    <p:sldId id="257" r:id="rId3"/>
    <p:sldId id="263" r:id="rId4"/>
    <p:sldId id="273" r:id="rId5"/>
    <p:sldId id="258" r:id="rId6"/>
    <p:sldId id="288" r:id="rId7"/>
    <p:sldId id="289" r:id="rId8"/>
    <p:sldId id="276" r:id="rId9"/>
    <p:sldId id="278" r:id="rId10"/>
    <p:sldId id="283" r:id="rId11"/>
    <p:sldId id="284" r:id="rId12"/>
    <p:sldId id="259" r:id="rId13"/>
    <p:sldId id="277" r:id="rId14"/>
    <p:sldId id="260" r:id="rId15"/>
    <p:sldId id="265" r:id="rId16"/>
    <p:sldId id="275" r:id="rId17"/>
    <p:sldId id="274" r:id="rId18"/>
    <p:sldId id="291" r:id="rId19"/>
    <p:sldId id="292" r:id="rId20"/>
    <p:sldId id="287" r:id="rId21"/>
    <p:sldId id="267" r:id="rId22"/>
    <p:sldId id="290" r:id="rId23"/>
    <p:sldId id="272" r:id="rId24"/>
    <p:sldId id="269" r:id="rId25"/>
    <p:sldId id="261" r:id="rId26"/>
    <p:sldId id="262" r:id="rId27"/>
    <p:sldId id="268" r:id="rId28"/>
    <p:sldId id="279" r:id="rId29"/>
    <p:sldId id="280" r:id="rId30"/>
    <p:sldId id="266" r:id="rId31"/>
    <p:sldId id="286" r:id="rId32"/>
    <p:sldId id="285" r:id="rId33"/>
    <p:sldId id="293" r:id="rId34"/>
    <p:sldId id="281" r:id="rId35"/>
    <p:sldId id="294" r:id="rId36"/>
    <p:sldId id="296" r:id="rId37"/>
    <p:sldId id="282"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74170" autoAdjust="0"/>
  </p:normalViewPr>
  <p:slideViewPr>
    <p:cSldViewPr snapToGrid="0">
      <p:cViewPr varScale="1">
        <p:scale>
          <a:sx n="51" d="100"/>
          <a:sy n="51" d="100"/>
        </p:scale>
        <p:origin x="774"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drinath R" userId="155a43e7-1f5f-414f-9bca-c8a1af989a19" providerId="ADAL" clId="{0CD8D6D9-D790-4108-B547-4C7AE5F5F0D8}"/>
    <pc:docChg chg="undo custSel addSld delSld modSld sldOrd">
      <pc:chgData name="Badrinath R" userId="155a43e7-1f5f-414f-9bca-c8a1af989a19" providerId="ADAL" clId="{0CD8D6D9-D790-4108-B547-4C7AE5F5F0D8}" dt="2026-01-29T07:24:04.724" v="2005" actId="20577"/>
      <pc:docMkLst>
        <pc:docMk/>
      </pc:docMkLst>
      <pc:sldChg chg="modSp mod ord">
        <pc:chgData name="Badrinath R" userId="155a43e7-1f5f-414f-9bca-c8a1af989a19" providerId="ADAL" clId="{0CD8D6D9-D790-4108-B547-4C7AE5F5F0D8}" dt="2026-01-29T07:21:31.775" v="1965" actId="20577"/>
        <pc:sldMkLst>
          <pc:docMk/>
          <pc:sldMk cId="3607741484" sldId="281"/>
        </pc:sldMkLst>
        <pc:spChg chg="mod">
          <ac:chgData name="Badrinath R" userId="155a43e7-1f5f-414f-9bca-c8a1af989a19" providerId="ADAL" clId="{0CD8D6D9-D790-4108-B547-4C7AE5F5F0D8}" dt="2026-01-29T07:21:31.775" v="1965" actId="20577"/>
          <ac:spMkLst>
            <pc:docMk/>
            <pc:sldMk cId="3607741484" sldId="281"/>
            <ac:spMk id="3" creationId="{00000000-0000-0000-0000-000000000000}"/>
          </ac:spMkLst>
        </pc:spChg>
        <pc:spChg chg="mod">
          <ac:chgData name="Badrinath R" userId="155a43e7-1f5f-414f-9bca-c8a1af989a19" providerId="ADAL" clId="{0CD8D6D9-D790-4108-B547-4C7AE5F5F0D8}" dt="2026-01-29T07:21:21.482" v="1962" actId="20577"/>
          <ac:spMkLst>
            <pc:docMk/>
            <pc:sldMk cId="3607741484" sldId="281"/>
            <ac:spMk id="4" creationId="{00000000-0000-0000-0000-000000000000}"/>
          </ac:spMkLst>
        </pc:spChg>
      </pc:sldChg>
      <pc:sldChg chg="modSp new mod">
        <pc:chgData name="Badrinath R" userId="155a43e7-1f5f-414f-9bca-c8a1af989a19" providerId="ADAL" clId="{0CD8D6D9-D790-4108-B547-4C7AE5F5F0D8}" dt="2026-01-29T07:24:04.724" v="2005" actId="20577"/>
        <pc:sldMkLst>
          <pc:docMk/>
          <pc:sldMk cId="4029870175" sldId="293"/>
        </pc:sldMkLst>
        <pc:spChg chg="mod">
          <ac:chgData name="Badrinath R" userId="155a43e7-1f5f-414f-9bca-c8a1af989a19" providerId="ADAL" clId="{0CD8D6D9-D790-4108-B547-4C7AE5F5F0D8}" dt="2026-01-29T07:00:02.696" v="438" actId="20577"/>
          <ac:spMkLst>
            <pc:docMk/>
            <pc:sldMk cId="4029870175" sldId="293"/>
            <ac:spMk id="2" creationId="{AA96A398-CC83-5AA8-9706-A3C634F87CD8}"/>
          </ac:spMkLst>
        </pc:spChg>
        <pc:spChg chg="mod">
          <ac:chgData name="Badrinath R" userId="155a43e7-1f5f-414f-9bca-c8a1af989a19" providerId="ADAL" clId="{0CD8D6D9-D790-4108-B547-4C7AE5F5F0D8}" dt="2026-01-29T07:24:04.724" v="2005" actId="20577"/>
          <ac:spMkLst>
            <pc:docMk/>
            <pc:sldMk cId="4029870175" sldId="293"/>
            <ac:spMk id="3" creationId="{56552D1F-D95E-9C96-FCDD-45C833BF4AD2}"/>
          </ac:spMkLst>
        </pc:spChg>
      </pc:sldChg>
      <pc:sldChg chg="modSp add mod">
        <pc:chgData name="Badrinath R" userId="155a43e7-1f5f-414f-9bca-c8a1af989a19" providerId="ADAL" clId="{0CD8D6D9-D790-4108-B547-4C7AE5F5F0D8}" dt="2026-01-29T07:21:41.522" v="1968" actId="20577"/>
        <pc:sldMkLst>
          <pc:docMk/>
          <pc:sldMk cId="3177039477" sldId="294"/>
        </pc:sldMkLst>
        <pc:spChg chg="mod">
          <ac:chgData name="Badrinath R" userId="155a43e7-1f5f-414f-9bca-c8a1af989a19" providerId="ADAL" clId="{0CD8D6D9-D790-4108-B547-4C7AE5F5F0D8}" dt="2026-01-29T07:21:41.522" v="1968" actId="20577"/>
          <ac:spMkLst>
            <pc:docMk/>
            <pc:sldMk cId="3177039477" sldId="294"/>
            <ac:spMk id="3" creationId="{00000000-0000-0000-0000-000000000000}"/>
          </ac:spMkLst>
        </pc:spChg>
        <pc:spChg chg="mod">
          <ac:chgData name="Badrinath R" userId="155a43e7-1f5f-414f-9bca-c8a1af989a19" providerId="ADAL" clId="{0CD8D6D9-D790-4108-B547-4C7AE5F5F0D8}" dt="2026-01-29T07:05:50.621" v="1180" actId="113"/>
          <ac:spMkLst>
            <pc:docMk/>
            <pc:sldMk cId="3177039477" sldId="294"/>
            <ac:spMk id="4" creationId="{00000000-0000-0000-0000-000000000000}"/>
          </ac:spMkLst>
        </pc:spChg>
      </pc:sldChg>
      <pc:sldChg chg="add del ord">
        <pc:chgData name="Badrinath R" userId="155a43e7-1f5f-414f-9bca-c8a1af989a19" providerId="ADAL" clId="{0CD8D6D9-D790-4108-B547-4C7AE5F5F0D8}" dt="2026-01-29T07:22:27.085" v="1974" actId="47"/>
        <pc:sldMkLst>
          <pc:docMk/>
          <pc:sldMk cId="2549299013" sldId="295"/>
        </pc:sldMkLst>
      </pc:sldChg>
      <pc:sldChg chg="addSp delSp modSp new mod">
        <pc:chgData name="Badrinath R" userId="155a43e7-1f5f-414f-9bca-c8a1af989a19" providerId="ADAL" clId="{0CD8D6D9-D790-4108-B547-4C7AE5F5F0D8}" dt="2026-01-29T07:21:55.615" v="1971" actId="20577"/>
        <pc:sldMkLst>
          <pc:docMk/>
          <pc:sldMk cId="1020195635" sldId="296"/>
        </pc:sldMkLst>
        <pc:spChg chg="mod">
          <ac:chgData name="Badrinath R" userId="155a43e7-1f5f-414f-9bca-c8a1af989a19" providerId="ADAL" clId="{0CD8D6D9-D790-4108-B547-4C7AE5F5F0D8}" dt="2026-01-29T07:21:55.615" v="1971" actId="20577"/>
          <ac:spMkLst>
            <pc:docMk/>
            <pc:sldMk cId="1020195635" sldId="296"/>
            <ac:spMk id="2" creationId="{F51894EE-C154-C729-0406-1FDD3D3C26B2}"/>
          </ac:spMkLst>
        </pc:spChg>
        <pc:spChg chg="mod">
          <ac:chgData name="Badrinath R" userId="155a43e7-1f5f-414f-9bca-c8a1af989a19" providerId="ADAL" clId="{0CD8D6D9-D790-4108-B547-4C7AE5F5F0D8}" dt="2026-01-29T07:18:41.731" v="1890" actId="27636"/>
          <ac:spMkLst>
            <pc:docMk/>
            <pc:sldMk cId="1020195635" sldId="296"/>
            <ac:spMk id="3" creationId="{51D74DE0-98BB-5A9A-2723-4DA9BE57FC47}"/>
          </ac:spMkLst>
        </pc:spChg>
        <pc:picChg chg="add del mod">
          <ac:chgData name="Badrinath R" userId="155a43e7-1f5f-414f-9bca-c8a1af989a19" providerId="ADAL" clId="{0CD8D6D9-D790-4108-B547-4C7AE5F5F0D8}" dt="2026-01-29T07:17:11.870" v="1860" actId="478"/>
          <ac:picMkLst>
            <pc:docMk/>
            <pc:sldMk cId="1020195635" sldId="296"/>
            <ac:picMk id="5" creationId="{2E81985B-6123-3F64-1FCC-531571704C3E}"/>
          </ac:picMkLst>
        </pc:picChg>
        <pc:picChg chg="add mod">
          <ac:chgData name="Badrinath R" userId="155a43e7-1f5f-414f-9bca-c8a1af989a19" providerId="ADAL" clId="{0CD8D6D9-D790-4108-B547-4C7AE5F5F0D8}" dt="2026-01-29T07:20:12.970" v="1933" actId="692"/>
          <ac:picMkLst>
            <pc:docMk/>
            <pc:sldMk cId="1020195635" sldId="296"/>
            <ac:picMk id="7" creationId="{2AEC8918-7646-3DBD-1E00-6B5E02F5AD7D}"/>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710760B-1037-437B-920A-B1F9EA44EDEA}" type="doc">
      <dgm:prSet loTypeId="urn:diagrams.loki3.com/VaryingWidthList" loCatId="officeonline" qsTypeId="urn:microsoft.com/office/officeart/2005/8/quickstyle/3d3" qsCatId="3D" csTypeId="urn:microsoft.com/office/officeart/2005/8/colors/colorful2" csCatId="colorful" phldr="1"/>
      <dgm:spPr/>
      <dgm:t>
        <a:bodyPr/>
        <a:lstStyle/>
        <a:p>
          <a:endParaRPr lang="en-US"/>
        </a:p>
      </dgm:t>
    </dgm:pt>
    <dgm:pt modelId="{F1D719FA-13A3-4433-8E47-C0D81721869D}">
      <dgm:prSet phldrT="[Text]"/>
      <dgm:spPr/>
      <dgm:t>
        <a:bodyPr/>
        <a:lstStyle/>
        <a:p>
          <a:r>
            <a:rPr lang="en-US" dirty="0"/>
            <a:t>Kernel</a:t>
          </a:r>
        </a:p>
      </dgm:t>
    </dgm:pt>
    <dgm:pt modelId="{B7B83080-9460-4D73-A1C5-CB17AFD0305D}" type="parTrans" cxnId="{1BB84FFC-2A64-4657-A866-6BEF4961CF11}">
      <dgm:prSet/>
      <dgm:spPr/>
      <dgm:t>
        <a:bodyPr/>
        <a:lstStyle/>
        <a:p>
          <a:endParaRPr lang="en-US"/>
        </a:p>
      </dgm:t>
    </dgm:pt>
    <dgm:pt modelId="{28F073B6-069F-4678-93BE-3B9CFD122921}" type="sibTrans" cxnId="{1BB84FFC-2A64-4657-A866-6BEF4961CF11}">
      <dgm:prSet/>
      <dgm:spPr/>
      <dgm:t>
        <a:bodyPr/>
        <a:lstStyle/>
        <a:p>
          <a:endParaRPr lang="en-US"/>
        </a:p>
      </dgm:t>
    </dgm:pt>
    <dgm:pt modelId="{4D90B92E-B723-45D0-A3ED-5221D7524380}">
      <dgm:prSet phldrT="[Text]"/>
      <dgm:spPr/>
      <dgm:t>
        <a:bodyPr/>
        <a:lstStyle/>
        <a:p>
          <a:r>
            <a:rPr lang="en-US" dirty="0"/>
            <a:t>User</a:t>
          </a:r>
        </a:p>
      </dgm:t>
    </dgm:pt>
    <dgm:pt modelId="{63A52CB3-6D4F-4347-AF76-70473A1D329A}" type="parTrans" cxnId="{0F7A78F6-48BE-4B87-AC1F-9368B47BFC94}">
      <dgm:prSet/>
      <dgm:spPr/>
      <dgm:t>
        <a:bodyPr/>
        <a:lstStyle/>
        <a:p>
          <a:endParaRPr lang="en-US"/>
        </a:p>
      </dgm:t>
    </dgm:pt>
    <dgm:pt modelId="{66D43A8B-29D9-4396-8AB3-9AFA1E12B7E1}" type="sibTrans" cxnId="{0F7A78F6-48BE-4B87-AC1F-9368B47BFC94}">
      <dgm:prSet/>
      <dgm:spPr/>
      <dgm:t>
        <a:bodyPr/>
        <a:lstStyle/>
        <a:p>
          <a:endParaRPr lang="en-US"/>
        </a:p>
      </dgm:t>
    </dgm:pt>
    <dgm:pt modelId="{CBF60816-4BA3-444C-AD56-EC1146340C0E}" type="pres">
      <dgm:prSet presAssocID="{A710760B-1037-437B-920A-B1F9EA44EDEA}" presName="Name0" presStyleCnt="0">
        <dgm:presLayoutVars>
          <dgm:resizeHandles/>
        </dgm:presLayoutVars>
      </dgm:prSet>
      <dgm:spPr/>
    </dgm:pt>
    <dgm:pt modelId="{2C75B9F8-F714-4A10-B957-4BFD342B9E39}" type="pres">
      <dgm:prSet presAssocID="{F1D719FA-13A3-4433-8E47-C0D81721869D}" presName="text" presStyleLbl="node1" presStyleIdx="0" presStyleCnt="2" custScaleX="179421" custScaleY="35951">
        <dgm:presLayoutVars>
          <dgm:bulletEnabled val="1"/>
        </dgm:presLayoutVars>
      </dgm:prSet>
      <dgm:spPr/>
    </dgm:pt>
    <dgm:pt modelId="{358C576B-EA25-442E-B89F-5CF4BB25580E}" type="pres">
      <dgm:prSet presAssocID="{28F073B6-069F-4678-93BE-3B9CFD122921}" presName="space" presStyleCnt="0"/>
      <dgm:spPr/>
    </dgm:pt>
    <dgm:pt modelId="{30124005-C9AE-400A-9DB9-5D164180EC70}" type="pres">
      <dgm:prSet presAssocID="{4D90B92E-B723-45D0-A3ED-5221D7524380}" presName="text" presStyleLbl="node1" presStyleIdx="1" presStyleCnt="2" custScaleX="239494">
        <dgm:presLayoutVars>
          <dgm:bulletEnabled val="1"/>
        </dgm:presLayoutVars>
      </dgm:prSet>
      <dgm:spPr/>
    </dgm:pt>
  </dgm:ptLst>
  <dgm:cxnLst>
    <dgm:cxn modelId="{B3F6CA0A-BB92-4951-B68A-1C2C0F6B4DCC}" type="presOf" srcId="{4D90B92E-B723-45D0-A3ED-5221D7524380}" destId="{30124005-C9AE-400A-9DB9-5D164180EC70}" srcOrd="0" destOrd="0" presId="urn:diagrams.loki3.com/VaryingWidthList"/>
    <dgm:cxn modelId="{005B6A38-4C3F-458F-833D-403BE302DC67}" type="presOf" srcId="{A710760B-1037-437B-920A-B1F9EA44EDEA}" destId="{CBF60816-4BA3-444C-AD56-EC1146340C0E}" srcOrd="0" destOrd="0" presId="urn:diagrams.loki3.com/VaryingWidthList"/>
    <dgm:cxn modelId="{AA4A486C-AD65-4C01-9932-3AD90122AD5E}" type="presOf" srcId="{F1D719FA-13A3-4433-8E47-C0D81721869D}" destId="{2C75B9F8-F714-4A10-B957-4BFD342B9E39}" srcOrd="0" destOrd="0" presId="urn:diagrams.loki3.com/VaryingWidthList"/>
    <dgm:cxn modelId="{0F7A78F6-48BE-4B87-AC1F-9368B47BFC94}" srcId="{A710760B-1037-437B-920A-B1F9EA44EDEA}" destId="{4D90B92E-B723-45D0-A3ED-5221D7524380}" srcOrd="1" destOrd="0" parTransId="{63A52CB3-6D4F-4347-AF76-70473A1D329A}" sibTransId="{66D43A8B-29D9-4396-8AB3-9AFA1E12B7E1}"/>
    <dgm:cxn modelId="{1BB84FFC-2A64-4657-A866-6BEF4961CF11}" srcId="{A710760B-1037-437B-920A-B1F9EA44EDEA}" destId="{F1D719FA-13A3-4433-8E47-C0D81721869D}" srcOrd="0" destOrd="0" parTransId="{B7B83080-9460-4D73-A1C5-CB17AFD0305D}" sibTransId="{28F073B6-069F-4678-93BE-3B9CFD122921}"/>
    <dgm:cxn modelId="{D00BC196-6224-45EF-B23B-C8AB4939A877}" type="presParOf" srcId="{CBF60816-4BA3-444C-AD56-EC1146340C0E}" destId="{2C75B9F8-F714-4A10-B957-4BFD342B9E39}" srcOrd="0" destOrd="0" presId="urn:diagrams.loki3.com/VaryingWidthList"/>
    <dgm:cxn modelId="{E933E601-9E9C-46E3-8A3E-11FCAA824E4C}" type="presParOf" srcId="{CBF60816-4BA3-444C-AD56-EC1146340C0E}" destId="{358C576B-EA25-442E-B89F-5CF4BB25580E}" srcOrd="1" destOrd="0" presId="urn:diagrams.loki3.com/VaryingWidthList"/>
    <dgm:cxn modelId="{59A81D7A-5D46-4E17-86D3-4D4ED9C8BC9B}" type="presParOf" srcId="{CBF60816-4BA3-444C-AD56-EC1146340C0E}" destId="{30124005-C9AE-400A-9DB9-5D164180EC70}" srcOrd="2" destOrd="0" presId="urn:diagrams.loki3.com/VaryingWidth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75B9F8-F714-4A10-B957-4BFD342B9E39}">
      <dsp:nvSpPr>
        <dsp:cNvPr id="0" name=""/>
        <dsp:cNvSpPr/>
      </dsp:nvSpPr>
      <dsp:spPr>
        <a:xfrm>
          <a:off x="572313" y="1478"/>
          <a:ext cx="4036972" cy="1109099"/>
        </a:xfrm>
        <a:prstGeom prst="rect">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47320" tIns="147320" rIns="147320" bIns="147320" numCol="1" spcCol="1270" anchor="ctr" anchorCtr="0">
          <a:noAutofit/>
        </a:bodyPr>
        <a:lstStyle/>
        <a:p>
          <a:pPr marL="0" lvl="0" indent="0" algn="ctr" defTabSz="2578100">
            <a:lnSpc>
              <a:spcPct val="90000"/>
            </a:lnSpc>
            <a:spcBef>
              <a:spcPct val="0"/>
            </a:spcBef>
            <a:spcAft>
              <a:spcPct val="35000"/>
            </a:spcAft>
            <a:buNone/>
          </a:pPr>
          <a:r>
            <a:rPr lang="en-US" sz="5800" kern="1200" dirty="0"/>
            <a:t>Kernel</a:t>
          </a:r>
        </a:p>
      </dsp:txBody>
      <dsp:txXfrm>
        <a:off x="572313" y="1478"/>
        <a:ext cx="4036972" cy="1109099"/>
      </dsp:txXfrm>
    </dsp:sp>
    <dsp:sp modelId="{30124005-C9AE-400A-9DB9-5D164180EC70}">
      <dsp:nvSpPr>
        <dsp:cNvPr id="0" name=""/>
        <dsp:cNvSpPr/>
      </dsp:nvSpPr>
      <dsp:spPr>
        <a:xfrm>
          <a:off x="543126" y="1264829"/>
          <a:ext cx="4095347" cy="3085030"/>
        </a:xfrm>
        <a:prstGeom prst="rect">
          <a:avLst/>
        </a:prstGeom>
        <a:solidFill>
          <a:schemeClr val="accent2">
            <a:hueOff val="-1455363"/>
            <a:satOff val="-83928"/>
            <a:lumOff val="8628"/>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47320" tIns="147320" rIns="147320" bIns="147320" numCol="1" spcCol="1270" anchor="ctr" anchorCtr="0">
          <a:noAutofit/>
        </a:bodyPr>
        <a:lstStyle/>
        <a:p>
          <a:pPr marL="0" lvl="0" indent="0" algn="ctr" defTabSz="2578100">
            <a:lnSpc>
              <a:spcPct val="90000"/>
            </a:lnSpc>
            <a:spcBef>
              <a:spcPct val="0"/>
            </a:spcBef>
            <a:spcAft>
              <a:spcPct val="35000"/>
            </a:spcAft>
            <a:buNone/>
          </a:pPr>
          <a:r>
            <a:rPr lang="en-US" sz="5800" kern="1200" dirty="0"/>
            <a:t>User</a:t>
          </a:r>
        </a:p>
      </dsp:txBody>
      <dsp:txXfrm>
        <a:off x="543126" y="1264829"/>
        <a:ext cx="4095347" cy="3085030"/>
      </dsp:txXfrm>
    </dsp:sp>
  </dsp:spTree>
</dsp:drawing>
</file>

<file path=ppt/diagrams/layout1.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22T08:14:05.737"/>
    </inkml:context>
    <inkml:brush xml:id="br0">
      <inkml:brushProperty name="width" value="0.2" units="cm"/>
      <inkml:brushProperty name="height" value="0.2" units="cm"/>
      <inkml:brushProperty name="color" value="#00B0F0"/>
    </inkml:brush>
  </inkml:definitions>
  <inkml:trace contextRef="#ctx0" brushRef="#br0">2815 4702 16383 0 0,'7'0'0'0'0,"10"0"0"0"0,40 0 0 0 0,49 0 0 0 0,43 0 0 0 0,27 0 0 0 0,30 0 0 0 0,9 0 0 0 0,-2 0 0 0 0,-30-6 0 0 0,-40-3 0 0 0,-38 0 0 0 0,-29 2 0 0 0,-22 2 0 0 0,-13 3 0 0 0,-7 1 0 0 0,-3 0 0 0 0,-1 1 0 0 0,2 0 0 0 0,2 1 0 0 0,2-1 0 0 0,3 0 0 0 0,0-6 0 0 0,0-3 0 0 0,0 1 0 0 0,-1 2 0 0 0,0 1 0 0 0,0 2 0 0 0,1 1 0 0 0,0 2 0 0 0,-1 0 0 0 0,1 0 0 0 0,-1 0 0 0 0,0 1 0 0 0,0-1 0 0 0,1 0 0 0 0,1 0 0 0 0,-2 0 0 0 0,1 0 0 0 0,-8 0 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22T08:14:05.738"/>
    </inkml:context>
    <inkml:brush xml:id="br0">
      <inkml:brushProperty name="width" value="0.2" units="cm"/>
      <inkml:brushProperty name="height" value="0.2" units="cm"/>
      <inkml:brushProperty name="color" value="#00B0F0"/>
    </inkml:brush>
  </inkml:definitions>
  <inkml:trace contextRef="#ctx0" brushRef="#br0">5861 4797 16383 0 0,'7'0'0'0'0,"10"0"0"0"0,7 0 0 0 0,6 0 0 0 0,5 0 0 0 0,3 0 0 0 0,3 0 0 0 0,0 0 0 0 0,6-15 0 0 0,26-3 0 0 0,28-8 0 0 0,67 1 0 0 0,61 5 0 0 0,49 5 0 0 0,45-2 0 0 0,47 0 0 0 0,-2 5 0 0 0,-25 2 0 0 0,-65 4 0 0 0,-72 4 0 0 0,-66 1 0 0 0,-49 1 0 0 0,-33 0 0 0 0,-22 1 0 0 0,-8 0 0 0 0,-4-1 0 0 0,1 1 0 0 0,-5-1 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22T08:14:05.739"/>
    </inkml:context>
    <inkml:brush xml:id="br0">
      <inkml:brushProperty name="width" value="0.2" units="cm"/>
      <inkml:brushProperty name="height" value="0.2" units="cm"/>
      <inkml:brushProperty name="color" value="#00B0F0"/>
    </inkml:brush>
  </inkml:definitions>
  <inkml:trace contextRef="#ctx0" brushRef="#br0">4367 6388 16383 0 0,'7'-6'0'0'0,"8"-1"0"0"0,7-1 0 0 0,7 2 0 0 0,5 8 0 0 0,1 3 0 0 0,4 1 0 0 0,0-1 0 0 0,14 0 0 0 0,6-3 0 0 0,21 0 0 0 0,3-1 0 0 0,10-1 0 0 0,-5 0 0 0 0,-12 0 0 0 0,-11 0 0 0 0,3-1 0 0 0,20 1 0 0 0,31 0 0 0 0,18 0 0 0 0,13 0 0 0 0,-11 0 0 0 0,-24-6 0 0 0,-24-1 0 0 0,-22-1 0 0 0,-18 2 0 0 0,-9 2 0 0 0,-6 1 0 0 0,-2 2 0 0 0,0 1 0 0 0,0-7 0 0 0,2 0 0 0 0,1 0 0 0 0,-1 2 0 0 0,1 0 0 0 0,2 4 0 0 0,0-7 0 0 0,0 0 0 0 0,-1 0 0 0 0,0 3 0 0 0,-1 1 0 0 0,0 2 0 0 0,0 1 0 0 0,-1 0 0 0 0,1 1 0 0 0,14 1 0 0 0,5-1 0 0 0,-1 0 0 0 0,-2 1 0 0 0,-11-1 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22T08:14:05.740"/>
    </inkml:context>
    <inkml:brush xml:id="br0">
      <inkml:brushProperty name="width" value="0.2" units="cm"/>
      <inkml:brushProperty name="height" value="0.2" units="cm"/>
      <inkml:brushProperty name="color" value="#00B0F0"/>
    </inkml:brush>
  </inkml:definitions>
  <inkml:trace contextRef="#ctx0" brushRef="#br0">7950 6395 16383 0 0,'2'0'0'0'0,"9"10"0"0"0,5 1 0 0 0,1 1 0 0 0,1-2 0 0 0,1-4 0 0 0,-2-1 0 0 0,6-3 0 0 0,1-1 0 0 0,-1-1 0 0 0,-1-1 0 0 0,-3 1 0 0 0,-1-1 0 0 0,-2 1 0 0 0,-1 0 0 0 0,0-1 0 0 0,0 1 0 0 0,1 0 0 0 0,0 0 0 0 0,0 0 0 0 0,-1-9 0 0 0,1-12 0 0 0,-1-3 0 0 0,0 4 0 0 0,0 3 0 0 0,0 7 0 0 0,0 3 0 0 0,5-6 0 0 0,2-1 0 0 0,-1 2 0 0 0,0 3 0 0 0,-2 3 0 0 0,-2 2 0 0 0,-1 3 0 0 0,-1 0 0 0 0,0 2 0 0 0,0-1 0 0 0,5 1 0 0 0,2-1 0 0 0,9 1 0 0 0,1-1 0 0 0,4 0 0 0 0,-2 0 0 0 0,-3 0 0 0 0,-6 0 0 0 0,-3 0 0 0 0,1 0 0 0 0,1 0 0 0 0,3 0 0 0 0,2 0 0 0 0,-4 0 0 0 0,-2 0 0 0 0,-3 0 0 0 0,-2 0 0 0 0,-2 0 0 0 0,-1 0 0 0 0,0 0 0 0 0,-1 0 0 0 0,0 0 0 0 0,1 0 0 0 0,-1 0 0 0 0,1 0 0 0 0,-1 0 0 0 0,1 0 0 0 0,0 9 0 0 0,-1 11 0 0 0,1-6 0 0 0,-3-5 0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22T08:01:15.197"/>
    </inkml:context>
    <inkml:brush xml:id="br0">
      <inkml:brushProperty name="width" value="0.2" units="cm"/>
      <inkml:brushProperty name="height" value="0.2" units="cm"/>
      <inkml:brushProperty name="color" value="#00B0F0"/>
    </inkml:brush>
  </inkml:definitions>
  <inkml:trace contextRef="#ctx0" brushRef="#br0">5861 4797 16383 0 0,'7'0'0'0'0,"10"0"0"0"0,7 0 0 0 0,6 0 0 0 0,5 0 0 0 0,3 0 0 0 0,3 0 0 0 0,0 0 0 0 0,6-15 0 0 0,26-3 0 0 0,28-8 0 0 0,67 1 0 0 0,61 5 0 0 0,49 5 0 0 0,45-2 0 0 0,47 0 0 0 0,-2 5 0 0 0,-25 2 0 0 0,-65 4 0 0 0,-72 4 0 0 0,-66 1 0 0 0,-49 1 0 0 0,-33 0 0 0 0,-22 1 0 0 0,-8 0 0 0 0,-4-1 0 0 0,1 1 0 0 0,-5-1 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22T08:01:53.042"/>
    </inkml:context>
    <inkml:brush xml:id="br0">
      <inkml:brushProperty name="width" value="0.2" units="cm"/>
      <inkml:brushProperty name="height" value="0.2" units="cm"/>
      <inkml:brushProperty name="color" value="#00B0F0"/>
    </inkml:brush>
  </inkml:definitions>
  <inkml:trace contextRef="#ctx0" brushRef="#br0">5861 4957 16383 0 0,'3'0'0'0'0,"5"0"0"0"0,2 0 0 0 0,4 0 0 0 0,1 0 0 0 0,2 0 0 0 0,1 0 0 0 0,0 0 0 0 0,3-27 0 0 0,12-9 0 0 0,12-12 0 0 0,28 2 0 0 0,28 8 0 0 0,23 11 0 0 0,19-5 0 0 0,21 0 0 0 0,-2 9 0 0 0,-9 6 0 0 0,-31 5 0 0 0,-31 8 0 0 0,-28 2 0 0 0,-23 2 0 0 0,-14 0 0 0 0,-10 2 0 0 0,-4 0 0 0 0,-1-2 0 0 0,0 2 0 0 0,-3-2 0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22T08:03:54.860"/>
    </inkml:context>
    <inkml:brush xml:id="br0">
      <inkml:brushProperty name="width" value="0.2" units="cm"/>
      <inkml:brushProperty name="height" value="0.2" units="cm"/>
      <inkml:brushProperty name="color" value="#00B0F0"/>
    </inkml:brush>
  </inkml:definitions>
  <inkml:trace contextRef="#ctx0" brushRef="#br0">4367 6423 16383 0 0,'3'-8'0'0'0,"4"-1"0"0"0,2-2 0 0 0,4 3 0 0 0,2 11 0 0 0,0 4 0 0 0,2 1 0 0 0,0-2 0 0 0,7 1 0 0 0,1-4 0 0 0,11-1 0 0 0,0 0 0 0 0,5-2 0 0 0,-3 0 0 0 0,-5 0 0 0 0,-4 0 0 0 0,1-2 0 0 0,8 2 0 0 0,14 0 0 0 0,8 0 0 0 0,6 0 0 0 0,-5 0 0 0 0,-11-8 0 0 0,-10-1 0 0 0,-9-2 0 0 0,-9 3 0 0 0,-4 3 0 0 0,-2 1 0 0 0,-1 2 0 0 0,0 2 0 0 0,0-9 0 0 0,1 0 0 0 0,0-1 0 0 0,0 4 0 0 0,0-1 0 0 0,1 6 0 0 0,0-10 0 0 0,0 0 0 0 0,0 0 0 0 0,-1 5 0 0 0,1 0 0 0 0,-1 4 0 0 0,0 0 0 0 0,0 1 0 0 0,0 1 0 0 0,6 1 0 0 0,3-1 0 0 0,-1 0 0 0 0,-1 2 0 0 0,-4-2 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49DFC2-BB8B-4E93-88A7-004821F946D8}" type="datetimeFigureOut">
              <a:rPr lang="en-US" smtClean="0"/>
              <a:t>1/29/2026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9FFB41-66B7-4762-811D-CF741CAAC273}" type="slidenum">
              <a:rPr lang="en-US" smtClean="0"/>
              <a:t>‹#›</a:t>
            </a:fld>
            <a:endParaRPr lang="en-US" dirty="0"/>
          </a:p>
        </p:txBody>
      </p:sp>
    </p:spTree>
    <p:extLst>
      <p:ext uri="{BB962C8B-B14F-4D97-AF65-F5344CB8AC3E}">
        <p14:creationId xmlns:p14="http://schemas.microsoft.com/office/powerpoint/2010/main" val="39969309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89FFB41-66B7-4762-811D-CF741CAAC273}" type="slidenum">
              <a:rPr lang="en-US" smtClean="0"/>
              <a:t>12</a:t>
            </a:fld>
            <a:endParaRPr lang="en-US" dirty="0"/>
          </a:p>
        </p:txBody>
      </p:sp>
    </p:spTree>
    <p:extLst>
      <p:ext uri="{BB962C8B-B14F-4D97-AF65-F5344CB8AC3E}">
        <p14:creationId xmlns:p14="http://schemas.microsoft.com/office/powerpoint/2010/main" val="22440018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89FFB41-66B7-4762-811D-CF741CAAC273}" type="slidenum">
              <a:rPr lang="en-US" smtClean="0"/>
              <a:t>13</a:t>
            </a:fld>
            <a:endParaRPr lang="en-US"/>
          </a:p>
        </p:txBody>
      </p:sp>
    </p:spTree>
    <p:extLst>
      <p:ext uri="{BB962C8B-B14F-4D97-AF65-F5344CB8AC3E}">
        <p14:creationId xmlns:p14="http://schemas.microsoft.com/office/powerpoint/2010/main" val="7263124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Still not sure but perhaps this is a reasonable book</a:t>
            </a:r>
            <a:r>
              <a:rPr lang="en-US" baseline="0" dirty="0"/>
              <a:t> on Linux internals: https://0xax.gitbooks.io/linux-insides/content/</a:t>
            </a:r>
            <a:endParaRPr lang="en-US" dirty="0"/>
          </a:p>
        </p:txBody>
      </p:sp>
      <p:sp>
        <p:nvSpPr>
          <p:cNvPr id="4" name="Slide Number Placeholder 3"/>
          <p:cNvSpPr>
            <a:spLocks noGrp="1"/>
          </p:cNvSpPr>
          <p:nvPr>
            <p:ph type="sldNum" sz="quarter" idx="10"/>
          </p:nvPr>
        </p:nvSpPr>
        <p:spPr/>
        <p:txBody>
          <a:bodyPr/>
          <a:lstStyle/>
          <a:p>
            <a:fld id="{289FFB41-66B7-4762-811D-CF741CAAC273}" type="slidenum">
              <a:rPr lang="en-US" smtClean="0"/>
              <a:t>18</a:t>
            </a:fld>
            <a:endParaRPr lang="en-US" dirty="0"/>
          </a:p>
        </p:txBody>
      </p:sp>
    </p:spTree>
    <p:extLst>
      <p:ext uri="{BB962C8B-B14F-4D97-AF65-F5344CB8AC3E}">
        <p14:creationId xmlns:p14="http://schemas.microsoft.com/office/powerpoint/2010/main" val="38119302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89FFB41-66B7-4762-811D-CF741CAAC273}" type="slidenum">
              <a:rPr lang="en-US" smtClean="0"/>
              <a:t>20</a:t>
            </a:fld>
            <a:endParaRPr lang="en-US" dirty="0"/>
          </a:p>
        </p:txBody>
      </p:sp>
    </p:spTree>
    <p:extLst>
      <p:ext uri="{BB962C8B-B14F-4D97-AF65-F5344CB8AC3E}">
        <p14:creationId xmlns:p14="http://schemas.microsoft.com/office/powerpoint/2010/main" val="13670175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98CD128-5895-433F-9750-A4E79F9AC14F}" type="datetimeFigureOut">
              <a:rPr lang="en-US" smtClean="0"/>
              <a:t>1/29/2026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F518722-6812-41C3-8A0E-DD4F055827A9}" type="slidenum">
              <a:rPr lang="en-US" smtClean="0"/>
              <a:t>‹#›</a:t>
            </a:fld>
            <a:endParaRPr lang="en-US" dirty="0"/>
          </a:p>
        </p:txBody>
      </p:sp>
    </p:spTree>
    <p:extLst>
      <p:ext uri="{BB962C8B-B14F-4D97-AF65-F5344CB8AC3E}">
        <p14:creationId xmlns:p14="http://schemas.microsoft.com/office/powerpoint/2010/main" val="28548470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98CD128-5895-433F-9750-A4E79F9AC14F}" type="datetimeFigureOut">
              <a:rPr lang="en-US" smtClean="0"/>
              <a:t>1/29/2026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F518722-6812-41C3-8A0E-DD4F055827A9}" type="slidenum">
              <a:rPr lang="en-US" smtClean="0"/>
              <a:t>‹#›</a:t>
            </a:fld>
            <a:endParaRPr lang="en-US" dirty="0"/>
          </a:p>
        </p:txBody>
      </p:sp>
    </p:spTree>
    <p:extLst>
      <p:ext uri="{BB962C8B-B14F-4D97-AF65-F5344CB8AC3E}">
        <p14:creationId xmlns:p14="http://schemas.microsoft.com/office/powerpoint/2010/main" val="23686583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98CD128-5895-433F-9750-A4E79F9AC14F}" type="datetimeFigureOut">
              <a:rPr lang="en-US" smtClean="0"/>
              <a:t>1/29/2026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F518722-6812-41C3-8A0E-DD4F055827A9}" type="slidenum">
              <a:rPr lang="en-US" smtClean="0"/>
              <a:t>‹#›</a:t>
            </a:fld>
            <a:endParaRPr lang="en-US" dirty="0"/>
          </a:p>
        </p:txBody>
      </p:sp>
    </p:spTree>
    <p:extLst>
      <p:ext uri="{BB962C8B-B14F-4D97-AF65-F5344CB8AC3E}">
        <p14:creationId xmlns:p14="http://schemas.microsoft.com/office/powerpoint/2010/main" val="26370810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98CD128-5895-433F-9750-A4E79F9AC14F}" type="datetimeFigureOut">
              <a:rPr lang="en-US" smtClean="0"/>
              <a:t>1/29/2026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F518722-6812-41C3-8A0E-DD4F055827A9}" type="slidenum">
              <a:rPr lang="en-US" smtClean="0"/>
              <a:t>‹#›</a:t>
            </a:fld>
            <a:endParaRPr lang="en-US" dirty="0"/>
          </a:p>
        </p:txBody>
      </p:sp>
    </p:spTree>
    <p:extLst>
      <p:ext uri="{BB962C8B-B14F-4D97-AF65-F5344CB8AC3E}">
        <p14:creationId xmlns:p14="http://schemas.microsoft.com/office/powerpoint/2010/main" val="13190364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98CD128-5895-433F-9750-A4E79F9AC14F}" type="datetimeFigureOut">
              <a:rPr lang="en-US" smtClean="0"/>
              <a:t>1/29/2026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F518722-6812-41C3-8A0E-DD4F055827A9}" type="slidenum">
              <a:rPr lang="en-US" smtClean="0"/>
              <a:t>‹#›</a:t>
            </a:fld>
            <a:endParaRPr lang="en-US" dirty="0"/>
          </a:p>
        </p:txBody>
      </p:sp>
    </p:spTree>
    <p:extLst>
      <p:ext uri="{BB962C8B-B14F-4D97-AF65-F5344CB8AC3E}">
        <p14:creationId xmlns:p14="http://schemas.microsoft.com/office/powerpoint/2010/main" val="30671638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98CD128-5895-433F-9750-A4E79F9AC14F}" type="datetimeFigureOut">
              <a:rPr lang="en-US" smtClean="0"/>
              <a:t>1/29/2026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9F518722-6812-41C3-8A0E-DD4F055827A9}" type="slidenum">
              <a:rPr lang="en-US" smtClean="0"/>
              <a:t>‹#›</a:t>
            </a:fld>
            <a:endParaRPr lang="en-US" dirty="0"/>
          </a:p>
        </p:txBody>
      </p:sp>
    </p:spTree>
    <p:extLst>
      <p:ext uri="{BB962C8B-B14F-4D97-AF65-F5344CB8AC3E}">
        <p14:creationId xmlns:p14="http://schemas.microsoft.com/office/powerpoint/2010/main" val="32003476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8CD128-5895-433F-9750-A4E79F9AC14F}" type="datetimeFigureOut">
              <a:rPr lang="en-US" smtClean="0"/>
              <a:t>1/29/2026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F518722-6812-41C3-8A0E-DD4F055827A9}" type="slidenum">
              <a:rPr lang="en-US" smtClean="0"/>
              <a:t>‹#›</a:t>
            </a:fld>
            <a:endParaRPr lang="en-US" dirty="0"/>
          </a:p>
        </p:txBody>
      </p:sp>
    </p:spTree>
    <p:extLst>
      <p:ext uri="{BB962C8B-B14F-4D97-AF65-F5344CB8AC3E}">
        <p14:creationId xmlns:p14="http://schemas.microsoft.com/office/powerpoint/2010/main" val="21131450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98CD128-5895-433F-9750-A4E79F9AC14F}" type="datetimeFigureOut">
              <a:rPr lang="en-US" smtClean="0"/>
              <a:t>1/29/2026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F518722-6812-41C3-8A0E-DD4F055827A9}" type="slidenum">
              <a:rPr lang="en-US" smtClean="0"/>
              <a:t>‹#›</a:t>
            </a:fld>
            <a:endParaRPr lang="en-US" dirty="0"/>
          </a:p>
        </p:txBody>
      </p:sp>
    </p:spTree>
    <p:extLst>
      <p:ext uri="{BB962C8B-B14F-4D97-AF65-F5344CB8AC3E}">
        <p14:creationId xmlns:p14="http://schemas.microsoft.com/office/powerpoint/2010/main" val="8461277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98CD128-5895-433F-9750-A4E79F9AC14F}" type="datetimeFigureOut">
              <a:rPr lang="en-US" smtClean="0"/>
              <a:t>1/29/2026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F518722-6812-41C3-8A0E-DD4F055827A9}" type="slidenum">
              <a:rPr lang="en-US" smtClean="0"/>
              <a:t>‹#›</a:t>
            </a:fld>
            <a:endParaRPr lang="en-US" dirty="0"/>
          </a:p>
        </p:txBody>
      </p:sp>
    </p:spTree>
    <p:extLst>
      <p:ext uri="{BB962C8B-B14F-4D97-AF65-F5344CB8AC3E}">
        <p14:creationId xmlns:p14="http://schemas.microsoft.com/office/powerpoint/2010/main" val="41568508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98CD128-5895-433F-9750-A4E79F9AC14F}" type="datetimeFigureOut">
              <a:rPr lang="en-US" smtClean="0"/>
              <a:t>1/29/2026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F518722-6812-41C3-8A0E-DD4F055827A9}" type="slidenum">
              <a:rPr lang="en-US" smtClean="0"/>
              <a:t>‹#›</a:t>
            </a:fld>
            <a:endParaRPr lang="en-US" dirty="0"/>
          </a:p>
        </p:txBody>
      </p:sp>
    </p:spTree>
    <p:extLst>
      <p:ext uri="{BB962C8B-B14F-4D97-AF65-F5344CB8AC3E}">
        <p14:creationId xmlns:p14="http://schemas.microsoft.com/office/powerpoint/2010/main" val="29168972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98CD128-5895-433F-9750-A4E79F9AC14F}" type="datetimeFigureOut">
              <a:rPr lang="en-US" smtClean="0"/>
              <a:t>1/29/2026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F518722-6812-41C3-8A0E-DD4F055827A9}" type="slidenum">
              <a:rPr lang="en-US" smtClean="0"/>
              <a:t>‹#›</a:t>
            </a:fld>
            <a:endParaRPr lang="en-US" dirty="0"/>
          </a:p>
        </p:txBody>
      </p:sp>
    </p:spTree>
    <p:extLst>
      <p:ext uri="{BB962C8B-B14F-4D97-AF65-F5344CB8AC3E}">
        <p14:creationId xmlns:p14="http://schemas.microsoft.com/office/powerpoint/2010/main" val="31581675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8CD128-5895-433F-9750-A4E79F9AC14F}" type="datetimeFigureOut">
              <a:rPr lang="en-US" smtClean="0"/>
              <a:t>1/29/2026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F518722-6812-41C3-8A0E-DD4F055827A9}" type="slidenum">
              <a:rPr lang="en-US" smtClean="0"/>
              <a:t>‹#›</a:t>
            </a:fld>
            <a:endParaRPr lang="en-US" dirty="0"/>
          </a:p>
        </p:txBody>
      </p:sp>
    </p:spTree>
    <p:extLst>
      <p:ext uri="{BB962C8B-B14F-4D97-AF65-F5344CB8AC3E}">
        <p14:creationId xmlns:p14="http://schemas.microsoft.com/office/powerpoint/2010/main" val="38224576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4.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customXml" Target="../ink/ink7.xml"/><Relationship Id="rId3" Type="http://schemas.openxmlformats.org/officeDocument/2006/relationships/image" Target="../media/image1.emf"/><Relationship Id="rId7" Type="http://schemas.openxmlformats.org/officeDocument/2006/relationships/image" Target="../media/image3.emf"/><Relationship Id="rId12" Type="http://schemas.openxmlformats.org/officeDocument/2006/relationships/image" Target="../media/image5.emf"/><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customXml" Target="../ink/ink3.xml"/><Relationship Id="rId11" Type="http://schemas.openxmlformats.org/officeDocument/2006/relationships/customXml" Target="../ink/ink6.xml"/><Relationship Id="rId5" Type="http://schemas.openxmlformats.org/officeDocument/2006/relationships/image" Target="../media/image2.emf"/><Relationship Id="rId10" Type="http://schemas.openxmlformats.org/officeDocument/2006/relationships/customXml" Target="../ink/ink5.xml"/><Relationship Id="rId4" Type="http://schemas.openxmlformats.org/officeDocument/2006/relationships/customXml" Target="../ink/ink2.xml"/><Relationship Id="rId9" Type="http://schemas.openxmlformats.org/officeDocument/2006/relationships/image" Target="../media/image4.emf"/><Relationship Id="rId14" Type="http://schemas.openxmlformats.org/officeDocument/2006/relationships/image" Target="../media/image6.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kernel.org/"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hyperlink" Target="https://0xax.gitbooks.io/linux-insides/content/SysCall/linux-syscall-1.html" TargetMode="External"/><Relationship Id="rId4" Type="http://schemas.openxmlformats.org/officeDocument/2006/relationships/hyperlink" Target="https://elixir.bootlin.com/linux/v5.15/source"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hyperlink" Target="http://www.ostep.org/" TargetMode="Externa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hyperlink" Target="http://www.ostep.org/" TargetMode="Externa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hyperlink" Target="http://lxr.linux.no/linux+v3.2/arch/x86/include/asm/unistd_64.h" TargetMode="Externa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Process Management</a:t>
            </a:r>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2042880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we will cover</a:t>
            </a:r>
          </a:p>
        </p:txBody>
      </p:sp>
      <p:sp>
        <p:nvSpPr>
          <p:cNvPr id="3" name="Content Placeholder 2"/>
          <p:cNvSpPr>
            <a:spLocks noGrp="1"/>
          </p:cNvSpPr>
          <p:nvPr>
            <p:ph idx="1"/>
          </p:nvPr>
        </p:nvSpPr>
        <p:spPr/>
        <p:txBody>
          <a:bodyPr/>
          <a:lstStyle/>
          <a:p>
            <a:r>
              <a:rPr lang="en-US" dirty="0"/>
              <a:t>Process management interface to the programmer</a:t>
            </a:r>
          </a:p>
          <a:p>
            <a:r>
              <a:rPr lang="en-US" dirty="0"/>
              <a:t>Switching between kernel and use mode</a:t>
            </a:r>
          </a:p>
          <a:p>
            <a:pPr lvl="1"/>
            <a:r>
              <a:rPr lang="en-US" dirty="0"/>
              <a:t>Why and How</a:t>
            </a:r>
          </a:p>
          <a:p>
            <a:pPr lvl="1"/>
            <a:r>
              <a:rPr lang="en-US" dirty="0"/>
              <a:t>Context and stacks</a:t>
            </a:r>
          </a:p>
          <a:p>
            <a:r>
              <a:rPr lang="en-US" dirty="0"/>
              <a:t>Process execution status/states</a:t>
            </a:r>
          </a:p>
          <a:p>
            <a:r>
              <a:rPr lang="en-US" dirty="0"/>
              <a:t>Process Control Block </a:t>
            </a:r>
          </a:p>
          <a:p>
            <a:r>
              <a:rPr lang="en-US" dirty="0"/>
              <a:t>Process scheduling methods</a:t>
            </a:r>
          </a:p>
          <a:p>
            <a:r>
              <a:rPr lang="en-US" dirty="0"/>
              <a:t>Process priorities</a:t>
            </a:r>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20392436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Examining a process</a:t>
            </a:r>
          </a:p>
        </p:txBody>
      </p:sp>
      <p:sp>
        <p:nvSpPr>
          <p:cNvPr id="3" name="Content Placeholder 2"/>
          <p:cNvSpPr>
            <a:spLocks noGrp="1"/>
          </p:cNvSpPr>
          <p:nvPr>
            <p:ph sz="half" idx="1"/>
          </p:nvPr>
        </p:nvSpPr>
        <p:spPr>
          <a:xfrm>
            <a:off x="838199" y="1825625"/>
            <a:ext cx="10373751" cy="776898"/>
          </a:xfrm>
        </p:spPr>
        <p:txBody>
          <a:bodyPr>
            <a:normAutofit/>
          </a:bodyPr>
          <a:lstStyle/>
          <a:p>
            <a:r>
              <a:rPr lang="en-US" dirty="0"/>
              <a:t>e.g.   </a:t>
            </a:r>
            <a:r>
              <a:rPr lang="en-US" sz="2400" b="1" dirty="0">
                <a:latin typeface="Courier New" panose="02070309020205020404" pitchFamily="49" charset="0"/>
                <a:cs typeface="Courier New" panose="02070309020205020404" pitchFamily="49" charset="0"/>
              </a:rPr>
              <a:t>$  file /home/</a:t>
            </a:r>
            <a:r>
              <a:rPr lang="en-US" sz="2400" b="1" dirty="0" err="1">
                <a:latin typeface="Courier New" panose="02070309020205020404" pitchFamily="49" charset="0"/>
                <a:cs typeface="Courier New" panose="02070309020205020404" pitchFamily="49" charset="0"/>
              </a:rPr>
              <a:t>iiitb</a:t>
            </a:r>
            <a:r>
              <a:rPr lang="en-US" sz="2400" b="1" dirty="0">
                <a:latin typeface="Courier New" panose="02070309020205020404" pitchFamily="49" charset="0"/>
                <a:cs typeface="Courier New" panose="02070309020205020404" pitchFamily="49" charset="0"/>
              </a:rPr>
              <a:t>/loopy</a:t>
            </a:r>
            <a:endParaRPr lang="en-US" b="1" dirty="0">
              <a:latin typeface="Courier New" panose="02070309020205020404" pitchFamily="49" charset="0"/>
              <a:cs typeface="Courier New" panose="02070309020205020404" pitchFamily="49" charset="0"/>
            </a:endParaRPr>
          </a:p>
          <a:p>
            <a:endParaRPr lang="en-US" dirty="0"/>
          </a:p>
          <a:p>
            <a:endParaRPr lang="en-US" dirty="0"/>
          </a:p>
          <a:p>
            <a:endParaRPr lang="en-US" dirty="0"/>
          </a:p>
          <a:p>
            <a:endParaRPr lang="en-US" dirty="0"/>
          </a:p>
          <a:p>
            <a:endParaRPr lang="en-US" dirty="0"/>
          </a:p>
        </p:txBody>
      </p:sp>
      <p:sp>
        <p:nvSpPr>
          <p:cNvPr id="4" name="Rectangle 3"/>
          <p:cNvSpPr/>
          <p:nvPr/>
        </p:nvSpPr>
        <p:spPr>
          <a:xfrm>
            <a:off x="4400681" y="2520212"/>
            <a:ext cx="3352800" cy="1602864"/>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2000" b="1" dirty="0">
                <a:solidFill>
                  <a:schemeClr val="tx1"/>
                </a:solidFill>
              </a:rPr>
              <a:t>$  ./loopy busy</a:t>
            </a:r>
          </a:p>
        </p:txBody>
      </p:sp>
      <p:sp>
        <p:nvSpPr>
          <p:cNvPr id="5" name="Rectangle 4"/>
          <p:cNvSpPr/>
          <p:nvPr/>
        </p:nvSpPr>
        <p:spPr>
          <a:xfrm>
            <a:off x="334532" y="2520212"/>
            <a:ext cx="3352800" cy="1602864"/>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2000" b="1" dirty="0">
                <a:solidFill>
                  <a:schemeClr val="tx1"/>
                </a:solidFill>
              </a:rPr>
              <a:t>$  ./loopy busy</a:t>
            </a:r>
          </a:p>
        </p:txBody>
      </p:sp>
      <p:sp>
        <p:nvSpPr>
          <p:cNvPr id="6" name="Rectangle 5"/>
          <p:cNvSpPr/>
          <p:nvPr/>
        </p:nvSpPr>
        <p:spPr>
          <a:xfrm>
            <a:off x="334532" y="4684293"/>
            <a:ext cx="4314092" cy="1602864"/>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2000" b="1" dirty="0">
                <a:solidFill>
                  <a:schemeClr val="tx1"/>
                </a:solidFill>
              </a:rPr>
              <a:t>$  ps x</a:t>
            </a:r>
          </a:p>
          <a:p>
            <a:r>
              <a:rPr lang="en-US" sz="2000" b="1" dirty="0">
                <a:solidFill>
                  <a:schemeClr val="tx1"/>
                </a:solidFill>
              </a:rPr>
              <a:t>   …</a:t>
            </a:r>
          </a:p>
          <a:p>
            <a:r>
              <a:rPr lang="en-US" sz="2000" b="1" dirty="0">
                <a:solidFill>
                  <a:schemeClr val="tx1"/>
                </a:solidFill>
              </a:rPr>
              <a:t>   5948 pts/1    R+     0:06 ./loopy busy</a:t>
            </a:r>
          </a:p>
          <a:p>
            <a:r>
              <a:rPr lang="en-US" sz="2000" b="1" dirty="0">
                <a:solidFill>
                  <a:schemeClr val="tx1"/>
                </a:solidFill>
              </a:rPr>
              <a:t>   5949 pts/2    R+     0:01 ./loopy busy</a:t>
            </a:r>
          </a:p>
          <a:p>
            <a:r>
              <a:rPr lang="en-US" sz="2000" b="1" dirty="0">
                <a:solidFill>
                  <a:schemeClr val="tx1"/>
                </a:solidFill>
              </a:rPr>
              <a:t>   5950 pts/0    R+     0:00 ps x</a:t>
            </a:r>
          </a:p>
        </p:txBody>
      </p:sp>
      <p:sp>
        <p:nvSpPr>
          <p:cNvPr id="8" name="TextBox 7"/>
          <p:cNvSpPr txBox="1"/>
          <p:nvPr/>
        </p:nvSpPr>
        <p:spPr>
          <a:xfrm>
            <a:off x="6204848" y="4304117"/>
            <a:ext cx="5987152" cy="1569660"/>
          </a:xfrm>
          <a:prstGeom prst="rect">
            <a:avLst/>
          </a:prstGeom>
          <a:noFill/>
        </p:spPr>
        <p:txBody>
          <a:bodyPr wrap="none" rtlCol="0">
            <a:spAutoFit/>
          </a:bodyPr>
          <a:lstStyle/>
          <a:p>
            <a:r>
              <a:rPr lang="en-US" sz="2400" dirty="0"/>
              <a:t>Multiple processes are </a:t>
            </a:r>
            <a:r>
              <a:rPr lang="en-US" sz="2400" i="1" dirty="0"/>
              <a:t>simultaneously</a:t>
            </a:r>
            <a:r>
              <a:rPr lang="en-US" sz="2400" dirty="0"/>
              <a:t> running</a:t>
            </a:r>
            <a:br>
              <a:rPr lang="en-US" sz="2400" dirty="0"/>
            </a:br>
            <a:r>
              <a:rPr lang="en-US" sz="2400" dirty="0"/>
              <a:t>-  Not one after the other completes</a:t>
            </a:r>
          </a:p>
          <a:p>
            <a:pPr marL="285750" indent="-285750">
              <a:buFontTx/>
              <a:buChar char="-"/>
            </a:pPr>
            <a:r>
              <a:rPr lang="en-US" sz="2400" dirty="0"/>
              <a:t>They are </a:t>
            </a:r>
            <a:r>
              <a:rPr lang="en-US" sz="2400" i="1" dirty="0"/>
              <a:t>unaffected</a:t>
            </a:r>
            <a:r>
              <a:rPr lang="en-US" sz="2400" dirty="0"/>
              <a:t> by each other</a:t>
            </a:r>
          </a:p>
          <a:p>
            <a:pPr marL="285750" indent="-285750">
              <a:buFontTx/>
              <a:buChar char="-"/>
            </a:pPr>
            <a:r>
              <a:rPr lang="en-US" sz="2400" i="1" dirty="0"/>
              <a:t>Does not affect</a:t>
            </a:r>
            <a:r>
              <a:rPr lang="en-US" sz="2400" dirty="0"/>
              <a:t> kernel operations</a:t>
            </a:r>
          </a:p>
        </p:txBody>
      </p:sp>
      <p:sp>
        <p:nvSpPr>
          <p:cNvPr id="9" name="Rounded Rectangular Callout 8"/>
          <p:cNvSpPr/>
          <p:nvPr/>
        </p:nvSpPr>
        <p:spPr>
          <a:xfrm>
            <a:off x="4031030" y="4303006"/>
            <a:ext cx="1533191" cy="451142"/>
          </a:xfrm>
          <a:prstGeom prst="wedgeRoundRectCallout">
            <a:avLst>
              <a:gd name="adj1" fmla="val -85017"/>
              <a:gd name="adj2" fmla="val 189578"/>
              <a:gd name="adj3" fmla="val 16667"/>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Processes</a:t>
            </a:r>
          </a:p>
        </p:txBody>
      </p:sp>
    </p:spTree>
    <p:extLst>
      <p:ext uri="{BB962C8B-B14F-4D97-AF65-F5344CB8AC3E}">
        <p14:creationId xmlns:p14="http://schemas.microsoft.com/office/powerpoint/2010/main" val="19243232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Concept: Policy vs Mechanism</a:t>
            </a:r>
          </a:p>
        </p:txBody>
      </p:sp>
      <p:sp>
        <p:nvSpPr>
          <p:cNvPr id="3" name="Content Placeholder 2"/>
          <p:cNvSpPr>
            <a:spLocks noGrp="1"/>
          </p:cNvSpPr>
          <p:nvPr>
            <p:ph sz="half" idx="1"/>
          </p:nvPr>
        </p:nvSpPr>
        <p:spPr/>
        <p:txBody>
          <a:bodyPr/>
          <a:lstStyle/>
          <a:p>
            <a:r>
              <a:rPr lang="en-US" dirty="0"/>
              <a:t>Mechanism – it’s a set of tools, capabilities, ‘library’</a:t>
            </a:r>
          </a:p>
        </p:txBody>
      </p:sp>
      <p:sp>
        <p:nvSpPr>
          <p:cNvPr id="4" name="Content Placeholder 3"/>
          <p:cNvSpPr>
            <a:spLocks noGrp="1"/>
          </p:cNvSpPr>
          <p:nvPr>
            <p:ph sz="half" idx="2"/>
          </p:nvPr>
        </p:nvSpPr>
        <p:spPr/>
        <p:txBody>
          <a:bodyPr/>
          <a:lstStyle/>
          <a:p>
            <a:r>
              <a:rPr lang="en-US" dirty="0"/>
              <a:t>Policy – its about using the mechanism to achieve a certain end</a:t>
            </a:r>
          </a:p>
        </p:txBody>
      </p:sp>
    </p:spTree>
    <p:extLst>
      <p:ext uri="{BB962C8B-B14F-4D97-AF65-F5344CB8AC3E}">
        <p14:creationId xmlns:p14="http://schemas.microsoft.com/office/powerpoint/2010/main" val="32587522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management APIs</a:t>
            </a:r>
          </a:p>
        </p:txBody>
      </p:sp>
      <p:sp>
        <p:nvSpPr>
          <p:cNvPr id="3" name="Content Placeholder 2"/>
          <p:cNvSpPr>
            <a:spLocks noGrp="1"/>
          </p:cNvSpPr>
          <p:nvPr>
            <p:ph idx="1"/>
          </p:nvPr>
        </p:nvSpPr>
        <p:spPr/>
        <p:txBody>
          <a:bodyPr>
            <a:normAutofit/>
          </a:bodyPr>
          <a:lstStyle/>
          <a:p>
            <a:r>
              <a:rPr lang="en-US" dirty="0"/>
              <a:t>We’ve already seen  </a:t>
            </a:r>
            <a:r>
              <a:rPr lang="en-US" dirty="0">
                <a:latin typeface="Courier New" panose="02070309020205020404" pitchFamily="49" charset="0"/>
                <a:cs typeface="Courier New" panose="02070309020205020404" pitchFamily="49" charset="0"/>
              </a:rPr>
              <a:t>fork(2) </a:t>
            </a:r>
            <a:r>
              <a:rPr lang="en-US" dirty="0"/>
              <a:t>and </a:t>
            </a:r>
            <a:r>
              <a:rPr lang="en-US" dirty="0">
                <a:latin typeface="Courier New" panose="02070309020205020404" pitchFamily="49" charset="0"/>
                <a:cs typeface="Courier New" panose="02070309020205020404" pitchFamily="49" charset="0"/>
              </a:rPr>
              <a:t>exec(3) </a:t>
            </a:r>
            <a:r>
              <a:rPr lang="en-US" dirty="0"/>
              <a:t>and </a:t>
            </a:r>
            <a:r>
              <a:rPr lang="en-US" dirty="0">
                <a:latin typeface="Courier New" panose="02070309020205020404" pitchFamily="49" charset="0"/>
                <a:cs typeface="Courier New" panose="02070309020205020404" pitchFamily="49" charset="0"/>
              </a:rPr>
              <a:t>wait(2) </a:t>
            </a:r>
            <a:r>
              <a:rPr lang="en-US" dirty="0"/>
              <a:t>(family of) calls</a:t>
            </a:r>
          </a:p>
          <a:p>
            <a:r>
              <a:rPr lang="en-US" dirty="0"/>
              <a:t>Getting rid of a process: </a:t>
            </a:r>
            <a:r>
              <a:rPr lang="en-US" dirty="0">
                <a:latin typeface="Courier New" panose="02070309020205020404" pitchFamily="49" charset="0"/>
                <a:cs typeface="Courier New" panose="02070309020205020404" pitchFamily="49" charset="0"/>
              </a:rPr>
              <a:t>kill(1) kill(2)</a:t>
            </a:r>
          </a:p>
          <a:p>
            <a:pPr lvl="1"/>
            <a:r>
              <a:rPr lang="en-US" dirty="0"/>
              <a:t>Try this from the command line</a:t>
            </a:r>
          </a:p>
          <a:p>
            <a:pPr lvl="1"/>
            <a:r>
              <a:rPr lang="en-US" dirty="0"/>
              <a:t>See </a:t>
            </a:r>
            <a:r>
              <a:rPr lang="en-US" dirty="0" err="1">
                <a:latin typeface="Courier New" panose="02070309020205020404" pitchFamily="49" charset="0"/>
                <a:cs typeface="Courier New" panose="02070309020205020404" pitchFamily="49" charset="0"/>
              </a:rPr>
              <a:t>fork_and_termC.c</a:t>
            </a:r>
            <a:endParaRPr lang="en-US" dirty="0">
              <a:latin typeface="Courier New" panose="02070309020205020404" pitchFamily="49" charset="0"/>
              <a:cs typeface="Courier New" panose="02070309020205020404" pitchFamily="49" charset="0"/>
            </a:endParaRPr>
          </a:p>
          <a:p>
            <a:pPr lvl="1"/>
            <a:r>
              <a:rPr lang="en-US" dirty="0"/>
              <a:t>Actually this system call, </a:t>
            </a:r>
            <a:r>
              <a:rPr lang="en-US" dirty="0">
                <a:latin typeface="Courier New" panose="02070309020205020404" pitchFamily="49" charset="0"/>
                <a:cs typeface="Courier New" panose="02070309020205020404" pitchFamily="49" charset="0"/>
              </a:rPr>
              <a:t>kill(2)</a:t>
            </a:r>
            <a:r>
              <a:rPr lang="en-US" dirty="0"/>
              <a:t>, does something more, we learn about it later</a:t>
            </a:r>
          </a:p>
          <a:p>
            <a:r>
              <a:rPr lang="en-US" dirty="0"/>
              <a:t>What processes exist on the system  at any time (on </a:t>
            </a:r>
            <a:r>
              <a:rPr lang="en-US" dirty="0" err="1"/>
              <a:t>linux</a:t>
            </a:r>
            <a:r>
              <a:rPr lang="en-US" dirty="0"/>
              <a:t>)</a:t>
            </a:r>
          </a:p>
          <a:p>
            <a:pPr lvl="1"/>
            <a:r>
              <a:rPr lang="en-US" dirty="0"/>
              <a:t>Use </a:t>
            </a:r>
            <a:r>
              <a:rPr lang="en-US" dirty="0">
                <a:latin typeface="Courier New" panose="02070309020205020404" pitchFamily="49" charset="0"/>
                <a:cs typeface="Courier New" panose="02070309020205020404" pitchFamily="49" charset="0"/>
              </a:rPr>
              <a:t>ps –ax</a:t>
            </a:r>
            <a:r>
              <a:rPr lang="en-US" dirty="0"/>
              <a:t>,   Or</a:t>
            </a:r>
          </a:p>
          <a:p>
            <a:pPr lvl="1"/>
            <a:r>
              <a:rPr lang="en-US" dirty="0"/>
              <a:t>Examine </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proc</a:t>
            </a:r>
            <a:r>
              <a:rPr lang="en-US" dirty="0">
                <a:latin typeface="Courier New" panose="02070309020205020404" pitchFamily="49" charset="0"/>
                <a:cs typeface="Courier New" panose="02070309020205020404" pitchFamily="49" charset="0"/>
              </a:rPr>
              <a:t>/  </a:t>
            </a:r>
            <a:r>
              <a:rPr lang="en-US" dirty="0"/>
              <a:t>directory</a:t>
            </a:r>
          </a:p>
          <a:p>
            <a:pPr lvl="1"/>
            <a:endParaRPr lang="en-US" dirty="0"/>
          </a:p>
          <a:p>
            <a:endParaRPr lang="en-US" dirty="0"/>
          </a:p>
        </p:txBody>
      </p:sp>
    </p:spTree>
    <p:extLst>
      <p:ext uri="{BB962C8B-B14F-4D97-AF65-F5344CB8AC3E}">
        <p14:creationId xmlns:p14="http://schemas.microsoft.com/office/powerpoint/2010/main" val="24962940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management APIs (more) </a:t>
            </a:r>
          </a:p>
        </p:txBody>
      </p:sp>
      <p:sp>
        <p:nvSpPr>
          <p:cNvPr id="3" name="Content Placeholder 2"/>
          <p:cNvSpPr>
            <a:spLocks noGrp="1"/>
          </p:cNvSpPr>
          <p:nvPr>
            <p:ph idx="1"/>
          </p:nvPr>
        </p:nvSpPr>
        <p:spPr>
          <a:xfrm>
            <a:off x="838199" y="1825625"/>
            <a:ext cx="10641037" cy="4351338"/>
          </a:xfrm>
        </p:spPr>
        <p:txBody>
          <a:bodyPr/>
          <a:lstStyle/>
          <a:p>
            <a:r>
              <a:rPr lang="en-US" dirty="0">
                <a:latin typeface="Courier New" panose="02070309020205020404" pitchFamily="49" charset="0"/>
                <a:cs typeface="Courier New" panose="02070309020205020404" pitchFamily="49" charset="0"/>
              </a:rPr>
              <a:t>^Z, </a:t>
            </a:r>
            <a:r>
              <a:rPr lang="en-US" dirty="0" err="1">
                <a:latin typeface="Courier New" panose="02070309020205020404" pitchFamily="49" charset="0"/>
                <a:cs typeface="Courier New" panose="02070309020205020404" pitchFamily="49" charset="0"/>
              </a:rPr>
              <a:t>bg</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fg</a:t>
            </a:r>
            <a:r>
              <a:rPr lang="en-US" dirty="0">
                <a:latin typeface="Courier New" panose="02070309020205020404" pitchFamily="49" charset="0"/>
                <a:cs typeface="Courier New" panose="02070309020205020404" pitchFamily="49" charset="0"/>
              </a:rPr>
              <a:t>, jobs, ^C</a:t>
            </a:r>
          </a:p>
          <a:p>
            <a:r>
              <a:rPr lang="en-US" dirty="0"/>
              <a:t>All jobs under one (virtual) terminal (like </a:t>
            </a:r>
            <a:r>
              <a:rPr lang="en-US" dirty="0">
                <a:latin typeface="Courier New" panose="02070309020205020404" pitchFamily="49" charset="0"/>
                <a:cs typeface="Courier New" panose="02070309020205020404" pitchFamily="49" charset="0"/>
              </a:rPr>
              <a:t>pts/2</a:t>
            </a:r>
            <a:r>
              <a:rPr lang="en-US" dirty="0"/>
              <a:t>) are in one </a:t>
            </a:r>
            <a:r>
              <a:rPr lang="en-US" b="1" dirty="0"/>
              <a:t>session</a:t>
            </a:r>
          </a:p>
          <a:p>
            <a:r>
              <a:rPr lang="en-US" dirty="0"/>
              <a:t>A </a:t>
            </a:r>
            <a:r>
              <a:rPr lang="en-US" b="1" dirty="0"/>
              <a:t>job</a:t>
            </a:r>
            <a:r>
              <a:rPr lang="en-US" dirty="0"/>
              <a:t> is a fancy word for the process (or  processes) on a single command </a:t>
            </a:r>
          </a:p>
          <a:p>
            <a:pPr lvl="1"/>
            <a:r>
              <a:rPr lang="en-US" dirty="0"/>
              <a:t>ls –l</a:t>
            </a:r>
          </a:p>
          <a:p>
            <a:pPr lvl="1"/>
            <a:r>
              <a:rPr lang="en-US" dirty="0" err="1"/>
              <a:t>ps</a:t>
            </a:r>
            <a:endParaRPr lang="en-US" dirty="0"/>
          </a:p>
          <a:p>
            <a:pPr lvl="1"/>
            <a:r>
              <a:rPr lang="en-US" dirty="0" err="1"/>
              <a:t>objdump</a:t>
            </a:r>
            <a:r>
              <a:rPr lang="en-US" dirty="0"/>
              <a:t> –d ./</a:t>
            </a:r>
            <a:r>
              <a:rPr lang="en-US" dirty="0" err="1"/>
              <a:t>a.out</a:t>
            </a:r>
            <a:r>
              <a:rPr lang="en-US" dirty="0"/>
              <a:t> | </a:t>
            </a:r>
            <a:r>
              <a:rPr lang="en-US" dirty="0" err="1"/>
              <a:t>grep</a:t>
            </a:r>
            <a:r>
              <a:rPr lang="en-US" dirty="0"/>
              <a:t> </a:t>
            </a:r>
            <a:r>
              <a:rPr lang="en-US" dirty="0" err="1"/>
              <a:t>syscall</a:t>
            </a:r>
            <a:r>
              <a:rPr lang="en-US" dirty="0"/>
              <a:t>          </a:t>
            </a:r>
            <a:r>
              <a:rPr lang="en-US" sz="1800" i="1" dirty="0">
                <a:latin typeface="Times New Roman" panose="02020603050405020304" pitchFamily="18" charset="0"/>
                <a:cs typeface="Times New Roman" panose="02020603050405020304" pitchFamily="18" charset="0"/>
              </a:rPr>
              <a:t>Note how this commands has </a:t>
            </a:r>
            <a:r>
              <a:rPr lang="en-US" sz="1800" b="1" i="1" u="sng" dirty="0">
                <a:solidFill>
                  <a:schemeClr val="accent1">
                    <a:lumMod val="75000"/>
                  </a:schemeClr>
                </a:solidFill>
                <a:latin typeface="Times New Roman" panose="02020603050405020304" pitchFamily="18" charset="0"/>
                <a:cs typeface="Times New Roman" panose="02020603050405020304" pitchFamily="18" charset="0"/>
              </a:rPr>
              <a:t>two</a:t>
            </a:r>
            <a:r>
              <a:rPr lang="en-US" sz="1800" i="1" dirty="0">
                <a:latin typeface="Times New Roman" panose="02020603050405020304" pitchFamily="18" charset="0"/>
                <a:cs typeface="Times New Roman" panose="02020603050405020304" pitchFamily="18" charset="0"/>
              </a:rPr>
              <a:t> processes running</a:t>
            </a:r>
            <a:endParaRPr lang="en-US"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76042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i="1" dirty="0"/>
              <a:t>Linux: </a:t>
            </a:r>
            <a:r>
              <a:rPr lang="en-US" dirty="0"/>
              <a:t>Processes, Process Groups, session, session leader, </a:t>
            </a:r>
            <a:r>
              <a:rPr lang="en-US" dirty="0" err="1"/>
              <a:t>tty</a:t>
            </a:r>
            <a:r>
              <a:rPr lang="en-US" dirty="0"/>
              <a:t>, foreground process-group etc.</a:t>
            </a:r>
          </a:p>
        </p:txBody>
      </p:sp>
      <p:sp>
        <p:nvSpPr>
          <p:cNvPr id="5" name="Content Placeholder 4"/>
          <p:cNvSpPr>
            <a:spLocks noGrp="1"/>
          </p:cNvSpPr>
          <p:nvPr>
            <p:ph idx="1"/>
          </p:nvPr>
        </p:nvSpPr>
        <p:spPr/>
        <p:txBody>
          <a:bodyPr>
            <a:normAutofit fontScale="85000" lnSpcReduction="20000"/>
          </a:bodyPr>
          <a:lstStyle/>
          <a:p>
            <a:pPr marL="0" indent="0">
              <a:buNone/>
            </a:pPr>
            <a:r>
              <a:rPr lang="en-US" dirty="0"/>
              <a:t>$ ./loopy busy &amp;</a:t>
            </a:r>
            <a:br>
              <a:rPr lang="en-US" dirty="0"/>
            </a:br>
            <a:r>
              <a:rPr lang="en-US" dirty="0"/>
              <a:t>$ ./loopy busy &amp;</a:t>
            </a:r>
            <a:br>
              <a:rPr lang="en-US" dirty="0"/>
            </a:br>
            <a:r>
              <a:rPr lang="en-US" dirty="0"/>
              <a:t>$ </a:t>
            </a:r>
            <a:r>
              <a:rPr lang="en-US" dirty="0">
                <a:solidFill>
                  <a:schemeClr val="accent1"/>
                </a:solidFill>
              </a:rPr>
              <a:t>sort | more                                        </a:t>
            </a:r>
            <a:r>
              <a:rPr lang="en-US" i="1" dirty="0">
                <a:latin typeface="Times New Roman" panose="02020603050405020304" pitchFamily="18" charset="0"/>
                <a:cs typeface="Times New Roman" panose="02020603050405020304" pitchFamily="18" charset="0"/>
              </a:rPr>
              <a:t>Notice all these are running, not yet done.</a:t>
            </a:r>
          </a:p>
          <a:p>
            <a:pPr marL="0" indent="0">
              <a:buNone/>
            </a:pPr>
            <a:r>
              <a:rPr lang="en-US" dirty="0"/>
              <a:t>….</a:t>
            </a:r>
          </a:p>
          <a:p>
            <a:pPr marL="0" indent="0">
              <a:buNone/>
            </a:pPr>
            <a:r>
              <a:rPr lang="en-US" dirty="0"/>
              <a:t>On another terminal lets do a </a:t>
            </a:r>
            <a:r>
              <a:rPr lang="en-US" dirty="0" err="1"/>
              <a:t>ps</a:t>
            </a:r>
            <a:r>
              <a:rPr lang="en-US" dirty="0"/>
              <a:t> and know more about these 4 processes</a:t>
            </a:r>
          </a:p>
          <a:p>
            <a:pPr marL="0" indent="0">
              <a:buNone/>
            </a:pPr>
            <a:endParaRPr lang="en-US" dirty="0"/>
          </a:p>
          <a:p>
            <a:pPr marL="0" indent="0">
              <a:buNone/>
            </a:pPr>
            <a:r>
              <a:rPr lang="en-US" dirty="0"/>
              <a:t>PID    PPID   COMM         TT       STAT   UID   GID    PGID    SID</a:t>
            </a:r>
          </a:p>
          <a:p>
            <a:pPr marL="0" indent="0">
              <a:buNone/>
            </a:pPr>
            <a:r>
              <a:rPr lang="en-US" dirty="0"/>
              <a:t>1312  2485  bash           </a:t>
            </a:r>
            <a:r>
              <a:rPr lang="en-US" dirty="0">
                <a:solidFill>
                  <a:srgbClr val="FF0000"/>
                </a:solidFill>
              </a:rPr>
              <a:t>pts/4</a:t>
            </a:r>
            <a:r>
              <a:rPr lang="en-US" dirty="0"/>
              <a:t>    </a:t>
            </a:r>
            <a:r>
              <a:rPr lang="en-US" dirty="0" err="1"/>
              <a:t>S</a:t>
            </a:r>
            <a:r>
              <a:rPr lang="en-US" dirty="0" err="1">
                <a:solidFill>
                  <a:schemeClr val="accent2"/>
                </a:solidFill>
              </a:rPr>
              <a:t>s</a:t>
            </a:r>
            <a:r>
              <a:rPr lang="en-US" dirty="0"/>
              <a:t>    1000  1000   1312   </a:t>
            </a:r>
            <a:r>
              <a:rPr lang="en-US" dirty="0">
                <a:solidFill>
                  <a:srgbClr val="FF0000"/>
                </a:solidFill>
              </a:rPr>
              <a:t>1312</a:t>
            </a:r>
          </a:p>
          <a:p>
            <a:pPr marL="0" indent="0">
              <a:buNone/>
            </a:pPr>
            <a:r>
              <a:rPr lang="en-US" dirty="0"/>
              <a:t>2007  1312  loopy         </a:t>
            </a:r>
            <a:r>
              <a:rPr lang="en-US" dirty="0">
                <a:solidFill>
                  <a:srgbClr val="FF0000"/>
                </a:solidFill>
              </a:rPr>
              <a:t>pts/4</a:t>
            </a:r>
            <a:r>
              <a:rPr lang="en-US" dirty="0"/>
              <a:t>    R      1000  </a:t>
            </a:r>
            <a:r>
              <a:rPr lang="en-US"/>
              <a:t>1000   2007   </a:t>
            </a:r>
            <a:r>
              <a:rPr lang="en-US" dirty="0">
                <a:solidFill>
                  <a:srgbClr val="FF0000"/>
                </a:solidFill>
              </a:rPr>
              <a:t>1312</a:t>
            </a:r>
            <a:br>
              <a:rPr lang="en-US" dirty="0"/>
            </a:br>
            <a:r>
              <a:rPr lang="en-US" dirty="0"/>
              <a:t>2009  1312  loopy         </a:t>
            </a:r>
            <a:r>
              <a:rPr lang="en-US" dirty="0">
                <a:solidFill>
                  <a:srgbClr val="FF0000"/>
                </a:solidFill>
              </a:rPr>
              <a:t>pts/4 </a:t>
            </a:r>
            <a:r>
              <a:rPr lang="en-US" dirty="0"/>
              <a:t>   R      1000  1000   2009   </a:t>
            </a:r>
            <a:r>
              <a:rPr lang="en-US" dirty="0">
                <a:solidFill>
                  <a:srgbClr val="FF0000"/>
                </a:solidFill>
              </a:rPr>
              <a:t>1312</a:t>
            </a:r>
          </a:p>
          <a:p>
            <a:pPr marL="0" indent="0">
              <a:buNone/>
            </a:pPr>
            <a:r>
              <a:rPr lang="en-US" dirty="0"/>
              <a:t>2088  1312  sort            </a:t>
            </a:r>
            <a:r>
              <a:rPr lang="en-US" dirty="0">
                <a:solidFill>
                  <a:srgbClr val="FF0000"/>
                </a:solidFill>
              </a:rPr>
              <a:t>pts/4</a:t>
            </a:r>
            <a:r>
              <a:rPr lang="en-US" dirty="0"/>
              <a:t>    S</a:t>
            </a:r>
            <a:r>
              <a:rPr lang="en-US" dirty="0">
                <a:solidFill>
                  <a:srgbClr val="00B050"/>
                </a:solidFill>
              </a:rPr>
              <a:t>+</a:t>
            </a:r>
            <a:r>
              <a:rPr lang="en-US" dirty="0"/>
              <a:t>    1000  1000   </a:t>
            </a:r>
            <a:r>
              <a:rPr lang="en-US" dirty="0">
                <a:solidFill>
                  <a:schemeClr val="accent1"/>
                </a:solidFill>
              </a:rPr>
              <a:t>2088</a:t>
            </a:r>
            <a:r>
              <a:rPr lang="en-US" dirty="0"/>
              <a:t>   </a:t>
            </a:r>
            <a:r>
              <a:rPr lang="en-US" dirty="0">
                <a:solidFill>
                  <a:srgbClr val="FF0000"/>
                </a:solidFill>
              </a:rPr>
              <a:t>1312</a:t>
            </a:r>
          </a:p>
          <a:p>
            <a:pPr marL="0" indent="0">
              <a:buNone/>
            </a:pPr>
            <a:r>
              <a:rPr lang="en-US" dirty="0"/>
              <a:t>2089  1312  more          </a:t>
            </a:r>
            <a:r>
              <a:rPr lang="en-US" dirty="0">
                <a:solidFill>
                  <a:srgbClr val="FF0000"/>
                </a:solidFill>
              </a:rPr>
              <a:t>pts/4</a:t>
            </a:r>
            <a:r>
              <a:rPr lang="en-US" dirty="0"/>
              <a:t>    S</a:t>
            </a:r>
            <a:r>
              <a:rPr lang="en-US" dirty="0">
                <a:solidFill>
                  <a:srgbClr val="00B050"/>
                </a:solidFill>
              </a:rPr>
              <a:t>+</a:t>
            </a:r>
            <a:r>
              <a:rPr lang="en-US" dirty="0"/>
              <a:t>    1000  1000   </a:t>
            </a:r>
            <a:r>
              <a:rPr lang="en-US" dirty="0">
                <a:solidFill>
                  <a:schemeClr val="accent1"/>
                </a:solidFill>
              </a:rPr>
              <a:t>2088</a:t>
            </a:r>
            <a:r>
              <a:rPr lang="en-US" dirty="0"/>
              <a:t>   </a:t>
            </a:r>
            <a:r>
              <a:rPr lang="en-US" dirty="0">
                <a:solidFill>
                  <a:srgbClr val="FF0000"/>
                </a:solidFill>
              </a:rPr>
              <a:t>1312</a:t>
            </a:r>
          </a:p>
          <a:p>
            <a:pPr marL="0" indent="0">
              <a:buNone/>
            </a:pPr>
            <a:endParaRPr lang="en-US" dirty="0"/>
          </a:p>
        </p:txBody>
      </p:sp>
      <p:grpSp>
        <p:nvGrpSpPr>
          <p:cNvPr id="8" name="Group 7"/>
          <p:cNvGrpSpPr/>
          <p:nvPr/>
        </p:nvGrpSpPr>
        <p:grpSpPr>
          <a:xfrm>
            <a:off x="1" y="6176963"/>
            <a:ext cx="12191999" cy="584775"/>
            <a:chOff x="1" y="6176963"/>
            <a:chExt cx="12191999" cy="584775"/>
          </a:xfrm>
        </p:grpSpPr>
        <p:sp>
          <p:nvSpPr>
            <p:cNvPr id="2" name="TextBox 1"/>
            <p:cNvSpPr txBox="1"/>
            <p:nvPr/>
          </p:nvSpPr>
          <p:spPr>
            <a:xfrm>
              <a:off x="675250" y="6176963"/>
              <a:ext cx="7698646" cy="584775"/>
            </a:xfrm>
            <a:prstGeom prst="rect">
              <a:avLst/>
            </a:prstGeom>
            <a:noFill/>
          </p:spPr>
          <p:txBody>
            <a:bodyPr wrap="none" rtlCol="0">
              <a:spAutoFit/>
            </a:bodyPr>
            <a:lstStyle/>
            <a:p>
              <a:r>
                <a:rPr lang="en-US" sz="1600" i="1" dirty="0">
                  <a:latin typeface="Times New Roman" panose="02020603050405020304" pitchFamily="18" charset="0"/>
                  <a:cs typeface="Times New Roman" panose="02020603050405020304" pitchFamily="18" charset="0"/>
                </a:rPr>
                <a:t>Note: For more details on how this is used for terminating processes and so forth, see  this</a:t>
              </a:r>
              <a:br>
                <a:rPr lang="en-US" sz="1600" i="1" dirty="0">
                  <a:latin typeface="Times New Roman" panose="02020603050405020304" pitchFamily="18" charset="0"/>
                  <a:cs typeface="Times New Roman" panose="02020603050405020304" pitchFamily="18" charset="0"/>
                </a:rPr>
              </a:br>
              <a:r>
                <a:rPr lang="en-US" sz="1600" i="1" dirty="0">
                  <a:latin typeface="Times New Roman" panose="02020603050405020304" pitchFamily="18" charset="0"/>
                  <a:cs typeface="Times New Roman" panose="02020603050405020304" pitchFamily="18" charset="0"/>
                </a:rPr>
                <a:t>interesting write up: https://linusakesson.net/programming/tty/index.php</a:t>
              </a:r>
            </a:p>
          </p:txBody>
        </p:sp>
        <p:cxnSp>
          <p:nvCxnSpPr>
            <p:cNvPr id="6" name="Straight Connector 5"/>
            <p:cNvCxnSpPr/>
            <p:nvPr/>
          </p:nvCxnSpPr>
          <p:spPr>
            <a:xfrm flipH="1">
              <a:off x="1" y="6176963"/>
              <a:ext cx="12191999" cy="0"/>
            </a:xfrm>
            <a:prstGeom prst="line">
              <a:avLst/>
            </a:prstGeom>
            <a:ln>
              <a:prstDash val="lg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18633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priority – in Linux all regular processes have a ‘nice value’</a:t>
            </a:r>
          </a:p>
        </p:txBody>
      </p:sp>
      <p:sp>
        <p:nvSpPr>
          <p:cNvPr id="3" name="Content Placeholder 2"/>
          <p:cNvSpPr>
            <a:spLocks noGrp="1"/>
          </p:cNvSpPr>
          <p:nvPr>
            <p:ph idx="1"/>
          </p:nvPr>
        </p:nvSpPr>
        <p:spPr/>
        <p:txBody>
          <a:bodyPr>
            <a:normAutofit fontScale="92500" lnSpcReduction="10000"/>
          </a:bodyPr>
          <a:lstStyle/>
          <a:p>
            <a:r>
              <a:rPr lang="en-US" dirty="0"/>
              <a:t>All processes have a priority that determines how it will be scheduled</a:t>
            </a:r>
          </a:p>
          <a:p>
            <a:pPr lvl="1"/>
            <a:r>
              <a:rPr lang="en-US" dirty="0"/>
              <a:t>Indicated by a ‘nice’ value in Linux</a:t>
            </a:r>
          </a:p>
          <a:p>
            <a:pPr lvl="1"/>
            <a:r>
              <a:rPr lang="en-US" dirty="0"/>
              <a:t>A process that is </a:t>
            </a:r>
            <a:r>
              <a:rPr lang="en-US" b="1" dirty="0"/>
              <a:t>nice to others </a:t>
            </a:r>
            <a:r>
              <a:rPr lang="en-US" dirty="0"/>
              <a:t>has reduced scheduling chance…. So higher nice value, lower the scheduling chance</a:t>
            </a:r>
          </a:p>
          <a:p>
            <a:pPr lvl="1"/>
            <a:r>
              <a:rPr lang="en-US" dirty="0"/>
              <a:t>See   </a:t>
            </a:r>
            <a:r>
              <a:rPr lang="en-US" dirty="0">
                <a:solidFill>
                  <a:schemeClr val="accent2">
                    <a:lumMod val="75000"/>
                  </a:schemeClr>
                </a:solidFill>
                <a:latin typeface="Courier New" panose="02070309020205020404" pitchFamily="49" charset="0"/>
                <a:cs typeface="Courier New" panose="02070309020205020404" pitchFamily="49" charset="0"/>
              </a:rPr>
              <a:t>ps –</a:t>
            </a:r>
            <a:r>
              <a:rPr lang="en-US" dirty="0" err="1">
                <a:solidFill>
                  <a:schemeClr val="accent2">
                    <a:lumMod val="75000"/>
                  </a:schemeClr>
                </a:solidFill>
                <a:latin typeface="Courier New" panose="02070309020205020404" pitchFamily="49" charset="0"/>
                <a:cs typeface="Courier New" panose="02070309020205020404" pitchFamily="49" charset="0"/>
              </a:rPr>
              <a:t>axl</a:t>
            </a:r>
            <a:endParaRPr lang="en-US" dirty="0"/>
          </a:p>
          <a:p>
            <a:r>
              <a:rPr lang="en-US" dirty="0"/>
              <a:t>Some commands to manage priority:</a:t>
            </a:r>
          </a:p>
          <a:p>
            <a:pPr lvl="1"/>
            <a:r>
              <a:rPr lang="en-US" dirty="0">
                <a:latin typeface="Courier New" panose="02070309020205020404" pitchFamily="49" charset="0"/>
                <a:cs typeface="Courier New" panose="02070309020205020404" pitchFamily="49" charset="0"/>
              </a:rPr>
              <a:t>nice(1)  nice(2)  </a:t>
            </a:r>
            <a:r>
              <a:rPr lang="en-US" dirty="0" err="1">
                <a:latin typeface="Courier New" panose="02070309020205020404" pitchFamily="49" charset="0"/>
                <a:cs typeface="Courier New" panose="02070309020205020404" pitchFamily="49" charset="0"/>
              </a:rPr>
              <a:t>renice</a:t>
            </a:r>
            <a:r>
              <a:rPr lang="en-US" dirty="0">
                <a:latin typeface="Courier New" panose="02070309020205020404" pitchFamily="49" charset="0"/>
                <a:cs typeface="Courier New" panose="02070309020205020404" pitchFamily="49" charset="0"/>
              </a:rPr>
              <a:t>(1)</a:t>
            </a:r>
          </a:p>
          <a:p>
            <a:pPr lvl="1"/>
            <a:r>
              <a:rPr lang="en-US" dirty="0"/>
              <a:t>Examples using </a:t>
            </a:r>
            <a:r>
              <a:rPr lang="en-US" dirty="0">
                <a:latin typeface="Courier New" panose="02070309020205020404" pitchFamily="49" charset="0"/>
                <a:cs typeface="Courier New" panose="02070309020205020404" pitchFamily="49" charset="0"/>
              </a:rPr>
              <a:t>nice</a:t>
            </a:r>
            <a:r>
              <a:rPr lang="en-US" dirty="0"/>
              <a:t> and </a:t>
            </a:r>
            <a:r>
              <a:rPr lang="en-US" dirty="0" err="1">
                <a:latin typeface="Courier New" panose="02070309020205020404" pitchFamily="49" charset="0"/>
                <a:cs typeface="Courier New" panose="02070309020205020404" pitchFamily="49" charset="0"/>
              </a:rPr>
              <a:t>renice</a:t>
            </a:r>
            <a:r>
              <a:rPr lang="en-US" dirty="0"/>
              <a:t> from the command line</a:t>
            </a:r>
          </a:p>
          <a:p>
            <a:r>
              <a:rPr lang="en-US" dirty="0"/>
              <a:t>We can also change priority using system calls:</a:t>
            </a:r>
          </a:p>
          <a:p>
            <a:pPr lvl="1"/>
            <a:r>
              <a:rPr lang="en-US" dirty="0" err="1">
                <a:latin typeface="Courier New" panose="02070309020205020404" pitchFamily="49" charset="0"/>
                <a:cs typeface="Courier New" panose="02070309020205020404" pitchFamily="49" charset="0"/>
              </a:rPr>
              <a:t>getpriority</a:t>
            </a:r>
            <a:r>
              <a:rPr lang="en-US" dirty="0">
                <a:latin typeface="Courier New" panose="02070309020205020404" pitchFamily="49" charset="0"/>
                <a:cs typeface="Courier New" panose="02070309020205020404" pitchFamily="49" charset="0"/>
              </a:rPr>
              <a:t>(2), </a:t>
            </a:r>
            <a:r>
              <a:rPr lang="en-US" dirty="0" err="1">
                <a:latin typeface="Courier New" panose="02070309020205020404" pitchFamily="49" charset="0"/>
                <a:cs typeface="Courier New" panose="02070309020205020404" pitchFamily="49" charset="0"/>
              </a:rPr>
              <a:t>setpriority</a:t>
            </a:r>
            <a:r>
              <a:rPr lang="en-US" dirty="0">
                <a:latin typeface="Courier New" panose="02070309020205020404" pitchFamily="49" charset="0"/>
                <a:cs typeface="Courier New" panose="02070309020205020404" pitchFamily="49" charset="0"/>
              </a:rPr>
              <a:t>(2)</a:t>
            </a:r>
          </a:p>
          <a:p>
            <a:pPr lvl="1"/>
            <a:r>
              <a:rPr lang="en-US" dirty="0"/>
              <a:t>See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priority_ops.c</a:t>
            </a:r>
            <a:endParaRPr lang="en-US" dirty="0">
              <a:latin typeface="Courier New" panose="02070309020205020404" pitchFamily="49" charset="0"/>
              <a:cs typeface="Courier New" panose="02070309020205020404" pitchFamily="49" charset="0"/>
            </a:endParaRPr>
          </a:p>
          <a:p>
            <a:r>
              <a:rPr lang="en-US" dirty="0">
                <a:cs typeface="Courier New" panose="02070309020205020404" pitchFamily="49" charset="0"/>
              </a:rPr>
              <a:t>More about this when we study scheduling</a:t>
            </a:r>
            <a:r>
              <a:rPr lang="en-US" dirty="0">
                <a:latin typeface="Courier New" panose="02070309020205020404" pitchFamily="49" charset="0"/>
                <a:cs typeface="Courier New" panose="02070309020205020404" pitchFamily="49" charset="0"/>
              </a:rPr>
              <a:t>	</a:t>
            </a:r>
          </a:p>
          <a:p>
            <a:endParaRPr lang="en-US" dirty="0"/>
          </a:p>
        </p:txBody>
      </p:sp>
      <p:sp>
        <p:nvSpPr>
          <p:cNvPr id="4" name="TextBox 3"/>
          <p:cNvSpPr txBox="1"/>
          <p:nvPr/>
        </p:nvSpPr>
        <p:spPr>
          <a:xfrm>
            <a:off x="8243668" y="5111571"/>
            <a:ext cx="3682034" cy="1200329"/>
          </a:xfrm>
          <a:prstGeom prst="rect">
            <a:avLst/>
          </a:prstGeom>
          <a:solidFill>
            <a:schemeClr val="bg1">
              <a:lumMod val="95000"/>
            </a:schemeClr>
          </a:solidFill>
          <a:ln>
            <a:solidFill>
              <a:srgbClr val="7030A0"/>
            </a:solidFill>
          </a:ln>
          <a:effectLst>
            <a:glow rad="101600">
              <a:srgbClr val="7030A0">
                <a:alpha val="60000"/>
              </a:srgbClr>
            </a:glow>
          </a:effectLst>
        </p:spPr>
        <p:txBody>
          <a:bodyPr wrap="none" rtlCol="0">
            <a:spAutoFit/>
          </a:bodyPr>
          <a:lstStyle/>
          <a:p>
            <a:r>
              <a:rPr lang="en-US" dirty="0"/>
              <a:t>Try this on a terminal</a:t>
            </a:r>
            <a:br>
              <a:rPr lang="en-US" dirty="0"/>
            </a:br>
            <a:r>
              <a:rPr lang="en-US" dirty="0"/>
              <a:t>$ ./loopy busy </a:t>
            </a:r>
            <a:br>
              <a:rPr lang="en-US" dirty="0"/>
            </a:br>
            <a:r>
              <a:rPr lang="en-US" dirty="0"/>
              <a:t>$ </a:t>
            </a:r>
            <a:r>
              <a:rPr lang="en-US" dirty="0" err="1"/>
              <a:t>renice</a:t>
            </a:r>
            <a:r>
              <a:rPr lang="en-US" dirty="0"/>
              <a:t> -n 10 &lt;</a:t>
            </a:r>
            <a:r>
              <a:rPr lang="en-US" dirty="0" err="1"/>
              <a:t>pid</a:t>
            </a:r>
            <a:r>
              <a:rPr lang="en-US" dirty="0"/>
              <a:t> of above process&gt;</a:t>
            </a:r>
            <a:br>
              <a:rPr lang="en-US" dirty="0"/>
            </a:br>
            <a:r>
              <a:rPr lang="en-US" dirty="0"/>
              <a:t>$ nice –n 5 ./loopy busy</a:t>
            </a:r>
          </a:p>
        </p:txBody>
      </p:sp>
    </p:spTree>
    <p:extLst>
      <p:ext uri="{BB962C8B-B14F-4D97-AF65-F5344CB8AC3E}">
        <p14:creationId xmlns:p14="http://schemas.microsoft.com/office/powerpoint/2010/main" val="4771832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Kernel and user mode</a:t>
            </a:r>
          </a:p>
        </p:txBody>
      </p:sp>
      <p:sp>
        <p:nvSpPr>
          <p:cNvPr id="5" name="Text Placeholder 4"/>
          <p:cNvSpPr>
            <a:spLocks noGrp="1"/>
          </p:cNvSpPr>
          <p:nvPr>
            <p:ph type="body" idx="1"/>
          </p:nvPr>
        </p:nvSpPr>
        <p:spPr/>
        <p:txBody>
          <a:bodyPr/>
          <a:lstStyle/>
          <a:p>
            <a:r>
              <a:rPr lang="en-US" dirty="0"/>
              <a:t>Context Switching</a:t>
            </a:r>
          </a:p>
        </p:txBody>
      </p:sp>
    </p:spTree>
    <p:extLst>
      <p:ext uri="{BB962C8B-B14F-4D97-AF65-F5344CB8AC3E}">
        <p14:creationId xmlns:p14="http://schemas.microsoft.com/office/powerpoint/2010/main" val="6630984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Garamond" panose="02020404030301010803" pitchFamily="18" charset="0"/>
              </a:rPr>
              <a:t>Experiment</a:t>
            </a:r>
            <a:r>
              <a:rPr lang="en-US" dirty="0"/>
              <a:t>: Forcing a program to spend more time in User mode or kernel mode</a:t>
            </a:r>
          </a:p>
        </p:txBody>
      </p:sp>
      <p:sp>
        <p:nvSpPr>
          <p:cNvPr id="3" name="Content Placeholder 2"/>
          <p:cNvSpPr>
            <a:spLocks noGrp="1"/>
          </p:cNvSpPr>
          <p:nvPr>
            <p:ph idx="1"/>
          </p:nvPr>
        </p:nvSpPr>
        <p:spPr/>
        <p:txBody>
          <a:bodyPr/>
          <a:lstStyle/>
          <a:p>
            <a:r>
              <a:rPr lang="en-US" dirty="0"/>
              <a:t>Any system call forces the process to run in kernel mode for the period of the system call</a:t>
            </a:r>
          </a:p>
          <a:p>
            <a:pPr lvl="1"/>
            <a:r>
              <a:rPr lang="en-US" dirty="0"/>
              <a:t>For example </a:t>
            </a:r>
            <a:r>
              <a:rPr lang="en-US" dirty="0" err="1">
                <a:latin typeface="Courier New" panose="02070309020205020404" pitchFamily="49" charset="0"/>
                <a:cs typeface="Courier New" panose="02070309020205020404" pitchFamily="49" charset="0"/>
              </a:rPr>
              <a:t>getpid</a:t>
            </a:r>
            <a:r>
              <a:rPr lang="en-US" dirty="0">
                <a:latin typeface="Courier New" panose="02070309020205020404" pitchFamily="49" charset="0"/>
                <a:cs typeface="Courier New" panose="02070309020205020404" pitchFamily="49" charset="0"/>
              </a:rPr>
              <a:t>(2)</a:t>
            </a:r>
          </a:p>
          <a:p>
            <a:r>
              <a:rPr lang="en-US" dirty="0"/>
              <a:t>Run </a:t>
            </a:r>
            <a:r>
              <a:rPr lang="en-US" dirty="0">
                <a:latin typeface="Courier New" panose="02070309020205020404" pitchFamily="49" charset="0"/>
                <a:cs typeface="Courier New" panose="02070309020205020404" pitchFamily="49" charset="0"/>
              </a:rPr>
              <a:t>./loopy kernel</a:t>
            </a:r>
          </a:p>
          <a:p>
            <a:r>
              <a:rPr lang="en-US" dirty="0"/>
              <a:t>Also try </a:t>
            </a:r>
            <a:r>
              <a:rPr lang="en-US" dirty="0">
                <a:latin typeface="Courier New" panose="02070309020205020404" pitchFamily="49" charset="0"/>
                <a:cs typeface="Courier New" panose="02070309020205020404" pitchFamily="49" charset="0"/>
              </a:rPr>
              <a:t>./loopy sleepy</a:t>
            </a:r>
          </a:p>
          <a:p>
            <a:r>
              <a:rPr lang="en-US" dirty="0"/>
              <a:t>See top and observe the CPU time of the process </a:t>
            </a:r>
          </a:p>
          <a:p>
            <a:r>
              <a:rPr lang="en-US" dirty="0"/>
              <a:t>You can also use the time command 	</a:t>
            </a:r>
          </a:p>
        </p:txBody>
      </p:sp>
    </p:spTree>
    <p:extLst>
      <p:ext uri="{BB962C8B-B14F-4D97-AF65-F5344CB8AC3E}">
        <p14:creationId xmlns:p14="http://schemas.microsoft.com/office/powerpoint/2010/main" val="12775176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A little experiment</a:t>
            </a:r>
          </a:p>
        </p:txBody>
      </p:sp>
      <p:sp>
        <p:nvSpPr>
          <p:cNvPr id="7" name="Content Placeholder 6"/>
          <p:cNvSpPr>
            <a:spLocks noGrp="1"/>
          </p:cNvSpPr>
          <p:nvPr>
            <p:ph sz="half" idx="1"/>
          </p:nvPr>
        </p:nvSpPr>
        <p:spPr>
          <a:xfrm>
            <a:off x="838200" y="1825625"/>
            <a:ext cx="5181600" cy="2408750"/>
          </a:xfrm>
        </p:spPr>
        <p:txBody>
          <a:bodyPr/>
          <a:lstStyle/>
          <a:p>
            <a:r>
              <a:rPr lang="en-US" dirty="0"/>
              <a:t>Try this:</a:t>
            </a:r>
          </a:p>
          <a:p>
            <a:r>
              <a:rPr lang="en-US" dirty="0"/>
              <a:t>./loopy sleepy</a:t>
            </a:r>
          </a:p>
          <a:p>
            <a:r>
              <a:rPr lang="en-US" dirty="0"/>
              <a:t>./loopy busy</a:t>
            </a:r>
          </a:p>
          <a:p>
            <a:r>
              <a:rPr lang="en-US" dirty="0"/>
              <a:t>./loopy kernel</a:t>
            </a:r>
          </a:p>
        </p:txBody>
      </p:sp>
      <p:sp>
        <p:nvSpPr>
          <p:cNvPr id="8" name="Content Placeholder 7"/>
          <p:cNvSpPr>
            <a:spLocks noGrp="1"/>
          </p:cNvSpPr>
          <p:nvPr>
            <p:ph sz="half" idx="2"/>
          </p:nvPr>
        </p:nvSpPr>
        <p:spPr>
          <a:xfrm>
            <a:off x="6172200" y="1825625"/>
            <a:ext cx="5181600" cy="2408750"/>
          </a:xfrm>
        </p:spPr>
        <p:txBody>
          <a:bodyPr/>
          <a:lstStyle/>
          <a:p>
            <a:r>
              <a:rPr lang="en-US" dirty="0"/>
              <a:t>Watch what happens with </a:t>
            </a:r>
            <a:r>
              <a:rPr lang="en-US" dirty="0" err="1">
                <a:latin typeface="Courier New" panose="02070309020205020404" pitchFamily="49" charset="0"/>
                <a:cs typeface="Courier New" panose="02070309020205020404" pitchFamily="49" charset="0"/>
              </a:rPr>
              <a:t>strace</a:t>
            </a:r>
            <a:r>
              <a:rPr lang="en-US" dirty="0">
                <a:latin typeface="Courier New" panose="02070309020205020404" pitchFamily="49" charset="0"/>
                <a:cs typeface="Courier New" panose="02070309020205020404" pitchFamily="49" charset="0"/>
              </a:rPr>
              <a:t> </a:t>
            </a:r>
            <a:r>
              <a:rPr lang="en-US" dirty="0"/>
              <a:t>or </a:t>
            </a:r>
            <a:r>
              <a:rPr lang="en-US" dirty="0" err="1">
                <a:latin typeface="Courier New" panose="02070309020205020404" pitchFamily="49" charset="0"/>
                <a:cs typeface="Courier New" panose="02070309020205020404" pitchFamily="49" charset="0"/>
              </a:rPr>
              <a:t>ltrace</a:t>
            </a:r>
            <a:r>
              <a:rPr lang="en-US" dirty="0">
                <a:latin typeface="Courier New" panose="02070309020205020404" pitchFamily="49" charset="0"/>
                <a:cs typeface="Courier New" panose="02070309020205020404" pitchFamily="49" charset="0"/>
              </a:rPr>
              <a:t> –S</a:t>
            </a:r>
          </a:p>
          <a:p>
            <a:r>
              <a:rPr lang="en-US" dirty="0"/>
              <a:t>Watch what happens with </a:t>
            </a:r>
            <a:r>
              <a:rPr lang="en-US" dirty="0">
                <a:latin typeface="Courier New" panose="02070309020205020404" pitchFamily="49" charset="0"/>
                <a:cs typeface="Courier New" panose="02070309020205020404" pitchFamily="49" charset="0"/>
              </a:rPr>
              <a:t>top</a:t>
            </a:r>
          </a:p>
        </p:txBody>
      </p:sp>
      <p:sp>
        <p:nvSpPr>
          <p:cNvPr id="9" name="TextBox 8"/>
          <p:cNvSpPr txBox="1"/>
          <p:nvPr/>
        </p:nvSpPr>
        <p:spPr>
          <a:xfrm>
            <a:off x="838200" y="4600135"/>
            <a:ext cx="9899890" cy="1938992"/>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US" sz="2400" dirty="0"/>
              <a:t>Observation: </a:t>
            </a:r>
            <a:br>
              <a:rPr lang="en-US" sz="2400" dirty="0"/>
            </a:br>
            <a:r>
              <a:rPr lang="en-US" sz="2400" dirty="0"/>
              <a:t>A busy loop with no calls (like an infinite loop) consumes a lot of CPU</a:t>
            </a:r>
          </a:p>
          <a:p>
            <a:r>
              <a:rPr lang="en-US" sz="2400" dirty="0"/>
              <a:t>A busy loop with indefinitely repeated system calls also consumes a lot of CPU</a:t>
            </a:r>
          </a:p>
          <a:p>
            <a:r>
              <a:rPr lang="en-US" sz="2400" dirty="0"/>
              <a:t>	… but with a difference in the way the time is accounted</a:t>
            </a:r>
          </a:p>
          <a:p>
            <a:r>
              <a:rPr lang="en-US" sz="2400" dirty="0"/>
              <a:t>A loop with a sleep system call consumes negligible CPU</a:t>
            </a:r>
          </a:p>
        </p:txBody>
      </p:sp>
    </p:spTree>
    <p:extLst>
      <p:ext uri="{BB962C8B-B14F-4D97-AF65-F5344CB8AC3E}">
        <p14:creationId xmlns:p14="http://schemas.microsoft.com/office/powerpoint/2010/main" val="2710938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Mechanism: </a:t>
            </a:r>
            <a:br>
              <a:rPr lang="en-US" dirty="0"/>
            </a:br>
            <a:r>
              <a:rPr lang="en-US" dirty="0"/>
              <a:t>	Kernel and User mode CPU states</a:t>
            </a:r>
          </a:p>
        </p:txBody>
      </p:sp>
      <p:sp>
        <p:nvSpPr>
          <p:cNvPr id="3" name="Content Placeholder 2"/>
          <p:cNvSpPr>
            <a:spLocks noGrp="1"/>
          </p:cNvSpPr>
          <p:nvPr>
            <p:ph idx="1"/>
          </p:nvPr>
        </p:nvSpPr>
        <p:spPr/>
        <p:txBody>
          <a:bodyPr>
            <a:normAutofit/>
          </a:bodyPr>
          <a:lstStyle/>
          <a:p>
            <a:r>
              <a:rPr lang="en-US" u="sng" dirty="0"/>
              <a:t>Goal</a:t>
            </a:r>
            <a:r>
              <a:rPr lang="en-US" dirty="0"/>
              <a:t>: Let user code run on CPU, but restrain what instructions user can execute </a:t>
            </a:r>
          </a:p>
          <a:p>
            <a:pPr lvl="1"/>
            <a:r>
              <a:rPr lang="en-US" dirty="0"/>
              <a:t>Mechanism 1:  Hardware support for “mode” in the process status/ </a:t>
            </a:r>
            <a:r>
              <a:rPr lang="en-US" dirty="0" err="1"/>
              <a:t>cpu</a:t>
            </a:r>
            <a:r>
              <a:rPr lang="en-US" dirty="0"/>
              <a:t> flag.</a:t>
            </a:r>
          </a:p>
          <a:p>
            <a:pPr lvl="2"/>
            <a:r>
              <a:rPr lang="en-US" dirty="0"/>
              <a:t>CPU in “user” mode is restricted in terms of instructions it can execute.</a:t>
            </a:r>
          </a:p>
          <a:p>
            <a:pPr lvl="1"/>
            <a:r>
              <a:rPr lang="en-US" dirty="0"/>
              <a:t>Mechanism 2: Hardware support for “interrupts” to go between “user” and ”kernel” mode:  </a:t>
            </a:r>
            <a:r>
              <a:rPr lang="en-US" sz="2000" dirty="0"/>
              <a:t>Hardware support for:</a:t>
            </a:r>
          </a:p>
          <a:p>
            <a:pPr lvl="2"/>
            <a:r>
              <a:rPr lang="en-US" b="1" u="sng" dirty="0"/>
              <a:t>System call </a:t>
            </a:r>
            <a:r>
              <a:rPr lang="en-US" dirty="0"/>
              <a:t>instructions from “user” mode execution (</a:t>
            </a:r>
            <a:r>
              <a:rPr lang="en-US" dirty="0" err="1">
                <a:latin typeface="Courier New" panose="02070309020205020404" pitchFamily="49" charset="0"/>
                <a:cs typeface="Courier New" panose="02070309020205020404" pitchFamily="49" charset="0"/>
              </a:rPr>
              <a:t>syscall</a:t>
            </a:r>
            <a:r>
              <a:rPr lang="en-US" dirty="0"/>
              <a:t> on x86-64)</a:t>
            </a:r>
          </a:p>
          <a:p>
            <a:pPr lvl="3"/>
            <a:r>
              <a:rPr lang="en-US" dirty="0"/>
              <a:t>See   </a:t>
            </a:r>
            <a:r>
              <a:rPr lang="en-US" dirty="0" err="1">
                <a:latin typeface="Courier New" panose="02070309020205020404" pitchFamily="49" charset="0"/>
                <a:cs typeface="Courier New" panose="02070309020205020404" pitchFamily="49" charset="0"/>
              </a:rPr>
              <a:t>syscall.s</a:t>
            </a:r>
            <a:r>
              <a:rPr lang="en-US" dirty="0"/>
              <a:t>   and   </a:t>
            </a:r>
            <a:r>
              <a:rPr lang="en-US" dirty="0" err="1">
                <a:latin typeface="Courier New" panose="02070309020205020404" pitchFamily="49" charset="0"/>
                <a:cs typeface="Courier New" panose="02070309020205020404" pitchFamily="49" charset="0"/>
              </a:rPr>
              <a:t>syscallC.c</a:t>
            </a:r>
            <a:endParaRPr lang="en-US" dirty="0">
              <a:latin typeface="Courier New" panose="02070309020205020404" pitchFamily="49" charset="0"/>
              <a:cs typeface="Courier New" panose="02070309020205020404" pitchFamily="49" charset="0"/>
            </a:endParaRPr>
          </a:p>
          <a:p>
            <a:pPr lvl="2"/>
            <a:r>
              <a:rPr lang="en-US" b="1" dirty="0"/>
              <a:t>Exception handling</a:t>
            </a:r>
          </a:p>
          <a:p>
            <a:pPr lvl="3"/>
            <a:r>
              <a:rPr lang="en-US" dirty="0"/>
              <a:t>See    </a:t>
            </a:r>
            <a:r>
              <a:rPr lang="en-US" dirty="0" err="1">
                <a:latin typeface="Courier New" panose="02070309020205020404" pitchFamily="49" charset="0"/>
                <a:cs typeface="Courier New" panose="02070309020205020404" pitchFamily="49" charset="0"/>
              </a:rPr>
              <a:t>exceptions.c</a:t>
            </a:r>
            <a:endParaRPr lang="en-US" dirty="0">
              <a:latin typeface="Courier New" panose="02070309020205020404" pitchFamily="49" charset="0"/>
              <a:cs typeface="Courier New" panose="02070309020205020404" pitchFamily="49" charset="0"/>
            </a:endParaRPr>
          </a:p>
          <a:p>
            <a:pPr lvl="2"/>
            <a:r>
              <a:rPr lang="en-US" b="1" dirty="0"/>
              <a:t>Hardware interrupts</a:t>
            </a:r>
          </a:p>
          <a:p>
            <a:pPr lvl="3"/>
            <a:r>
              <a:rPr lang="en-US" dirty="0"/>
              <a:t>For IO, as a special case – Prearranged timer interrupts</a:t>
            </a:r>
          </a:p>
        </p:txBody>
      </p:sp>
    </p:spTree>
    <p:extLst>
      <p:ext uri="{BB962C8B-B14F-4D97-AF65-F5344CB8AC3E}">
        <p14:creationId xmlns:p14="http://schemas.microsoft.com/office/powerpoint/2010/main" val="33959650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programs make system calls?</a:t>
            </a:r>
          </a:p>
        </p:txBody>
      </p:sp>
      <p:graphicFrame>
        <p:nvGraphicFramePr>
          <p:cNvPr id="6" name="Content Placeholder 5"/>
          <p:cNvGraphicFramePr>
            <a:graphicFrameLocks noGrp="1"/>
          </p:cNvGraphicFramePr>
          <p:nvPr>
            <p:ph sz="half" idx="1"/>
            <p:extLst>
              <p:ext uri="{D42A27DB-BD31-4B8C-83A1-F6EECF244321}">
                <p14:modId xmlns:p14="http://schemas.microsoft.com/office/powerpoint/2010/main" val="3015002675"/>
              </p:ext>
            </p:extLst>
          </p:nvPr>
        </p:nvGraphicFramePr>
        <p:xfrm>
          <a:off x="838200" y="1825625"/>
          <a:ext cx="5181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Content Placeholder 4"/>
          <p:cNvSpPr>
            <a:spLocks noGrp="1"/>
          </p:cNvSpPr>
          <p:nvPr>
            <p:ph sz="half" idx="2"/>
          </p:nvPr>
        </p:nvSpPr>
        <p:spPr/>
        <p:txBody>
          <a:bodyPr>
            <a:normAutofit lnSpcReduction="10000"/>
          </a:bodyPr>
          <a:lstStyle/>
          <a:p>
            <a:r>
              <a:rPr lang="en-US" dirty="0"/>
              <a:t>The kernel has code that does a lot of useful stuff like I/O</a:t>
            </a:r>
          </a:p>
          <a:p>
            <a:r>
              <a:rPr lang="en-US" dirty="0"/>
              <a:t>System calls are the way these routines can be executed</a:t>
            </a:r>
          </a:p>
          <a:p>
            <a:r>
              <a:rPr lang="en-US" dirty="0"/>
              <a:t>These activities need ‘privileged’ instructions which need careful execution.</a:t>
            </a:r>
          </a:p>
          <a:p>
            <a:r>
              <a:rPr lang="en-US" dirty="0"/>
              <a:t>So there are two modes:</a:t>
            </a:r>
          </a:p>
          <a:p>
            <a:pPr lvl="1"/>
            <a:r>
              <a:rPr lang="en-US" dirty="0"/>
              <a:t> </a:t>
            </a:r>
            <a:r>
              <a:rPr lang="en-US" b="1" dirty="0"/>
              <a:t>kernel mode </a:t>
            </a:r>
            <a:r>
              <a:rPr lang="en-US" dirty="0"/>
              <a:t>– running kernel code</a:t>
            </a:r>
          </a:p>
          <a:p>
            <a:pPr lvl="1"/>
            <a:r>
              <a:rPr lang="en-US" b="1" dirty="0"/>
              <a:t>User mode </a:t>
            </a:r>
            <a:r>
              <a:rPr lang="en-US" dirty="0"/>
              <a:t>– running user code</a:t>
            </a:r>
          </a:p>
        </p:txBody>
      </p:sp>
      <p:sp>
        <p:nvSpPr>
          <p:cNvPr id="7" name="TextBox 6"/>
          <p:cNvSpPr txBox="1"/>
          <p:nvPr/>
        </p:nvSpPr>
        <p:spPr>
          <a:xfrm rot="16200000">
            <a:off x="-1192307" y="3479241"/>
            <a:ext cx="3908616" cy="830997"/>
          </a:xfrm>
          <a:prstGeom prst="rect">
            <a:avLst/>
          </a:prstGeom>
          <a:noFill/>
        </p:spPr>
        <p:txBody>
          <a:bodyPr wrap="square" rtlCol="0">
            <a:spAutoFit/>
          </a:bodyPr>
          <a:lstStyle/>
          <a:p>
            <a:r>
              <a:rPr lang="en-US" sz="2400" dirty="0"/>
              <a:t>Process virtual address space in Linux</a:t>
            </a:r>
          </a:p>
        </p:txBody>
      </p:sp>
      <p:grpSp>
        <p:nvGrpSpPr>
          <p:cNvPr id="12" name="Group 11"/>
          <p:cNvGrpSpPr/>
          <p:nvPr/>
        </p:nvGrpSpPr>
        <p:grpSpPr>
          <a:xfrm>
            <a:off x="2518879" y="2589157"/>
            <a:ext cx="2773194" cy="2011500"/>
            <a:chOff x="2518879" y="2589157"/>
            <a:chExt cx="2773194" cy="2011500"/>
          </a:xfrm>
        </p:grpSpPr>
        <p:sp>
          <p:nvSpPr>
            <p:cNvPr id="8" name="Rounded Rectangle 7"/>
            <p:cNvSpPr/>
            <p:nvPr/>
          </p:nvSpPr>
          <p:spPr>
            <a:xfrm>
              <a:off x="2518879" y="3233258"/>
              <a:ext cx="2531541" cy="66148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dirty="0"/>
                <a:t>libraries</a:t>
              </a:r>
            </a:p>
          </p:txBody>
        </p:sp>
        <p:sp>
          <p:nvSpPr>
            <p:cNvPr id="10" name="Arc 9"/>
            <p:cNvSpPr/>
            <p:nvPr/>
          </p:nvSpPr>
          <p:spPr>
            <a:xfrm>
              <a:off x="4369567" y="3730269"/>
              <a:ext cx="922506" cy="870388"/>
            </a:xfrm>
            <a:prstGeom prst="arc">
              <a:avLst>
                <a:gd name="adj1" fmla="val 16200000"/>
                <a:gd name="adj2" fmla="val 4737365"/>
              </a:avLst>
            </a:prstGeom>
            <a:ln w="38100">
              <a:solidFill>
                <a:schemeClr val="tx1"/>
              </a:solidFill>
              <a:prstDash val="solid"/>
              <a:head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Arc 10"/>
            <p:cNvSpPr/>
            <p:nvPr/>
          </p:nvSpPr>
          <p:spPr>
            <a:xfrm>
              <a:off x="4369567" y="2589157"/>
              <a:ext cx="922506" cy="870388"/>
            </a:xfrm>
            <a:prstGeom prst="arc">
              <a:avLst>
                <a:gd name="adj1" fmla="val 16200000"/>
                <a:gd name="adj2" fmla="val 4737365"/>
              </a:avLst>
            </a:prstGeom>
            <a:ln w="38100">
              <a:solidFill>
                <a:schemeClr val="tx1"/>
              </a:solidFill>
              <a:prstDash val="solid"/>
              <a:head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13" name="Freeform 12"/>
          <p:cNvSpPr/>
          <p:nvPr/>
        </p:nvSpPr>
        <p:spPr>
          <a:xfrm>
            <a:off x="11381190" y="77821"/>
            <a:ext cx="214349" cy="505839"/>
          </a:xfrm>
          <a:custGeom>
            <a:avLst/>
            <a:gdLst>
              <a:gd name="connsiteX0" fmla="*/ 19627 w 214349"/>
              <a:gd name="connsiteY0" fmla="*/ 0 h 505839"/>
              <a:gd name="connsiteX1" fmla="*/ 175270 w 214349"/>
              <a:gd name="connsiteY1" fmla="*/ 116732 h 505839"/>
              <a:gd name="connsiteX2" fmla="*/ 172 w 214349"/>
              <a:gd name="connsiteY2" fmla="*/ 233464 h 505839"/>
              <a:gd name="connsiteX3" fmla="*/ 214180 w 214349"/>
              <a:gd name="connsiteY3" fmla="*/ 311285 h 505839"/>
              <a:gd name="connsiteX4" fmla="*/ 39082 w 214349"/>
              <a:gd name="connsiteY4" fmla="*/ 428017 h 505839"/>
              <a:gd name="connsiteX5" fmla="*/ 214180 w 214349"/>
              <a:gd name="connsiteY5" fmla="*/ 505839 h 505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4349" h="505839">
                <a:moveTo>
                  <a:pt x="19627" y="0"/>
                </a:moveTo>
                <a:cubicBezTo>
                  <a:pt x="99070" y="38910"/>
                  <a:pt x="178513" y="77821"/>
                  <a:pt x="175270" y="116732"/>
                </a:cubicBezTo>
                <a:cubicBezTo>
                  <a:pt x="172027" y="155643"/>
                  <a:pt x="-6313" y="201039"/>
                  <a:pt x="172" y="233464"/>
                </a:cubicBezTo>
                <a:cubicBezTo>
                  <a:pt x="6657" y="265889"/>
                  <a:pt x="207695" y="278860"/>
                  <a:pt x="214180" y="311285"/>
                </a:cubicBezTo>
                <a:cubicBezTo>
                  <a:pt x="220665" y="343710"/>
                  <a:pt x="39082" y="395591"/>
                  <a:pt x="39082" y="428017"/>
                </a:cubicBezTo>
                <a:cubicBezTo>
                  <a:pt x="39082" y="460443"/>
                  <a:pt x="126631" y="483141"/>
                  <a:pt x="214180" y="50583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p:cNvGrpSpPr/>
          <p:nvPr/>
        </p:nvGrpSpPr>
        <p:grpSpPr>
          <a:xfrm>
            <a:off x="4285301" y="2180548"/>
            <a:ext cx="820245" cy="2716344"/>
            <a:chOff x="4285301" y="2180548"/>
            <a:chExt cx="820245" cy="2716344"/>
          </a:xfrm>
        </p:grpSpPr>
        <p:sp>
          <p:nvSpPr>
            <p:cNvPr id="14" name="TextBox 13"/>
            <p:cNvSpPr txBox="1"/>
            <p:nvPr/>
          </p:nvSpPr>
          <p:spPr>
            <a:xfrm>
              <a:off x="4369567" y="4304422"/>
              <a:ext cx="680854" cy="592470"/>
            </a:xfrm>
            <a:prstGeom prst="rect">
              <a:avLst/>
            </a:prstGeom>
            <a:noFill/>
            <a:ln>
              <a:solidFill>
                <a:schemeClr val="tx2"/>
              </a:solidFill>
            </a:ln>
          </p:spPr>
          <p:txBody>
            <a:bodyPr wrap="square" rtlCol="0">
              <a:spAutoFit/>
            </a:bodyPr>
            <a:lstStyle/>
            <a:p>
              <a:pPr>
                <a:lnSpc>
                  <a:spcPts val="1300"/>
                </a:lnSpc>
              </a:pPr>
              <a:r>
                <a:rPr lang="en-US" dirty="0"/>
                <a:t>1---</a:t>
              </a:r>
              <a:br>
                <a:rPr lang="en-US" dirty="0"/>
              </a:br>
              <a:r>
                <a:rPr lang="en-US" dirty="0"/>
                <a:t>-----</a:t>
              </a:r>
              <a:br>
                <a:rPr lang="en-US" dirty="0"/>
              </a:br>
              <a:r>
                <a:rPr lang="en-US" dirty="0"/>
                <a:t>-----</a:t>
              </a:r>
            </a:p>
          </p:txBody>
        </p:sp>
        <p:sp>
          <p:nvSpPr>
            <p:cNvPr id="15" name="TextBox 14"/>
            <p:cNvSpPr txBox="1"/>
            <p:nvPr/>
          </p:nvSpPr>
          <p:spPr>
            <a:xfrm>
              <a:off x="4285301" y="3293953"/>
              <a:ext cx="680854" cy="592470"/>
            </a:xfrm>
            <a:prstGeom prst="rect">
              <a:avLst/>
            </a:prstGeom>
            <a:noFill/>
            <a:ln>
              <a:solidFill>
                <a:schemeClr val="tx2"/>
              </a:solidFill>
            </a:ln>
          </p:spPr>
          <p:txBody>
            <a:bodyPr wrap="square" rtlCol="0">
              <a:spAutoFit/>
            </a:bodyPr>
            <a:lstStyle/>
            <a:p>
              <a:pPr>
                <a:lnSpc>
                  <a:spcPts val="1300"/>
                </a:lnSpc>
              </a:pPr>
              <a:r>
                <a:rPr lang="en-US" dirty="0"/>
                <a:t>2---</a:t>
              </a:r>
              <a:br>
                <a:rPr lang="en-US" dirty="0"/>
              </a:br>
              <a:r>
                <a:rPr lang="en-US" dirty="0"/>
                <a:t>-----</a:t>
              </a:r>
              <a:br>
                <a:rPr lang="en-US" dirty="0"/>
              </a:br>
              <a:r>
                <a:rPr lang="en-US" dirty="0"/>
                <a:t>-----</a:t>
              </a:r>
            </a:p>
          </p:txBody>
        </p:sp>
        <p:sp>
          <p:nvSpPr>
            <p:cNvPr id="16" name="TextBox 15"/>
            <p:cNvSpPr txBox="1"/>
            <p:nvPr/>
          </p:nvSpPr>
          <p:spPr>
            <a:xfrm>
              <a:off x="4424692" y="2180548"/>
              <a:ext cx="680854" cy="592470"/>
            </a:xfrm>
            <a:prstGeom prst="rect">
              <a:avLst/>
            </a:prstGeom>
            <a:noFill/>
            <a:ln>
              <a:solidFill>
                <a:schemeClr val="tx2"/>
              </a:solidFill>
            </a:ln>
          </p:spPr>
          <p:txBody>
            <a:bodyPr wrap="square" rtlCol="0">
              <a:spAutoFit/>
            </a:bodyPr>
            <a:lstStyle/>
            <a:p>
              <a:pPr>
                <a:lnSpc>
                  <a:spcPts val="1300"/>
                </a:lnSpc>
              </a:pPr>
              <a:r>
                <a:rPr lang="en-US" dirty="0"/>
                <a:t>3---</a:t>
              </a:r>
              <a:br>
                <a:rPr lang="en-US" dirty="0"/>
              </a:br>
              <a:r>
                <a:rPr lang="en-US" dirty="0"/>
                <a:t>-----</a:t>
              </a:r>
              <a:br>
                <a:rPr lang="en-US" dirty="0"/>
              </a:br>
              <a:r>
                <a:rPr lang="en-US" dirty="0"/>
                <a:t>-----</a:t>
              </a:r>
            </a:p>
          </p:txBody>
        </p:sp>
      </p:grpSp>
    </p:spTree>
    <p:extLst>
      <p:ext uri="{BB962C8B-B14F-4D97-AF65-F5344CB8AC3E}">
        <p14:creationId xmlns:p14="http://schemas.microsoft.com/office/powerpoint/2010/main" val="125587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500"/>
                                  </p:stCondLst>
                                  <p:childTnLst>
                                    <p:set>
                                      <p:cBhvr>
                                        <p:cTn id="26" dur="1" fill="hold">
                                          <p:stCondLst>
                                            <p:cond delay="0"/>
                                          </p:stCondLst>
                                        </p:cTn>
                                        <p:tgtEl>
                                          <p:spTgt spid="12"/>
                                        </p:tgtEl>
                                        <p:attrNameLst>
                                          <p:attrName>style.visibility</p:attrName>
                                        </p:attrNameLst>
                                      </p:cBhvr>
                                      <p:to>
                                        <p:strVal val="visible"/>
                                      </p:to>
                                    </p:set>
                                    <p:animEffect transition="in" filter="wipe(down)">
                                      <p:cBhvr>
                                        <p:cTn id="27" dur="2000"/>
                                        <p:tgtEl>
                                          <p:spTgt spid="12"/>
                                        </p:tgtEl>
                                      </p:cBhvr>
                                    </p:animEffect>
                                  </p:childTnLst>
                                </p:cTn>
                              </p:par>
                              <p:par>
                                <p:cTn id="28" presetID="22" presetClass="entr" presetSubtype="4" fill="hold" nodeType="withEffect">
                                  <p:stCondLst>
                                    <p:cond delay="500"/>
                                  </p:stCondLst>
                                  <p:childTnLst>
                                    <p:set>
                                      <p:cBhvr>
                                        <p:cTn id="29" dur="1" fill="hold">
                                          <p:stCondLst>
                                            <p:cond delay="0"/>
                                          </p:stCondLst>
                                        </p:cTn>
                                        <p:tgtEl>
                                          <p:spTgt spid="17"/>
                                        </p:tgtEl>
                                        <p:attrNameLst>
                                          <p:attrName>style.visibility</p:attrName>
                                        </p:attrNameLst>
                                      </p:cBhvr>
                                      <p:to>
                                        <p:strVal val="visible"/>
                                      </p:to>
                                    </p:set>
                                    <p:animEffect transition="in" filter="wipe(down)">
                                      <p:cBhvr>
                                        <p:cTn id="3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0C079-F23C-4CAE-8E18-A58EF3782630}"/>
              </a:ext>
            </a:extLst>
          </p:cNvPr>
          <p:cNvSpPr>
            <a:spLocks noGrp="1"/>
          </p:cNvSpPr>
          <p:nvPr>
            <p:ph type="title"/>
          </p:nvPr>
        </p:nvSpPr>
        <p:spPr/>
        <p:txBody>
          <a:bodyPr/>
          <a:lstStyle/>
          <a:p>
            <a:r>
              <a:rPr lang="en-US" dirty="0">
                <a:cs typeface="Calibri Light"/>
              </a:rPr>
              <a:t>Switching between kernel and user mode</a:t>
            </a:r>
            <a:endParaRPr lang="en-US" dirty="0"/>
          </a:p>
        </p:txBody>
      </p:sp>
      <p:sp>
        <p:nvSpPr>
          <p:cNvPr id="3" name="Content Placeholder 2">
            <a:extLst>
              <a:ext uri="{FF2B5EF4-FFF2-40B4-BE49-F238E27FC236}">
                <a16:creationId xmlns:a16="http://schemas.microsoft.com/office/drawing/2014/main" id="{DCDB46A9-7DCA-411D-93C7-ADAC03590A9B}"/>
              </a:ext>
            </a:extLst>
          </p:cNvPr>
          <p:cNvSpPr>
            <a:spLocks noGrp="1"/>
          </p:cNvSpPr>
          <p:nvPr>
            <p:ph idx="1"/>
          </p:nvPr>
        </p:nvSpPr>
        <p:spPr>
          <a:xfrm>
            <a:off x="638175" y="1465219"/>
            <a:ext cx="10515600" cy="1015791"/>
          </a:xfrm>
        </p:spPr>
        <p:txBody>
          <a:bodyPr vert="horz" lIns="91440" tIns="45720" rIns="91440" bIns="45720" rtlCol="0" anchor="t">
            <a:normAutofit/>
          </a:bodyPr>
          <a:lstStyle/>
          <a:p>
            <a:r>
              <a:rPr lang="en-US" dirty="0">
                <a:cs typeface="Calibri"/>
              </a:rPr>
              <a:t>User process often switch between “user” and “kernel” mode of execution</a:t>
            </a:r>
            <a:endParaRPr lang="en-US" dirty="0"/>
          </a:p>
        </p:txBody>
      </p:sp>
      <p:cxnSp>
        <p:nvCxnSpPr>
          <p:cNvPr id="4" name="Straight Arrow Connector 3">
            <a:extLst>
              <a:ext uri="{FF2B5EF4-FFF2-40B4-BE49-F238E27FC236}">
                <a16:creationId xmlns:a16="http://schemas.microsoft.com/office/drawing/2014/main" id="{3EB5801A-B595-4A46-A083-93C55689A539}"/>
              </a:ext>
            </a:extLst>
          </p:cNvPr>
          <p:cNvCxnSpPr/>
          <p:nvPr/>
        </p:nvCxnSpPr>
        <p:spPr>
          <a:xfrm flipV="1">
            <a:off x="692989" y="2865408"/>
            <a:ext cx="9986513" cy="632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BFE398D2-33D5-43EE-A012-51D857EE0E76}"/>
              </a:ext>
            </a:extLst>
          </p:cNvPr>
          <p:cNvSpPr txBox="1"/>
          <p:nvPr/>
        </p:nvSpPr>
        <p:spPr>
          <a:xfrm>
            <a:off x="1196374" y="2541133"/>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dirty="0"/>
              <a:t>Time</a:t>
            </a:r>
          </a:p>
        </p:txBody>
      </p:sp>
      <p:cxnSp>
        <p:nvCxnSpPr>
          <p:cNvPr id="6" name="Straight Arrow Connector 5">
            <a:extLst>
              <a:ext uri="{FF2B5EF4-FFF2-40B4-BE49-F238E27FC236}">
                <a16:creationId xmlns:a16="http://schemas.microsoft.com/office/drawing/2014/main" id="{E5CC152D-FCA6-45C2-994F-800899151EDF}"/>
              </a:ext>
            </a:extLst>
          </p:cNvPr>
          <p:cNvCxnSpPr/>
          <p:nvPr/>
        </p:nvCxnSpPr>
        <p:spPr>
          <a:xfrm flipV="1">
            <a:off x="-1121255" y="3399155"/>
            <a:ext cx="10092904" cy="115019"/>
          </a:xfrm>
          <a:prstGeom prst="straightConnector1">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2BFB1585-AAA0-4176-9562-2D46AA8252DB}"/>
              </a:ext>
            </a:extLst>
          </p:cNvPr>
          <p:cNvCxnSpPr>
            <a:cxnSpLocks/>
          </p:cNvCxnSpPr>
          <p:nvPr/>
        </p:nvCxnSpPr>
        <p:spPr>
          <a:xfrm>
            <a:off x="0" y="4699550"/>
            <a:ext cx="8292722" cy="8318"/>
          </a:xfrm>
          <a:prstGeom prst="straightConnector1">
            <a:avLst/>
          </a:prstGeom>
          <a:ln>
            <a:solidFill>
              <a:schemeClr val="bg2"/>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2">
            <p14:nvContentPartPr>
              <p14:cNvPr id="19" name="Ink 18">
                <a:extLst>
                  <a:ext uri="{FF2B5EF4-FFF2-40B4-BE49-F238E27FC236}">
                    <a16:creationId xmlns:a16="http://schemas.microsoft.com/office/drawing/2014/main" id="{78B5D649-C4E4-48AC-B124-D89135743297}"/>
                  </a:ext>
                </a:extLst>
              </p14:cNvPr>
              <p14:cNvContentPartPr/>
              <p14:nvPr/>
            </p14:nvContentPartPr>
            <p14:xfrm>
              <a:off x="1500368" y="3388861"/>
              <a:ext cx="962025" cy="28575"/>
            </p14:xfrm>
          </p:contentPart>
        </mc:Choice>
        <mc:Fallback xmlns="">
          <p:pic>
            <p:nvPicPr>
              <p:cNvPr id="19" name="Ink 18">
                <a:extLst>
                  <a:ext uri="{FF2B5EF4-FFF2-40B4-BE49-F238E27FC236}">
                    <a16:creationId xmlns:a16="http://schemas.microsoft.com/office/drawing/2014/main" id="{78B5D649-C4E4-48AC-B124-D89135743297}"/>
                  </a:ext>
                </a:extLst>
              </p:cNvPr>
              <p:cNvPicPr/>
              <p:nvPr/>
            </p:nvPicPr>
            <p:blipFill>
              <a:blip r:embed="rId3"/>
              <a:stretch>
                <a:fillRect/>
              </a:stretch>
            </p:blipFill>
            <p:spPr>
              <a:xfrm>
                <a:off x="1464364" y="3352690"/>
                <a:ext cx="1034033" cy="100917"/>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0" name="Ink 19">
                <a:extLst>
                  <a:ext uri="{FF2B5EF4-FFF2-40B4-BE49-F238E27FC236}">
                    <a16:creationId xmlns:a16="http://schemas.microsoft.com/office/drawing/2014/main" id="{96647C78-2AC6-4A18-8ECE-AECDDC1BFDD4}"/>
                  </a:ext>
                </a:extLst>
              </p14:cNvPr>
              <p14:cNvContentPartPr/>
              <p14:nvPr/>
            </p14:nvContentPartPr>
            <p14:xfrm>
              <a:off x="3854203" y="3380197"/>
              <a:ext cx="1238250" cy="66674"/>
            </p14:xfrm>
          </p:contentPart>
        </mc:Choice>
        <mc:Fallback xmlns="">
          <p:pic>
            <p:nvPicPr>
              <p:cNvPr id="20" name="Ink 19">
                <a:extLst>
                  <a:ext uri="{FF2B5EF4-FFF2-40B4-BE49-F238E27FC236}">
                    <a16:creationId xmlns:a16="http://schemas.microsoft.com/office/drawing/2014/main" id="{96647C78-2AC6-4A18-8ECE-AECDDC1BFDD4}"/>
                  </a:ext>
                </a:extLst>
              </p:cNvPr>
              <p:cNvPicPr/>
              <p:nvPr/>
            </p:nvPicPr>
            <p:blipFill>
              <a:blip r:embed="rId5"/>
              <a:stretch>
                <a:fillRect/>
              </a:stretch>
            </p:blipFill>
            <p:spPr>
              <a:xfrm>
                <a:off x="3818207" y="3344157"/>
                <a:ext cx="1310241" cy="138754"/>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7" name="Ink 26">
                <a:extLst>
                  <a:ext uri="{FF2B5EF4-FFF2-40B4-BE49-F238E27FC236}">
                    <a16:creationId xmlns:a16="http://schemas.microsoft.com/office/drawing/2014/main" id="{46D13E9C-0513-4FCE-BA32-EFC96CDC64C0}"/>
                  </a:ext>
                </a:extLst>
              </p14:cNvPr>
              <p14:cNvContentPartPr/>
              <p14:nvPr/>
            </p14:nvContentPartPr>
            <p14:xfrm>
              <a:off x="2699930" y="4671925"/>
              <a:ext cx="1009650" cy="38100"/>
            </p14:xfrm>
          </p:contentPart>
        </mc:Choice>
        <mc:Fallback xmlns="">
          <p:pic>
            <p:nvPicPr>
              <p:cNvPr id="27" name="Ink 26">
                <a:extLst>
                  <a:ext uri="{FF2B5EF4-FFF2-40B4-BE49-F238E27FC236}">
                    <a16:creationId xmlns:a16="http://schemas.microsoft.com/office/drawing/2014/main" id="{46D13E9C-0513-4FCE-BA32-EFC96CDC64C0}"/>
                  </a:ext>
                </a:extLst>
              </p:cNvPr>
              <p:cNvPicPr/>
              <p:nvPr/>
            </p:nvPicPr>
            <p:blipFill>
              <a:blip r:embed="rId7"/>
              <a:stretch>
                <a:fillRect/>
              </a:stretch>
            </p:blipFill>
            <p:spPr>
              <a:xfrm>
                <a:off x="2663935" y="4635982"/>
                <a:ext cx="1081639" cy="109987"/>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8" name="Ink 27">
                <a:extLst>
                  <a:ext uri="{FF2B5EF4-FFF2-40B4-BE49-F238E27FC236}">
                    <a16:creationId xmlns:a16="http://schemas.microsoft.com/office/drawing/2014/main" id="{5957A36B-EA55-43A3-B459-F641534306D4}"/>
                  </a:ext>
                </a:extLst>
              </p14:cNvPr>
              <p14:cNvContentPartPr/>
              <p14:nvPr/>
            </p14:nvContentPartPr>
            <p14:xfrm>
              <a:off x="5453884" y="4669692"/>
              <a:ext cx="457380" cy="62002"/>
            </p14:xfrm>
          </p:contentPart>
        </mc:Choice>
        <mc:Fallback xmlns="">
          <p:pic>
            <p:nvPicPr>
              <p:cNvPr id="28" name="Ink 27">
                <a:extLst>
                  <a:ext uri="{FF2B5EF4-FFF2-40B4-BE49-F238E27FC236}">
                    <a16:creationId xmlns:a16="http://schemas.microsoft.com/office/drawing/2014/main" id="{5957A36B-EA55-43A3-B459-F641534306D4}"/>
                  </a:ext>
                </a:extLst>
              </p:cNvPr>
              <p:cNvPicPr/>
              <p:nvPr/>
            </p:nvPicPr>
            <p:blipFill>
              <a:blip r:embed="rId9"/>
              <a:stretch>
                <a:fillRect/>
              </a:stretch>
            </p:blipFill>
            <p:spPr>
              <a:xfrm>
                <a:off x="5417898" y="4633644"/>
                <a:ext cx="529352" cy="134097"/>
              </a:xfrm>
              <a:prstGeom prst="rect">
                <a:avLst/>
              </a:prstGeom>
            </p:spPr>
          </p:pic>
        </mc:Fallback>
      </mc:AlternateContent>
      <p:cxnSp>
        <p:nvCxnSpPr>
          <p:cNvPr id="30" name="Straight Arrow Connector 29">
            <a:extLst>
              <a:ext uri="{FF2B5EF4-FFF2-40B4-BE49-F238E27FC236}">
                <a16:creationId xmlns:a16="http://schemas.microsoft.com/office/drawing/2014/main" id="{69DABC06-47E9-43D9-B41E-69A7AAB81925}"/>
              </a:ext>
            </a:extLst>
          </p:cNvPr>
          <p:cNvCxnSpPr/>
          <p:nvPr/>
        </p:nvCxnSpPr>
        <p:spPr>
          <a:xfrm>
            <a:off x="2444330" y="3414804"/>
            <a:ext cx="28754" cy="2357884"/>
          </a:xfrm>
          <a:prstGeom prst="straightConnector1">
            <a:avLst/>
          </a:prstGeom>
          <a:ln w="28575">
            <a:solidFill>
              <a:schemeClr val="tx1">
                <a:lumMod val="95000"/>
                <a:lumOff val="5000"/>
              </a:schemeClr>
            </a:solidFill>
          </a:ln>
          <a:effectLst>
            <a:glow rad="101600">
              <a:schemeClr val="tx2">
                <a:lumMod val="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507CFA2C-C6E9-49BA-A25B-68B1972567B4}"/>
              </a:ext>
            </a:extLst>
          </p:cNvPr>
          <p:cNvCxnSpPr>
            <a:cxnSpLocks/>
          </p:cNvCxnSpPr>
          <p:nvPr/>
        </p:nvCxnSpPr>
        <p:spPr>
          <a:xfrm>
            <a:off x="3695160" y="4665633"/>
            <a:ext cx="28754" cy="1092678"/>
          </a:xfrm>
          <a:prstGeom prst="straightConnector1">
            <a:avLst/>
          </a:prstGeom>
          <a:ln w="28575">
            <a:solidFill>
              <a:schemeClr val="tx1">
                <a:lumMod val="95000"/>
                <a:lumOff val="5000"/>
              </a:schemeClr>
            </a:solidFill>
          </a:ln>
          <a:effectLst>
            <a:glow rad="101600">
              <a:schemeClr val="tx2">
                <a:lumMod val="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179073AB-E9BB-4096-A2A0-C8FFD3A42360}"/>
              </a:ext>
            </a:extLst>
          </p:cNvPr>
          <p:cNvCxnSpPr>
            <a:cxnSpLocks/>
          </p:cNvCxnSpPr>
          <p:nvPr/>
        </p:nvCxnSpPr>
        <p:spPr>
          <a:xfrm>
            <a:off x="5089763" y="3386047"/>
            <a:ext cx="43131" cy="2257243"/>
          </a:xfrm>
          <a:prstGeom prst="straightConnector1">
            <a:avLst/>
          </a:prstGeom>
          <a:ln w="28575">
            <a:solidFill>
              <a:schemeClr val="tx1">
                <a:lumMod val="95000"/>
                <a:lumOff val="5000"/>
              </a:schemeClr>
            </a:solidFill>
          </a:ln>
          <a:effectLst>
            <a:glow rad="101600">
              <a:schemeClr val="tx2">
                <a:lumMod val="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4EE83EC4-4DF4-4858-8981-38AD31140ADA}"/>
              </a:ext>
            </a:extLst>
          </p:cNvPr>
          <p:cNvCxnSpPr>
            <a:cxnSpLocks/>
          </p:cNvCxnSpPr>
          <p:nvPr/>
        </p:nvCxnSpPr>
        <p:spPr>
          <a:xfrm>
            <a:off x="5449198" y="4665633"/>
            <a:ext cx="0" cy="948905"/>
          </a:xfrm>
          <a:prstGeom prst="straightConnector1">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71C70F7B-EB13-4F5C-890C-68AB8F599D66}"/>
              </a:ext>
            </a:extLst>
          </p:cNvPr>
          <p:cNvCxnSpPr>
            <a:cxnSpLocks/>
          </p:cNvCxnSpPr>
          <p:nvPr/>
        </p:nvCxnSpPr>
        <p:spPr>
          <a:xfrm>
            <a:off x="3925197" y="3457934"/>
            <a:ext cx="28754" cy="2329130"/>
          </a:xfrm>
          <a:prstGeom prst="straightConnector1">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B262B884-4308-49F0-A6DF-DFBD634638C1}"/>
              </a:ext>
            </a:extLst>
          </p:cNvPr>
          <p:cNvCxnSpPr>
            <a:cxnSpLocks/>
          </p:cNvCxnSpPr>
          <p:nvPr/>
        </p:nvCxnSpPr>
        <p:spPr>
          <a:xfrm>
            <a:off x="2645613" y="4723142"/>
            <a:ext cx="28754" cy="1020792"/>
          </a:xfrm>
          <a:prstGeom prst="straightConnector1">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F92DF3D1-7FCE-4F79-853D-682F94E7CF23}"/>
              </a:ext>
            </a:extLst>
          </p:cNvPr>
          <p:cNvCxnSpPr/>
          <p:nvPr/>
        </p:nvCxnSpPr>
        <p:spPr>
          <a:xfrm>
            <a:off x="2472185" y="5743035"/>
            <a:ext cx="230038" cy="14378"/>
          </a:xfrm>
          <a:prstGeom prst="straightConnector1">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94A97919-2749-49EF-91E9-39FCE5FF89E9}"/>
              </a:ext>
            </a:extLst>
          </p:cNvPr>
          <p:cNvCxnSpPr>
            <a:cxnSpLocks/>
          </p:cNvCxnSpPr>
          <p:nvPr/>
        </p:nvCxnSpPr>
        <p:spPr>
          <a:xfrm>
            <a:off x="3723015" y="5743034"/>
            <a:ext cx="230038" cy="14378"/>
          </a:xfrm>
          <a:prstGeom prst="straightConnector1">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7A9B112A-8C57-4B9C-9CCB-FBDFE5EE6F94}"/>
              </a:ext>
            </a:extLst>
          </p:cNvPr>
          <p:cNvCxnSpPr>
            <a:cxnSpLocks/>
          </p:cNvCxnSpPr>
          <p:nvPr/>
        </p:nvCxnSpPr>
        <p:spPr>
          <a:xfrm>
            <a:off x="5189506" y="5628016"/>
            <a:ext cx="230038" cy="14378"/>
          </a:xfrm>
          <a:prstGeom prst="straightConnector1">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3A7E6DCD-32D3-4181-8946-DFB255C08E4D}"/>
              </a:ext>
            </a:extLst>
          </p:cNvPr>
          <p:cNvCxnSpPr>
            <a:cxnSpLocks/>
          </p:cNvCxnSpPr>
          <p:nvPr/>
        </p:nvCxnSpPr>
        <p:spPr>
          <a:xfrm>
            <a:off x="5952405" y="4651255"/>
            <a:ext cx="0" cy="948905"/>
          </a:xfrm>
          <a:prstGeom prst="straightConnector1">
            <a:avLst/>
          </a:prstGeom>
          <a:ln w="38100">
            <a:solidFill>
              <a:schemeClr val="accent6"/>
            </a:solidFill>
          </a:ln>
          <a:effectLst>
            <a:glow rad="101600">
              <a:schemeClr val="accent6">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1B97A578-FD99-46DA-8B74-A2373E27CE3E}"/>
              </a:ext>
            </a:extLst>
          </p:cNvPr>
          <p:cNvCxnSpPr>
            <a:cxnSpLocks/>
          </p:cNvCxnSpPr>
          <p:nvPr/>
        </p:nvCxnSpPr>
        <p:spPr>
          <a:xfrm>
            <a:off x="5951505" y="5613638"/>
            <a:ext cx="230038" cy="14378"/>
          </a:xfrm>
          <a:prstGeom prst="straightConnector1">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93E35D60-6204-4B42-8EF2-E2C5769A0083}"/>
              </a:ext>
            </a:extLst>
          </p:cNvPr>
          <p:cNvCxnSpPr>
            <a:cxnSpLocks/>
          </p:cNvCxnSpPr>
          <p:nvPr/>
        </p:nvCxnSpPr>
        <p:spPr>
          <a:xfrm>
            <a:off x="7303876" y="3386046"/>
            <a:ext cx="43131" cy="2257243"/>
          </a:xfrm>
          <a:prstGeom prst="straightConnector1">
            <a:avLst/>
          </a:prstGeom>
          <a:ln w="28575">
            <a:solidFill>
              <a:schemeClr val="tx1">
                <a:lumMod val="95000"/>
                <a:lumOff val="5000"/>
              </a:schemeClr>
            </a:solidFill>
          </a:ln>
          <a:effectLst>
            <a:glow rad="101600">
              <a:schemeClr val="tx2">
                <a:lumMod val="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7BD598EF-DA3A-4BE6-BDC2-4CC0D383E636}"/>
              </a:ext>
            </a:extLst>
          </p:cNvPr>
          <p:cNvCxnSpPr>
            <a:cxnSpLocks/>
          </p:cNvCxnSpPr>
          <p:nvPr/>
        </p:nvCxnSpPr>
        <p:spPr>
          <a:xfrm flipH="1">
            <a:off x="7505161" y="3400425"/>
            <a:ext cx="14377" cy="2214112"/>
          </a:xfrm>
          <a:prstGeom prst="straightConnector1">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5C62B201-163F-41B3-BDF8-9F2603581F33}"/>
              </a:ext>
            </a:extLst>
          </p:cNvPr>
          <p:cNvCxnSpPr>
            <a:cxnSpLocks/>
          </p:cNvCxnSpPr>
          <p:nvPr/>
        </p:nvCxnSpPr>
        <p:spPr>
          <a:xfrm>
            <a:off x="6139310" y="3457933"/>
            <a:ext cx="28754" cy="2329130"/>
          </a:xfrm>
          <a:prstGeom prst="straightConnector1">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B5786E9F-FF83-4CFC-9220-F1B87654683F}"/>
              </a:ext>
            </a:extLst>
          </p:cNvPr>
          <p:cNvCxnSpPr>
            <a:cxnSpLocks/>
          </p:cNvCxnSpPr>
          <p:nvPr/>
        </p:nvCxnSpPr>
        <p:spPr>
          <a:xfrm>
            <a:off x="7360487" y="5628015"/>
            <a:ext cx="230038" cy="14378"/>
          </a:xfrm>
          <a:prstGeom prst="straightConnector1">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10">
            <p14:nvContentPartPr>
              <p14:cNvPr id="49" name="Ink 48">
                <a:extLst>
                  <a:ext uri="{FF2B5EF4-FFF2-40B4-BE49-F238E27FC236}">
                    <a16:creationId xmlns:a16="http://schemas.microsoft.com/office/drawing/2014/main" id="{77A9AA8D-5A6F-4CA8-BDC6-ABFF99F1FB73}"/>
                  </a:ext>
                </a:extLst>
              </p14:cNvPr>
              <p14:cNvContentPartPr/>
              <p14:nvPr/>
            </p14:nvContentPartPr>
            <p14:xfrm>
              <a:off x="6097070" y="3337064"/>
              <a:ext cx="1238250" cy="66674"/>
            </p14:xfrm>
          </p:contentPart>
        </mc:Choice>
        <mc:Fallback xmlns="">
          <p:pic>
            <p:nvPicPr>
              <p:cNvPr id="49" name="Ink 48">
                <a:extLst>
                  <a:ext uri="{FF2B5EF4-FFF2-40B4-BE49-F238E27FC236}">
                    <a16:creationId xmlns:a16="http://schemas.microsoft.com/office/drawing/2014/main" id="{77A9AA8D-5A6F-4CA8-BDC6-ABFF99F1FB73}"/>
                  </a:ext>
                </a:extLst>
              </p:cNvPr>
              <p:cNvPicPr/>
              <p:nvPr/>
            </p:nvPicPr>
            <p:blipFill>
              <a:blip r:embed="rId5"/>
              <a:stretch>
                <a:fillRect/>
              </a:stretch>
            </p:blipFill>
            <p:spPr>
              <a:xfrm>
                <a:off x="6061074" y="3301024"/>
                <a:ext cx="1310241" cy="138754"/>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0" name="Ink 49">
                <a:extLst>
                  <a:ext uri="{FF2B5EF4-FFF2-40B4-BE49-F238E27FC236}">
                    <a16:creationId xmlns:a16="http://schemas.microsoft.com/office/drawing/2014/main" id="{F7895A6D-940F-4DEA-AE46-92CF90F432AF}"/>
                  </a:ext>
                </a:extLst>
              </p14:cNvPr>
              <p14:cNvContentPartPr/>
              <p14:nvPr/>
            </p14:nvContentPartPr>
            <p14:xfrm>
              <a:off x="7520428" y="3337064"/>
              <a:ext cx="548137" cy="124183"/>
            </p14:xfrm>
          </p:contentPart>
        </mc:Choice>
        <mc:Fallback xmlns="">
          <p:pic>
            <p:nvPicPr>
              <p:cNvPr id="50" name="Ink 49">
                <a:extLst>
                  <a:ext uri="{FF2B5EF4-FFF2-40B4-BE49-F238E27FC236}">
                    <a16:creationId xmlns:a16="http://schemas.microsoft.com/office/drawing/2014/main" id="{F7895A6D-940F-4DEA-AE46-92CF90F432AF}"/>
                  </a:ext>
                </a:extLst>
              </p:cNvPr>
              <p:cNvPicPr/>
              <p:nvPr/>
            </p:nvPicPr>
            <p:blipFill>
              <a:blip r:embed="rId12"/>
              <a:stretch>
                <a:fillRect/>
              </a:stretch>
            </p:blipFill>
            <p:spPr>
              <a:xfrm>
                <a:off x="7484437" y="3301069"/>
                <a:ext cx="620118" cy="196173"/>
              </a:xfrm>
              <a:prstGeom prst="rect">
                <a:avLst/>
              </a:prstGeom>
            </p:spPr>
          </p:pic>
        </mc:Fallback>
      </mc:AlternateContent>
      <p:cxnSp>
        <p:nvCxnSpPr>
          <p:cNvPr id="51" name="Straight Arrow Connector 50">
            <a:extLst>
              <a:ext uri="{FF2B5EF4-FFF2-40B4-BE49-F238E27FC236}">
                <a16:creationId xmlns:a16="http://schemas.microsoft.com/office/drawing/2014/main" id="{85206FA6-800F-4308-9907-855CD100A934}"/>
              </a:ext>
            </a:extLst>
          </p:cNvPr>
          <p:cNvCxnSpPr>
            <a:cxnSpLocks/>
          </p:cNvCxnSpPr>
          <p:nvPr/>
        </p:nvCxnSpPr>
        <p:spPr>
          <a:xfrm>
            <a:off x="8051498" y="3314159"/>
            <a:ext cx="28754" cy="2329130"/>
          </a:xfrm>
          <a:prstGeom prst="straightConnector1">
            <a:avLst/>
          </a:prstGeom>
          <a:ln w="28575">
            <a:solidFill>
              <a:schemeClr val="tx1">
                <a:lumMod val="95000"/>
                <a:lumOff val="5000"/>
              </a:schemeClr>
            </a:solidFill>
          </a:ln>
          <a:effectLst>
            <a:glow rad="101600">
              <a:schemeClr val="tx2">
                <a:lumMod val="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38CADBE6-6E6F-4E4D-8341-EC1EFAAB133B}"/>
              </a:ext>
            </a:extLst>
          </p:cNvPr>
          <p:cNvCxnSpPr>
            <a:cxnSpLocks/>
          </p:cNvCxnSpPr>
          <p:nvPr/>
        </p:nvCxnSpPr>
        <p:spPr>
          <a:xfrm>
            <a:off x="8752799" y="4549715"/>
            <a:ext cx="28754" cy="1092678"/>
          </a:xfrm>
          <a:prstGeom prst="straightConnector1">
            <a:avLst/>
          </a:prstGeom>
          <a:ln w="38100">
            <a:solidFill>
              <a:srgbClr val="FFC000"/>
            </a:solidFill>
          </a:ln>
          <a:effectLst>
            <a:glow rad="139700">
              <a:schemeClr val="accent4">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70A5100A-9E07-4898-A902-C3EF47BA3845}"/>
              </a:ext>
            </a:extLst>
          </p:cNvPr>
          <p:cNvCxnSpPr>
            <a:cxnSpLocks/>
          </p:cNvCxnSpPr>
          <p:nvPr/>
        </p:nvCxnSpPr>
        <p:spPr>
          <a:xfrm>
            <a:off x="8224027" y="4636877"/>
            <a:ext cx="28754" cy="1020792"/>
          </a:xfrm>
          <a:prstGeom prst="straightConnector1">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B1FB6E2F-2CDC-43A1-82DA-B6C294CFA3DC}"/>
              </a:ext>
            </a:extLst>
          </p:cNvPr>
          <p:cNvCxnSpPr>
            <a:cxnSpLocks/>
          </p:cNvCxnSpPr>
          <p:nvPr/>
        </p:nvCxnSpPr>
        <p:spPr>
          <a:xfrm>
            <a:off x="8050599" y="5656770"/>
            <a:ext cx="230038" cy="14378"/>
          </a:xfrm>
          <a:prstGeom prst="straightConnector1">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0F531E11-69A1-4D8C-8497-D709F2F052F6}"/>
              </a:ext>
            </a:extLst>
          </p:cNvPr>
          <p:cNvCxnSpPr>
            <a:cxnSpLocks/>
          </p:cNvCxnSpPr>
          <p:nvPr/>
        </p:nvCxnSpPr>
        <p:spPr>
          <a:xfrm>
            <a:off x="8796430" y="5613638"/>
            <a:ext cx="230038" cy="14378"/>
          </a:xfrm>
          <a:prstGeom prst="straightConnector1">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13">
            <p14:nvContentPartPr>
              <p14:cNvPr id="56" name="Ink 55">
                <a:extLst>
                  <a:ext uri="{FF2B5EF4-FFF2-40B4-BE49-F238E27FC236}">
                    <a16:creationId xmlns:a16="http://schemas.microsoft.com/office/drawing/2014/main" id="{D8A2CF36-A3FB-423A-ADC2-F913AA615274}"/>
                  </a:ext>
                </a:extLst>
              </p14:cNvPr>
              <p14:cNvContentPartPr/>
              <p14:nvPr/>
            </p14:nvContentPartPr>
            <p14:xfrm>
              <a:off x="8292722" y="4585659"/>
              <a:ext cx="442960" cy="51217"/>
            </p14:xfrm>
          </p:contentPart>
        </mc:Choice>
        <mc:Fallback xmlns="">
          <p:pic>
            <p:nvPicPr>
              <p:cNvPr id="56" name="Ink 55">
                <a:extLst>
                  <a:ext uri="{FF2B5EF4-FFF2-40B4-BE49-F238E27FC236}">
                    <a16:creationId xmlns:a16="http://schemas.microsoft.com/office/drawing/2014/main" id="{D8A2CF36-A3FB-423A-ADC2-F913AA615274}"/>
                  </a:ext>
                </a:extLst>
              </p:cNvPr>
              <p:cNvPicPr/>
              <p:nvPr/>
            </p:nvPicPr>
            <p:blipFill>
              <a:blip r:embed="rId14"/>
              <a:stretch>
                <a:fillRect/>
              </a:stretch>
            </p:blipFill>
            <p:spPr>
              <a:xfrm>
                <a:off x="8256709" y="4549591"/>
                <a:ext cx="514986" cy="123354"/>
              </a:xfrm>
              <a:prstGeom prst="rect">
                <a:avLst/>
              </a:prstGeom>
            </p:spPr>
          </p:pic>
        </mc:Fallback>
      </mc:AlternateContent>
      <p:sp>
        <p:nvSpPr>
          <p:cNvPr id="57" name="TextBox 56">
            <a:extLst>
              <a:ext uri="{FF2B5EF4-FFF2-40B4-BE49-F238E27FC236}">
                <a16:creationId xmlns:a16="http://schemas.microsoft.com/office/drawing/2014/main" id="{E9661D52-C9E8-4770-8FFE-E11A7F4C5E4B}"/>
              </a:ext>
            </a:extLst>
          </p:cNvPr>
          <p:cNvSpPr txBox="1"/>
          <p:nvPr/>
        </p:nvSpPr>
        <p:spPr>
          <a:xfrm>
            <a:off x="248549" y="6057002"/>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Interrupts: Timer</a:t>
            </a:r>
          </a:p>
        </p:txBody>
      </p:sp>
      <p:cxnSp>
        <p:nvCxnSpPr>
          <p:cNvPr id="58" name="Straight Arrow Connector 57">
            <a:extLst>
              <a:ext uri="{FF2B5EF4-FFF2-40B4-BE49-F238E27FC236}">
                <a16:creationId xmlns:a16="http://schemas.microsoft.com/office/drawing/2014/main" id="{38D72872-0E59-4AF3-98A1-53A0559C4D8F}"/>
              </a:ext>
            </a:extLst>
          </p:cNvPr>
          <p:cNvCxnSpPr/>
          <p:nvPr/>
        </p:nvCxnSpPr>
        <p:spPr>
          <a:xfrm flipV="1">
            <a:off x="989522" y="5433563"/>
            <a:ext cx="1431984" cy="6527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AB57F500-AD55-4C1E-BA1A-F350B11BD449}"/>
              </a:ext>
            </a:extLst>
          </p:cNvPr>
          <p:cNvCxnSpPr>
            <a:cxnSpLocks/>
          </p:cNvCxnSpPr>
          <p:nvPr/>
        </p:nvCxnSpPr>
        <p:spPr>
          <a:xfrm flipV="1">
            <a:off x="989522" y="5361675"/>
            <a:ext cx="2682813" cy="8108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03B76CA9-B160-4761-BDB9-362DD07866F7}"/>
              </a:ext>
            </a:extLst>
          </p:cNvPr>
          <p:cNvCxnSpPr>
            <a:cxnSpLocks/>
          </p:cNvCxnSpPr>
          <p:nvPr/>
        </p:nvCxnSpPr>
        <p:spPr>
          <a:xfrm flipV="1">
            <a:off x="1047031" y="5246656"/>
            <a:ext cx="4048661" cy="9690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90911171-2E00-4697-9B5D-8F09F74D9311}"/>
              </a:ext>
            </a:extLst>
          </p:cNvPr>
          <p:cNvSpPr txBox="1"/>
          <p:nvPr/>
        </p:nvSpPr>
        <p:spPr>
          <a:xfrm>
            <a:off x="3152775" y="6028247"/>
            <a:ext cx="274320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System call: </a:t>
            </a:r>
            <a:r>
              <a:rPr lang="en-US" sz="2000" dirty="0"/>
              <a:t>IO request (WRITE(2))</a:t>
            </a:r>
          </a:p>
        </p:txBody>
      </p:sp>
      <p:cxnSp>
        <p:nvCxnSpPr>
          <p:cNvPr id="62" name="Straight Arrow Connector 61">
            <a:extLst>
              <a:ext uri="{FF2B5EF4-FFF2-40B4-BE49-F238E27FC236}">
                <a16:creationId xmlns:a16="http://schemas.microsoft.com/office/drawing/2014/main" id="{F581092F-AA26-4E5A-B9F8-DD63E689966A}"/>
              </a:ext>
            </a:extLst>
          </p:cNvPr>
          <p:cNvCxnSpPr>
            <a:cxnSpLocks/>
          </p:cNvCxnSpPr>
          <p:nvPr/>
        </p:nvCxnSpPr>
        <p:spPr>
          <a:xfrm flipV="1">
            <a:off x="5043937" y="5404808"/>
            <a:ext cx="885645" cy="7246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BEF7B7AD-A705-4E25-AB82-99B5DA7446EA}"/>
              </a:ext>
            </a:extLst>
          </p:cNvPr>
          <p:cNvSpPr txBox="1"/>
          <p:nvPr/>
        </p:nvSpPr>
        <p:spPr>
          <a:xfrm>
            <a:off x="6229530" y="5941983"/>
            <a:ext cx="274320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Interrupt: External device </a:t>
            </a:r>
            <a:r>
              <a:rPr lang="en-US" sz="2000" dirty="0"/>
              <a:t>(IO complete)</a:t>
            </a:r>
          </a:p>
        </p:txBody>
      </p:sp>
      <p:cxnSp>
        <p:nvCxnSpPr>
          <p:cNvPr id="64" name="Straight Arrow Connector 63">
            <a:extLst>
              <a:ext uri="{FF2B5EF4-FFF2-40B4-BE49-F238E27FC236}">
                <a16:creationId xmlns:a16="http://schemas.microsoft.com/office/drawing/2014/main" id="{F46685F3-5D91-4A68-BB78-23D843E94629}"/>
              </a:ext>
            </a:extLst>
          </p:cNvPr>
          <p:cNvCxnSpPr>
            <a:cxnSpLocks/>
          </p:cNvCxnSpPr>
          <p:nvPr/>
        </p:nvCxnSpPr>
        <p:spPr>
          <a:xfrm flipV="1">
            <a:off x="7473710" y="5189148"/>
            <a:ext cx="583721" cy="8827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12F251D6-A077-4C3A-AD50-B20B21A97E0A}"/>
              </a:ext>
            </a:extLst>
          </p:cNvPr>
          <p:cNvSpPr txBox="1"/>
          <p:nvPr/>
        </p:nvSpPr>
        <p:spPr>
          <a:xfrm>
            <a:off x="485294" y="3225458"/>
            <a:ext cx="1007566"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dirty="0"/>
              <a:t>P1</a:t>
            </a:r>
            <a:endParaRPr lang="en-US" dirty="0">
              <a:cs typeface="Calibri" panose="020F0502020204030204"/>
            </a:endParaRPr>
          </a:p>
          <a:p>
            <a:endParaRPr lang="en-US" sz="2400" dirty="0">
              <a:cs typeface="Calibri"/>
            </a:endParaRPr>
          </a:p>
          <a:p>
            <a:endParaRPr lang="en-US" sz="2400" dirty="0">
              <a:cs typeface="Calibri"/>
            </a:endParaRPr>
          </a:p>
          <a:p>
            <a:r>
              <a:rPr lang="en-US" sz="2400" dirty="0">
                <a:cs typeface="Calibri"/>
              </a:rPr>
              <a:t>P2</a:t>
            </a:r>
          </a:p>
          <a:p>
            <a:endParaRPr lang="en-US" sz="2400" dirty="0">
              <a:cs typeface="Calibri"/>
            </a:endParaRPr>
          </a:p>
          <a:p>
            <a:endParaRPr lang="en-US" sz="2400" dirty="0">
              <a:cs typeface="Calibri"/>
            </a:endParaRPr>
          </a:p>
          <a:p>
            <a:r>
              <a:rPr lang="en-US" sz="2400" dirty="0">
                <a:cs typeface="Calibri"/>
              </a:rPr>
              <a:t>Kernel</a:t>
            </a:r>
          </a:p>
        </p:txBody>
      </p:sp>
      <p:cxnSp>
        <p:nvCxnSpPr>
          <p:cNvPr id="66" name="Straight Arrow Connector 65">
            <a:extLst>
              <a:ext uri="{FF2B5EF4-FFF2-40B4-BE49-F238E27FC236}">
                <a16:creationId xmlns:a16="http://schemas.microsoft.com/office/drawing/2014/main" id="{782D1457-2CB6-4A8C-8984-4ADFB279FD71}"/>
              </a:ext>
            </a:extLst>
          </p:cNvPr>
          <p:cNvCxnSpPr>
            <a:cxnSpLocks/>
          </p:cNvCxnSpPr>
          <p:nvPr/>
        </p:nvCxnSpPr>
        <p:spPr>
          <a:xfrm flipV="1">
            <a:off x="0" y="5661728"/>
            <a:ext cx="8417859" cy="6443"/>
          </a:xfrm>
          <a:prstGeom prst="straightConnector1">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8" name="Slide Number Placeholder 7"/>
          <p:cNvSpPr>
            <a:spLocks noGrp="1"/>
          </p:cNvSpPr>
          <p:nvPr>
            <p:ph type="sldNum" sz="quarter" idx="12"/>
          </p:nvPr>
        </p:nvSpPr>
        <p:spPr/>
        <p:txBody>
          <a:bodyPr/>
          <a:lstStyle/>
          <a:p>
            <a:fld id="{330EA680-D336-4FF7-8B7A-9848BB0A1C32}" type="slidenum">
              <a:rPr lang="en-US" smtClean="0"/>
              <a:t>14</a:t>
            </a:fld>
            <a:endParaRPr lang="en-US" dirty="0"/>
          </a:p>
        </p:txBody>
      </p:sp>
      <p:sp>
        <p:nvSpPr>
          <p:cNvPr id="9" name="TextBox 8"/>
          <p:cNvSpPr txBox="1"/>
          <p:nvPr/>
        </p:nvSpPr>
        <p:spPr>
          <a:xfrm>
            <a:off x="8080548" y="2274080"/>
            <a:ext cx="4304582" cy="2031325"/>
          </a:xfrm>
          <a:prstGeom prst="rect">
            <a:avLst/>
          </a:prstGeom>
          <a:noFill/>
        </p:spPr>
        <p:txBody>
          <a:bodyPr wrap="square" rtlCol="0">
            <a:spAutoFit/>
          </a:bodyPr>
          <a:lstStyle/>
          <a:p>
            <a:r>
              <a:rPr lang="en-US" dirty="0"/>
              <a:t>CPU goes </a:t>
            </a:r>
            <a:r>
              <a:rPr lang="en-US" b="1" dirty="0"/>
              <a:t>from</a:t>
            </a:r>
            <a:r>
              <a:rPr lang="en-US" dirty="0"/>
              <a:t> </a:t>
            </a:r>
            <a:r>
              <a:rPr lang="en-US" i="1" dirty="0"/>
              <a:t>executing use code </a:t>
            </a:r>
            <a:r>
              <a:rPr lang="en-US" b="1" dirty="0"/>
              <a:t>to</a:t>
            </a:r>
            <a:r>
              <a:rPr lang="en-US" i="1" dirty="0"/>
              <a:t> executing kernel code </a:t>
            </a:r>
            <a:r>
              <a:rPr lang="en-US" dirty="0"/>
              <a:t>every once in a while. The reason to do this could be many – </a:t>
            </a:r>
          </a:p>
          <a:p>
            <a:pPr marL="285750" indent="-285750">
              <a:buFont typeface="Arial" panose="020B0604020202020204" pitchFamily="34" charset="0"/>
              <a:buChar char="•"/>
            </a:pPr>
            <a:r>
              <a:rPr lang="en-US" dirty="0"/>
              <a:t>Timer interrupt</a:t>
            </a:r>
          </a:p>
          <a:p>
            <a:pPr marL="285750" indent="-285750">
              <a:buFont typeface="Arial" panose="020B0604020202020204" pitchFamily="34" charset="0"/>
              <a:buChar char="•"/>
            </a:pPr>
            <a:r>
              <a:rPr lang="en-US" u="sng" dirty="0"/>
              <a:t>System call</a:t>
            </a:r>
          </a:p>
          <a:p>
            <a:pPr marL="285750" indent="-285750">
              <a:buFont typeface="Arial" panose="020B0604020202020204" pitchFamily="34" charset="0"/>
              <a:buChar char="•"/>
            </a:pPr>
            <a:r>
              <a:rPr lang="en-US" dirty="0"/>
              <a:t>External interrupt</a:t>
            </a:r>
          </a:p>
          <a:p>
            <a:pPr marL="285750" indent="-285750">
              <a:buFont typeface="Arial" panose="020B0604020202020204" pitchFamily="34" charset="0"/>
              <a:buChar char="•"/>
            </a:pPr>
            <a:r>
              <a:rPr lang="en-US" dirty="0"/>
              <a:t>Exception</a:t>
            </a:r>
          </a:p>
        </p:txBody>
      </p:sp>
      <p:sp>
        <p:nvSpPr>
          <p:cNvPr id="67" name="TextBox 66">
            <a:extLst>
              <a:ext uri="{FF2B5EF4-FFF2-40B4-BE49-F238E27FC236}">
                <a16:creationId xmlns:a16="http://schemas.microsoft.com/office/drawing/2014/main" id="{BEF7B7AD-A705-4E25-AB82-99B5DA7446EA}"/>
              </a:ext>
            </a:extLst>
          </p:cNvPr>
          <p:cNvSpPr txBox="1"/>
          <p:nvPr/>
        </p:nvSpPr>
        <p:spPr>
          <a:xfrm>
            <a:off x="8991096" y="5903114"/>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Exception </a:t>
            </a:r>
            <a:r>
              <a:rPr lang="en-US" sz="2000" dirty="0"/>
              <a:t>(div by zero)</a:t>
            </a:r>
          </a:p>
        </p:txBody>
      </p:sp>
      <p:sp>
        <p:nvSpPr>
          <p:cNvPr id="10" name="Freeform 9"/>
          <p:cNvSpPr/>
          <p:nvPr/>
        </p:nvSpPr>
        <p:spPr>
          <a:xfrm>
            <a:off x="8792308" y="5050302"/>
            <a:ext cx="1631852" cy="829993"/>
          </a:xfrm>
          <a:custGeom>
            <a:avLst/>
            <a:gdLst>
              <a:gd name="connsiteX0" fmla="*/ 1631852 w 1631852"/>
              <a:gd name="connsiteY0" fmla="*/ 829993 h 829993"/>
              <a:gd name="connsiteX1" fmla="*/ 1294227 w 1631852"/>
              <a:gd name="connsiteY1" fmla="*/ 267286 h 829993"/>
              <a:gd name="connsiteX2" fmla="*/ 0 w 1631852"/>
              <a:gd name="connsiteY2" fmla="*/ 0 h 829993"/>
            </a:gdLst>
            <a:ahLst/>
            <a:cxnLst>
              <a:cxn ang="0">
                <a:pos x="connsiteX0" y="connsiteY0"/>
              </a:cxn>
              <a:cxn ang="0">
                <a:pos x="connsiteX1" y="connsiteY1"/>
              </a:cxn>
              <a:cxn ang="0">
                <a:pos x="connsiteX2" y="connsiteY2"/>
              </a:cxn>
            </a:cxnLst>
            <a:rect l="l" t="t" r="r" b="b"/>
            <a:pathLst>
              <a:path w="1631852" h="829993">
                <a:moveTo>
                  <a:pt x="1631852" y="829993"/>
                </a:moveTo>
                <a:cubicBezTo>
                  <a:pt x="1599027" y="617805"/>
                  <a:pt x="1566202" y="405618"/>
                  <a:pt x="1294227" y="267286"/>
                </a:cubicBezTo>
                <a:cubicBezTo>
                  <a:pt x="1022252" y="128954"/>
                  <a:pt x="511126" y="64477"/>
                  <a:pt x="0" y="0"/>
                </a:cubicBezTo>
              </a:path>
            </a:pathLst>
          </a:custGeom>
          <a:noFill/>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905684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About system calls (</a:t>
            </a:r>
            <a:r>
              <a:rPr lang="en-US" b="1" dirty="0" err="1">
                <a:solidFill>
                  <a:schemeClr val="accent2">
                    <a:lumMod val="75000"/>
                  </a:schemeClr>
                </a:solidFill>
              </a:rPr>
              <a:t>syscall</a:t>
            </a:r>
            <a:r>
              <a:rPr lang="en-US" dirty="0"/>
              <a:t> in x86-64)</a:t>
            </a:r>
          </a:p>
        </p:txBody>
      </p:sp>
      <p:sp>
        <p:nvSpPr>
          <p:cNvPr id="3" name="Content Placeholder 2"/>
          <p:cNvSpPr>
            <a:spLocks noGrp="1"/>
          </p:cNvSpPr>
          <p:nvPr>
            <p:ph idx="1"/>
          </p:nvPr>
        </p:nvSpPr>
        <p:spPr>
          <a:xfrm>
            <a:off x="838200" y="1825625"/>
            <a:ext cx="10036126" cy="4351338"/>
          </a:xfrm>
        </p:spPr>
        <p:txBody>
          <a:bodyPr>
            <a:normAutofit fontScale="85000" lnSpcReduction="20000"/>
          </a:bodyPr>
          <a:lstStyle/>
          <a:p>
            <a:r>
              <a:rPr lang="en-US" dirty="0"/>
              <a:t>The  </a:t>
            </a:r>
            <a:r>
              <a:rPr lang="en-US" b="1" dirty="0"/>
              <a:t>system call </a:t>
            </a:r>
            <a:r>
              <a:rPr lang="en-US" dirty="0"/>
              <a:t>is a </a:t>
            </a:r>
          </a:p>
          <a:p>
            <a:pPr lvl="1"/>
            <a:r>
              <a:rPr lang="en-US" dirty="0"/>
              <a:t>Machine instruction  (has an opcode)</a:t>
            </a:r>
          </a:p>
          <a:p>
            <a:pPr lvl="1"/>
            <a:r>
              <a:rPr lang="en-US" dirty="0"/>
              <a:t>Is executed from the user mode code (usual user C code and libraries)</a:t>
            </a:r>
          </a:p>
          <a:p>
            <a:r>
              <a:rPr lang="en-US" dirty="0"/>
              <a:t>The instruction jumps the CPU to a predefined system call entry point in the kernel.</a:t>
            </a:r>
          </a:p>
          <a:p>
            <a:pPr lvl="1"/>
            <a:r>
              <a:rPr lang="en-US" dirty="0"/>
              <a:t>This predefined entry point address is stored in a special register</a:t>
            </a:r>
          </a:p>
          <a:p>
            <a:pPr lvl="1"/>
            <a:r>
              <a:rPr lang="en-US" dirty="0"/>
              <a:t>This register is initialized at boot time by kernel code.</a:t>
            </a:r>
          </a:p>
          <a:p>
            <a:r>
              <a:rPr lang="en-US" dirty="0"/>
              <a:t>The instruction changes CPU mode from user mode to kernel mode</a:t>
            </a:r>
          </a:p>
          <a:p>
            <a:pPr lvl="1"/>
            <a:r>
              <a:rPr lang="en-US" dirty="0"/>
              <a:t>Typically CPU bits are set, in x86-64 this is in the CS register</a:t>
            </a:r>
          </a:p>
          <a:p>
            <a:r>
              <a:rPr lang="en-US" dirty="0"/>
              <a:t>Once the kernel finishes handling the request it executes a </a:t>
            </a:r>
            <a:r>
              <a:rPr lang="en-US" b="1" dirty="0"/>
              <a:t>system call return</a:t>
            </a:r>
            <a:r>
              <a:rPr lang="en-US" dirty="0"/>
              <a:t> instruction.</a:t>
            </a:r>
          </a:p>
          <a:p>
            <a:pPr lvl="1"/>
            <a:r>
              <a:rPr lang="en-US" dirty="0"/>
              <a:t>This resets the CPU mode bits</a:t>
            </a:r>
          </a:p>
          <a:p>
            <a:r>
              <a:rPr lang="en-US" dirty="0"/>
              <a:t>On x86-64 these instructions are </a:t>
            </a:r>
            <a:r>
              <a:rPr lang="en-US" b="1" dirty="0" err="1">
                <a:solidFill>
                  <a:schemeClr val="accent2">
                    <a:lumMod val="75000"/>
                  </a:schemeClr>
                </a:solidFill>
                <a:latin typeface="Courier New" panose="02070309020205020404" pitchFamily="49" charset="0"/>
                <a:cs typeface="Courier New" panose="02070309020205020404" pitchFamily="49" charset="0"/>
              </a:rPr>
              <a:t>syscall</a:t>
            </a:r>
            <a:r>
              <a:rPr lang="en-US" dirty="0"/>
              <a:t>    and    </a:t>
            </a:r>
            <a:r>
              <a:rPr lang="en-US" b="1" dirty="0" err="1">
                <a:solidFill>
                  <a:schemeClr val="accent2">
                    <a:lumMod val="75000"/>
                  </a:schemeClr>
                </a:solidFill>
                <a:latin typeface="Courier New" panose="02070309020205020404" pitchFamily="49" charset="0"/>
                <a:cs typeface="Courier New" panose="02070309020205020404" pitchFamily="49" charset="0"/>
              </a:rPr>
              <a:t>sysret</a:t>
            </a:r>
            <a:r>
              <a:rPr lang="en-US" dirty="0"/>
              <a:t>  (or </a:t>
            </a:r>
            <a:r>
              <a:rPr lang="en-US" dirty="0" err="1"/>
              <a:t>sysenter</a:t>
            </a:r>
            <a:r>
              <a:rPr lang="en-US" dirty="0"/>
              <a:t>/</a:t>
            </a:r>
            <a:r>
              <a:rPr lang="en-US" dirty="0" err="1"/>
              <a:t>systexit</a:t>
            </a:r>
            <a:r>
              <a:rPr lang="en-US" dirty="0"/>
              <a:t>), </a:t>
            </a:r>
            <a:r>
              <a:rPr lang="en-US"/>
              <a:t>an alternate (older)  </a:t>
            </a:r>
            <a:r>
              <a:rPr lang="en-US" dirty="0"/>
              <a:t>is </a:t>
            </a:r>
            <a:r>
              <a:rPr lang="en-US" b="1" dirty="0">
                <a:solidFill>
                  <a:schemeClr val="accent2"/>
                </a:solidFill>
                <a:latin typeface="Courier New" panose="02070309020205020404" pitchFamily="49" charset="0"/>
                <a:cs typeface="Courier New" panose="02070309020205020404" pitchFamily="49" charset="0"/>
              </a:rPr>
              <a:t>INT 0x80</a:t>
            </a:r>
          </a:p>
          <a:p>
            <a:endParaRPr lang="en-US" dirty="0"/>
          </a:p>
        </p:txBody>
      </p:sp>
      <p:sp>
        <p:nvSpPr>
          <p:cNvPr id="4" name="TextBox 3"/>
          <p:cNvSpPr txBox="1"/>
          <p:nvPr/>
        </p:nvSpPr>
        <p:spPr>
          <a:xfrm flipH="1">
            <a:off x="9708465" y="1296492"/>
            <a:ext cx="2331721" cy="923330"/>
          </a:xfrm>
          <a:prstGeom prst="rect">
            <a:avLst/>
          </a:prstGeom>
          <a:solidFill>
            <a:schemeClr val="accent4">
              <a:lumMod val="20000"/>
              <a:lumOff val="80000"/>
            </a:schemeClr>
          </a:solidFill>
          <a:ln w="38100">
            <a:noFill/>
          </a:ln>
          <a:effectLst>
            <a:outerShdw blurRad="76200" dir="13500000" sy="23000" kx="1200000" algn="br" rotWithShape="0">
              <a:prstClr val="black">
                <a:alpha val="2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spAutoFit/>
          </a:bodyPr>
          <a:lstStyle/>
          <a:p>
            <a:r>
              <a:rPr lang="en-US" dirty="0"/>
              <a:t>See code to make direct </a:t>
            </a:r>
            <a:r>
              <a:rPr lang="en-US" dirty="0" err="1"/>
              <a:t>syscalls</a:t>
            </a:r>
            <a:r>
              <a:rPr lang="en-US" dirty="0"/>
              <a:t>: </a:t>
            </a:r>
            <a:r>
              <a:rPr lang="en-US" dirty="0" err="1"/>
              <a:t>syscallC.c</a:t>
            </a:r>
            <a:r>
              <a:rPr lang="en-US" dirty="0"/>
              <a:t> and </a:t>
            </a:r>
            <a:r>
              <a:rPr lang="en-US" dirty="0" err="1"/>
              <a:t>syscall.s</a:t>
            </a:r>
            <a:endParaRPr lang="en-US" dirty="0"/>
          </a:p>
        </p:txBody>
      </p:sp>
    </p:spTree>
    <p:extLst>
      <p:ext uri="{BB962C8B-B14F-4D97-AF65-F5344CB8AC3E}">
        <p14:creationId xmlns:p14="http://schemas.microsoft.com/office/powerpoint/2010/main" val="282699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are multiple system calls handled (Linux)</a:t>
            </a:r>
          </a:p>
        </p:txBody>
      </p:sp>
      <p:sp>
        <p:nvSpPr>
          <p:cNvPr id="3" name="Content Placeholder 2"/>
          <p:cNvSpPr>
            <a:spLocks noGrp="1"/>
          </p:cNvSpPr>
          <p:nvPr>
            <p:ph idx="1"/>
          </p:nvPr>
        </p:nvSpPr>
        <p:spPr/>
        <p:txBody>
          <a:bodyPr/>
          <a:lstStyle/>
          <a:p>
            <a:r>
              <a:rPr lang="en-US" dirty="0"/>
              <a:t>There are a number of predefined system calls with a numeric code for each. </a:t>
            </a:r>
            <a:r>
              <a:rPr lang="en-US" dirty="0" err="1"/>
              <a:t>Eg</a:t>
            </a:r>
            <a:r>
              <a:rPr lang="en-US" dirty="0"/>
              <a:t>. in Linux see :</a:t>
            </a:r>
          </a:p>
          <a:p>
            <a:pPr lvl="1"/>
            <a:r>
              <a:rPr lang="en-US" sz="2000" dirty="0">
                <a:latin typeface="Courier New" panose="02070309020205020404" pitchFamily="49" charset="0"/>
                <a:cs typeface="Courier New" panose="02070309020205020404" pitchFamily="49" charset="0"/>
              </a:rPr>
              <a:t>/</a:t>
            </a:r>
            <a:r>
              <a:rPr lang="en-US" sz="2000" dirty="0" err="1">
                <a:latin typeface="Courier New" panose="02070309020205020404" pitchFamily="49" charset="0"/>
                <a:cs typeface="Courier New" panose="02070309020205020404" pitchFamily="49" charset="0"/>
              </a:rPr>
              <a:t>usr</a:t>
            </a:r>
            <a:r>
              <a:rPr lang="en-US" sz="2000" dirty="0">
                <a:latin typeface="Courier New" panose="02070309020205020404" pitchFamily="49" charset="0"/>
                <a:cs typeface="Courier New" panose="02070309020205020404" pitchFamily="49" charset="0"/>
              </a:rPr>
              <a:t>/include/sys/</a:t>
            </a:r>
            <a:r>
              <a:rPr lang="en-US" sz="2000" dirty="0" err="1">
                <a:latin typeface="Courier New" panose="02070309020205020404" pitchFamily="49" charset="0"/>
                <a:cs typeface="Courier New" panose="02070309020205020404" pitchFamily="49" charset="0"/>
              </a:rPr>
              <a:t>syscall.h</a:t>
            </a:r>
            <a:r>
              <a:rPr lang="en-US" sz="2000" dirty="0">
                <a:latin typeface="Courier New" panose="02070309020205020404" pitchFamily="49" charset="0"/>
                <a:cs typeface="Courier New" panose="02070309020205020404" pitchFamily="49" charset="0"/>
              </a:rPr>
              <a:t> or /</a:t>
            </a:r>
            <a:r>
              <a:rPr lang="en-US" sz="2000" dirty="0" err="1">
                <a:latin typeface="Courier New" panose="02070309020205020404" pitchFamily="49" charset="0"/>
                <a:cs typeface="Courier New" panose="02070309020205020404" pitchFamily="49" charset="0"/>
              </a:rPr>
              <a:t>usr</a:t>
            </a:r>
            <a:r>
              <a:rPr lang="en-US" sz="2000" dirty="0">
                <a:latin typeface="Courier New" panose="02070309020205020404" pitchFamily="49" charset="0"/>
                <a:cs typeface="Courier New" panose="02070309020205020404" pitchFamily="49" charset="0"/>
              </a:rPr>
              <a:t>/include/x86_64-linux-gnu/</a:t>
            </a:r>
            <a:r>
              <a:rPr lang="en-US" sz="2000" dirty="0" err="1">
                <a:latin typeface="Courier New" panose="02070309020205020404" pitchFamily="49" charset="0"/>
                <a:cs typeface="Courier New" panose="02070309020205020404" pitchFamily="49" charset="0"/>
              </a:rPr>
              <a:t>asm</a:t>
            </a:r>
            <a:r>
              <a:rPr lang="en-US" sz="2000" dirty="0">
                <a:latin typeface="Courier New" panose="02070309020205020404" pitchFamily="49" charset="0"/>
                <a:cs typeface="Courier New" panose="02070309020205020404" pitchFamily="49" charset="0"/>
              </a:rPr>
              <a:t>/unistd_64.h</a:t>
            </a:r>
          </a:p>
          <a:p>
            <a:r>
              <a:rPr lang="en-US" dirty="0"/>
              <a:t>The user puts the required system call in a specific register and then executes </a:t>
            </a:r>
            <a:r>
              <a:rPr lang="en-US" dirty="0" err="1"/>
              <a:t>syscall</a:t>
            </a:r>
            <a:r>
              <a:rPr lang="en-US" dirty="0"/>
              <a:t> instruction. (</a:t>
            </a:r>
            <a:r>
              <a:rPr lang="en-US" dirty="0" err="1"/>
              <a:t>eg</a:t>
            </a:r>
            <a:r>
              <a:rPr lang="en-US" dirty="0"/>
              <a:t> put 1 into </a:t>
            </a:r>
            <a:r>
              <a:rPr lang="en-US" dirty="0" err="1">
                <a:latin typeface="Courier New" panose="02070309020205020404" pitchFamily="49" charset="0"/>
                <a:cs typeface="Courier New" panose="02070309020205020404" pitchFamily="49" charset="0"/>
              </a:rPr>
              <a:t>rax</a:t>
            </a:r>
            <a:r>
              <a:rPr lang="en-US" dirty="0"/>
              <a:t> for </a:t>
            </a:r>
            <a:r>
              <a:rPr lang="en-US" sz="2400" dirty="0">
                <a:latin typeface="Courier New" panose="02070309020205020404" pitchFamily="49" charset="0"/>
                <a:cs typeface="Courier New" panose="02070309020205020404" pitchFamily="49" charset="0"/>
              </a:rPr>
              <a:t>WRITE</a:t>
            </a:r>
            <a:r>
              <a:rPr lang="en-US" dirty="0"/>
              <a:t> system call)</a:t>
            </a:r>
          </a:p>
          <a:p>
            <a:r>
              <a:rPr lang="en-US" dirty="0"/>
              <a:t>The system call handler will use a </a:t>
            </a:r>
            <a:r>
              <a:rPr lang="en-US" dirty="0">
                <a:latin typeface="Courier New" panose="02070309020205020404" pitchFamily="49" charset="0"/>
                <a:cs typeface="Courier New" panose="02070309020205020404" pitchFamily="49" charset="0"/>
              </a:rPr>
              <a:t>system call table </a:t>
            </a:r>
            <a:r>
              <a:rPr lang="en-US" dirty="0"/>
              <a:t>to jump to the appropriate handler</a:t>
            </a:r>
          </a:p>
        </p:txBody>
      </p:sp>
      <p:graphicFrame>
        <p:nvGraphicFramePr>
          <p:cNvPr id="6" name="Table 5"/>
          <p:cNvGraphicFramePr>
            <a:graphicFrameLocks noGrp="1"/>
          </p:cNvGraphicFramePr>
          <p:nvPr>
            <p:extLst>
              <p:ext uri="{D42A27DB-BD31-4B8C-83A1-F6EECF244321}">
                <p14:modId xmlns:p14="http://schemas.microsoft.com/office/powerpoint/2010/main" val="2195932384"/>
              </p:ext>
            </p:extLst>
          </p:nvPr>
        </p:nvGraphicFramePr>
        <p:xfrm>
          <a:off x="7498862" y="4644670"/>
          <a:ext cx="1386449" cy="2473698"/>
        </p:xfrm>
        <a:graphic>
          <a:graphicData uri="http://schemas.openxmlformats.org/drawingml/2006/table">
            <a:tbl>
              <a:tblPr firstRow="1" bandRow="1">
                <a:tableStyleId>{69CF1AB2-1976-4502-BF36-3FF5EA218861}</a:tableStyleId>
              </a:tblPr>
              <a:tblGrid>
                <a:gridCol w="1386449">
                  <a:extLst>
                    <a:ext uri="{9D8B030D-6E8A-4147-A177-3AD203B41FA5}">
                      <a16:colId xmlns:a16="http://schemas.microsoft.com/office/drawing/2014/main" val="2108504872"/>
                    </a:ext>
                  </a:extLst>
                </a:gridCol>
              </a:tblGrid>
              <a:tr h="412283">
                <a:tc>
                  <a:txBody>
                    <a:bodyPr/>
                    <a:lstStyle/>
                    <a:p>
                      <a:r>
                        <a:rPr lang="en-US" b="0" dirty="0" err="1"/>
                        <a:t>sys_read</a:t>
                      </a:r>
                      <a:endParaRPr lang="en-US" b="0" dirty="0"/>
                    </a:p>
                  </a:txBody>
                  <a:tcPr/>
                </a:tc>
                <a:extLst>
                  <a:ext uri="{0D108BD9-81ED-4DB2-BD59-A6C34878D82A}">
                    <a16:rowId xmlns:a16="http://schemas.microsoft.com/office/drawing/2014/main" val="1849252567"/>
                  </a:ext>
                </a:extLst>
              </a:tr>
              <a:tr h="41228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dirty="0" err="1"/>
                        <a:t>sys_write</a:t>
                      </a:r>
                      <a:endParaRPr lang="en-US" b="0" dirty="0"/>
                    </a:p>
                  </a:txBody>
                  <a:tcPr/>
                </a:tc>
                <a:extLst>
                  <a:ext uri="{0D108BD9-81ED-4DB2-BD59-A6C34878D82A}">
                    <a16:rowId xmlns:a16="http://schemas.microsoft.com/office/drawing/2014/main" val="3175761820"/>
                  </a:ext>
                </a:extLst>
              </a:tr>
              <a:tr h="41228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dirty="0" err="1"/>
                        <a:t>sys_open</a:t>
                      </a:r>
                      <a:endParaRPr lang="en-US" b="0" dirty="0"/>
                    </a:p>
                  </a:txBody>
                  <a:tcPr/>
                </a:tc>
                <a:extLst>
                  <a:ext uri="{0D108BD9-81ED-4DB2-BD59-A6C34878D82A}">
                    <a16:rowId xmlns:a16="http://schemas.microsoft.com/office/drawing/2014/main" val="1626108119"/>
                  </a:ext>
                </a:extLst>
              </a:tr>
              <a:tr h="41228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dirty="0" err="1"/>
                        <a:t>sys_close</a:t>
                      </a:r>
                      <a:endParaRPr lang="en-US" b="0" dirty="0"/>
                    </a:p>
                  </a:txBody>
                  <a:tcPr/>
                </a:tc>
                <a:extLst>
                  <a:ext uri="{0D108BD9-81ED-4DB2-BD59-A6C34878D82A}">
                    <a16:rowId xmlns:a16="http://schemas.microsoft.com/office/drawing/2014/main" val="1649231620"/>
                  </a:ext>
                </a:extLst>
              </a:tr>
              <a:tr h="41228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dirty="0" err="1"/>
                        <a:t>sys_stat</a:t>
                      </a:r>
                      <a:endParaRPr lang="en-US" b="0" dirty="0"/>
                    </a:p>
                  </a:txBody>
                  <a:tcPr/>
                </a:tc>
                <a:extLst>
                  <a:ext uri="{0D108BD9-81ED-4DB2-BD59-A6C34878D82A}">
                    <a16:rowId xmlns:a16="http://schemas.microsoft.com/office/drawing/2014/main" val="3524508860"/>
                  </a:ext>
                </a:extLst>
              </a:tr>
              <a:tr h="41228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dirty="0" err="1"/>
                        <a:t>sys_fstat</a:t>
                      </a:r>
                      <a:endParaRPr lang="en-US" b="0" dirty="0"/>
                    </a:p>
                  </a:txBody>
                  <a:tcPr/>
                </a:tc>
                <a:extLst>
                  <a:ext uri="{0D108BD9-81ED-4DB2-BD59-A6C34878D82A}">
                    <a16:rowId xmlns:a16="http://schemas.microsoft.com/office/drawing/2014/main" val="51850094"/>
                  </a:ext>
                </a:extLst>
              </a:tr>
            </a:tbl>
          </a:graphicData>
        </a:graphic>
      </p:graphicFrame>
      <p:sp>
        <p:nvSpPr>
          <p:cNvPr id="7" name="TextBox 6"/>
          <p:cNvSpPr txBox="1"/>
          <p:nvPr/>
        </p:nvSpPr>
        <p:spPr>
          <a:xfrm>
            <a:off x="7200910" y="4600271"/>
            <a:ext cx="399468" cy="2677656"/>
          </a:xfrm>
          <a:prstGeom prst="rect">
            <a:avLst/>
          </a:prstGeom>
          <a:noFill/>
        </p:spPr>
        <p:txBody>
          <a:bodyPr wrap="none" rtlCol="0">
            <a:spAutoFit/>
          </a:bodyPr>
          <a:lstStyle/>
          <a:p>
            <a:r>
              <a:rPr lang="en-US" sz="2800" dirty="0">
                <a:latin typeface="Courier New" panose="02070309020205020404" pitchFamily="49" charset="0"/>
                <a:cs typeface="Courier New" panose="02070309020205020404" pitchFamily="49" charset="0"/>
              </a:rPr>
              <a:t>0</a:t>
            </a:r>
          </a:p>
          <a:p>
            <a:r>
              <a:rPr lang="en-US" sz="2800" dirty="0">
                <a:latin typeface="Courier New" panose="02070309020205020404" pitchFamily="49" charset="0"/>
                <a:cs typeface="Courier New" panose="02070309020205020404" pitchFamily="49" charset="0"/>
              </a:rPr>
              <a:t>1</a:t>
            </a:r>
          </a:p>
          <a:p>
            <a:r>
              <a:rPr lang="en-US" sz="2800" dirty="0">
                <a:latin typeface="Courier New" panose="02070309020205020404" pitchFamily="49" charset="0"/>
                <a:cs typeface="Courier New" panose="02070309020205020404" pitchFamily="49" charset="0"/>
              </a:rPr>
              <a:t>2</a:t>
            </a:r>
          </a:p>
          <a:p>
            <a:r>
              <a:rPr lang="en-US" sz="2800" dirty="0">
                <a:latin typeface="Courier New" panose="02070309020205020404" pitchFamily="49" charset="0"/>
                <a:cs typeface="Courier New" panose="02070309020205020404" pitchFamily="49" charset="0"/>
              </a:rPr>
              <a:t>3</a:t>
            </a:r>
          </a:p>
          <a:p>
            <a:r>
              <a:rPr lang="en-US" sz="2800" dirty="0">
                <a:latin typeface="Courier New" panose="02070309020205020404" pitchFamily="49" charset="0"/>
                <a:cs typeface="Courier New" panose="02070309020205020404" pitchFamily="49" charset="0"/>
              </a:rPr>
              <a:t>4</a:t>
            </a:r>
          </a:p>
          <a:p>
            <a:r>
              <a:rPr lang="en-US" sz="2800" dirty="0">
                <a:latin typeface="Courier New" panose="02070309020205020404" pitchFamily="49" charset="0"/>
                <a:cs typeface="Courier New" panose="02070309020205020404" pitchFamily="49" charset="0"/>
              </a:rPr>
              <a:t>5</a:t>
            </a:r>
          </a:p>
        </p:txBody>
      </p:sp>
      <p:sp>
        <p:nvSpPr>
          <p:cNvPr id="8" name="Freeform 7"/>
          <p:cNvSpPr/>
          <p:nvPr/>
        </p:nvSpPr>
        <p:spPr>
          <a:xfrm>
            <a:off x="8750105" y="4596606"/>
            <a:ext cx="1111347" cy="200477"/>
          </a:xfrm>
          <a:custGeom>
            <a:avLst/>
            <a:gdLst>
              <a:gd name="connsiteX0" fmla="*/ 0 w 1111347"/>
              <a:gd name="connsiteY0" fmla="*/ 200477 h 200477"/>
              <a:gd name="connsiteX1" fmla="*/ 689317 w 1111347"/>
              <a:gd name="connsiteY1" fmla="*/ 17597 h 200477"/>
              <a:gd name="connsiteX2" fmla="*/ 1111347 w 1111347"/>
              <a:gd name="connsiteY2" fmla="*/ 17597 h 200477"/>
            </a:gdLst>
            <a:ahLst/>
            <a:cxnLst>
              <a:cxn ang="0">
                <a:pos x="connsiteX0" y="connsiteY0"/>
              </a:cxn>
              <a:cxn ang="0">
                <a:pos x="connsiteX1" y="connsiteY1"/>
              </a:cxn>
              <a:cxn ang="0">
                <a:pos x="connsiteX2" y="connsiteY2"/>
              </a:cxn>
            </a:cxnLst>
            <a:rect l="l" t="t" r="r" b="b"/>
            <a:pathLst>
              <a:path w="1111347" h="200477">
                <a:moveTo>
                  <a:pt x="0" y="200477"/>
                </a:moveTo>
                <a:cubicBezTo>
                  <a:pt x="252046" y="124277"/>
                  <a:pt x="504093" y="48077"/>
                  <a:pt x="689317" y="17597"/>
                </a:cubicBezTo>
                <a:cubicBezTo>
                  <a:pt x="874541" y="-12883"/>
                  <a:pt x="992944" y="2357"/>
                  <a:pt x="1111347" y="17597"/>
                </a:cubicBezTo>
              </a:path>
            </a:pathLst>
          </a:custGeom>
          <a:noFill/>
          <a:ln>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p:cNvSpPr/>
          <p:nvPr/>
        </p:nvSpPr>
        <p:spPr>
          <a:xfrm>
            <a:off x="8792308" y="5036766"/>
            <a:ext cx="1026941" cy="154212"/>
          </a:xfrm>
          <a:custGeom>
            <a:avLst/>
            <a:gdLst>
              <a:gd name="connsiteX0" fmla="*/ 0 w 1026941"/>
              <a:gd name="connsiteY0" fmla="*/ 154212 h 154212"/>
              <a:gd name="connsiteX1" fmla="*/ 675249 w 1026941"/>
              <a:gd name="connsiteY1" fmla="*/ 13536 h 154212"/>
              <a:gd name="connsiteX2" fmla="*/ 1026941 w 1026941"/>
              <a:gd name="connsiteY2" fmla="*/ 13536 h 154212"/>
            </a:gdLst>
            <a:ahLst/>
            <a:cxnLst>
              <a:cxn ang="0">
                <a:pos x="connsiteX0" y="connsiteY0"/>
              </a:cxn>
              <a:cxn ang="0">
                <a:pos x="connsiteX1" y="connsiteY1"/>
              </a:cxn>
              <a:cxn ang="0">
                <a:pos x="connsiteX2" y="connsiteY2"/>
              </a:cxn>
            </a:cxnLst>
            <a:rect l="l" t="t" r="r" b="b"/>
            <a:pathLst>
              <a:path w="1026941" h="154212">
                <a:moveTo>
                  <a:pt x="0" y="154212"/>
                </a:moveTo>
                <a:cubicBezTo>
                  <a:pt x="252046" y="95597"/>
                  <a:pt x="504092" y="36982"/>
                  <a:pt x="675249" y="13536"/>
                </a:cubicBezTo>
                <a:cubicBezTo>
                  <a:pt x="846406" y="-9910"/>
                  <a:pt x="936673" y="1813"/>
                  <a:pt x="1026941" y="13536"/>
                </a:cubicBezTo>
              </a:path>
            </a:pathLst>
          </a:custGeom>
          <a:noFill/>
          <a:ln>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8750105" y="5545909"/>
            <a:ext cx="1055077" cy="123371"/>
          </a:xfrm>
          <a:custGeom>
            <a:avLst/>
            <a:gdLst>
              <a:gd name="connsiteX0" fmla="*/ 0 w 1055077"/>
              <a:gd name="connsiteY0" fmla="*/ 123371 h 123371"/>
              <a:gd name="connsiteX1" fmla="*/ 492369 w 1055077"/>
              <a:gd name="connsiteY1" fmla="*/ 10829 h 123371"/>
              <a:gd name="connsiteX2" fmla="*/ 1055077 w 1055077"/>
              <a:gd name="connsiteY2" fmla="*/ 10829 h 123371"/>
            </a:gdLst>
            <a:ahLst/>
            <a:cxnLst>
              <a:cxn ang="0">
                <a:pos x="connsiteX0" y="connsiteY0"/>
              </a:cxn>
              <a:cxn ang="0">
                <a:pos x="connsiteX1" y="connsiteY1"/>
              </a:cxn>
              <a:cxn ang="0">
                <a:pos x="connsiteX2" y="connsiteY2"/>
              </a:cxn>
            </a:cxnLst>
            <a:rect l="l" t="t" r="r" b="b"/>
            <a:pathLst>
              <a:path w="1055077" h="123371">
                <a:moveTo>
                  <a:pt x="0" y="123371"/>
                </a:moveTo>
                <a:cubicBezTo>
                  <a:pt x="158261" y="76478"/>
                  <a:pt x="316523" y="29586"/>
                  <a:pt x="492369" y="10829"/>
                </a:cubicBezTo>
                <a:cubicBezTo>
                  <a:pt x="668215" y="-7928"/>
                  <a:pt x="861646" y="1450"/>
                  <a:pt x="1055077" y="10829"/>
                </a:cubicBezTo>
              </a:path>
            </a:pathLst>
          </a:custGeom>
          <a:noFill/>
          <a:ln>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10"/>
          <p:cNvSpPr/>
          <p:nvPr/>
        </p:nvSpPr>
        <p:spPr>
          <a:xfrm>
            <a:off x="8764172" y="6018478"/>
            <a:ext cx="1111348" cy="86900"/>
          </a:xfrm>
          <a:custGeom>
            <a:avLst/>
            <a:gdLst>
              <a:gd name="connsiteX0" fmla="*/ 0 w 1111348"/>
              <a:gd name="connsiteY0" fmla="*/ 86900 h 86900"/>
              <a:gd name="connsiteX1" fmla="*/ 661182 w 1111348"/>
              <a:gd name="connsiteY1" fmla="*/ 2494 h 86900"/>
              <a:gd name="connsiteX2" fmla="*/ 1111348 w 1111348"/>
              <a:gd name="connsiteY2" fmla="*/ 30630 h 86900"/>
            </a:gdLst>
            <a:ahLst/>
            <a:cxnLst>
              <a:cxn ang="0">
                <a:pos x="connsiteX0" y="connsiteY0"/>
              </a:cxn>
              <a:cxn ang="0">
                <a:pos x="connsiteX1" y="connsiteY1"/>
              </a:cxn>
              <a:cxn ang="0">
                <a:pos x="connsiteX2" y="connsiteY2"/>
              </a:cxn>
            </a:cxnLst>
            <a:rect l="l" t="t" r="r" b="b"/>
            <a:pathLst>
              <a:path w="1111348" h="86900">
                <a:moveTo>
                  <a:pt x="0" y="86900"/>
                </a:moveTo>
                <a:cubicBezTo>
                  <a:pt x="237978" y="49386"/>
                  <a:pt x="475957" y="11872"/>
                  <a:pt x="661182" y="2494"/>
                </a:cubicBezTo>
                <a:cubicBezTo>
                  <a:pt x="846407" y="-6884"/>
                  <a:pt x="978877" y="11873"/>
                  <a:pt x="1111348" y="30630"/>
                </a:cubicBezTo>
              </a:path>
            </a:pathLst>
          </a:custGeom>
          <a:noFill/>
          <a:ln>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p:cNvSpPr/>
          <p:nvPr/>
        </p:nvSpPr>
        <p:spPr>
          <a:xfrm>
            <a:off x="8778240" y="6568799"/>
            <a:ext cx="1167618" cy="57084"/>
          </a:xfrm>
          <a:custGeom>
            <a:avLst/>
            <a:gdLst>
              <a:gd name="connsiteX0" fmla="*/ 0 w 1167618"/>
              <a:gd name="connsiteY0" fmla="*/ 28949 h 57084"/>
              <a:gd name="connsiteX1" fmla="*/ 590843 w 1167618"/>
              <a:gd name="connsiteY1" fmla="*/ 813 h 57084"/>
              <a:gd name="connsiteX2" fmla="*/ 1167618 w 1167618"/>
              <a:gd name="connsiteY2" fmla="*/ 57084 h 57084"/>
            </a:gdLst>
            <a:ahLst/>
            <a:cxnLst>
              <a:cxn ang="0">
                <a:pos x="connsiteX0" y="connsiteY0"/>
              </a:cxn>
              <a:cxn ang="0">
                <a:pos x="connsiteX1" y="connsiteY1"/>
              </a:cxn>
              <a:cxn ang="0">
                <a:pos x="connsiteX2" y="connsiteY2"/>
              </a:cxn>
            </a:cxnLst>
            <a:rect l="l" t="t" r="r" b="b"/>
            <a:pathLst>
              <a:path w="1167618" h="57084">
                <a:moveTo>
                  <a:pt x="0" y="28949"/>
                </a:moveTo>
                <a:cubicBezTo>
                  <a:pt x="198120" y="12536"/>
                  <a:pt x="396240" y="-3876"/>
                  <a:pt x="590843" y="813"/>
                </a:cubicBezTo>
                <a:cubicBezTo>
                  <a:pt x="785446" y="5502"/>
                  <a:pt x="976532" y="31293"/>
                  <a:pt x="1167618" y="57084"/>
                </a:cubicBezTo>
              </a:path>
            </a:pathLst>
          </a:custGeom>
          <a:noFill/>
          <a:ln>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9909879" y="5059622"/>
            <a:ext cx="2593647" cy="1200329"/>
          </a:xfrm>
          <a:prstGeom prst="rect">
            <a:avLst/>
          </a:prstGeom>
          <a:noFill/>
        </p:spPr>
        <p:txBody>
          <a:bodyPr wrap="square" rtlCol="0">
            <a:spAutoFit/>
          </a:bodyPr>
          <a:lstStyle/>
          <a:p>
            <a:r>
              <a:rPr lang="en-US" dirty="0">
                <a:latin typeface="Courier New" panose="02070309020205020404" pitchFamily="49" charset="0"/>
                <a:cs typeface="Courier New" panose="02070309020205020404" pitchFamily="49" charset="0"/>
              </a:rPr>
              <a:t>Address of the corresponding handler in the kernel</a:t>
            </a:r>
          </a:p>
        </p:txBody>
      </p:sp>
      <p:sp>
        <p:nvSpPr>
          <p:cNvPr id="14" name="TextBox 13"/>
          <p:cNvSpPr txBox="1"/>
          <p:nvPr/>
        </p:nvSpPr>
        <p:spPr>
          <a:xfrm>
            <a:off x="5666359" y="5146121"/>
            <a:ext cx="1177863" cy="1200329"/>
          </a:xfrm>
          <a:prstGeom prst="rect">
            <a:avLst/>
          </a:prstGeom>
          <a:noFill/>
        </p:spPr>
        <p:txBody>
          <a:bodyPr wrap="square" rtlCol="0">
            <a:spAutoFit/>
          </a:bodyPr>
          <a:lstStyle/>
          <a:p>
            <a:r>
              <a:rPr lang="en-US" dirty="0">
                <a:latin typeface="Courier New" panose="02070309020205020404" pitchFamily="49" charset="0"/>
                <a:cs typeface="Courier New" panose="02070309020205020404" pitchFamily="49" charset="0"/>
              </a:rPr>
              <a:t>System call numeric codes</a:t>
            </a:r>
          </a:p>
        </p:txBody>
      </p:sp>
    </p:spTree>
    <p:extLst>
      <p:ext uri="{BB962C8B-B14F-4D97-AF65-F5344CB8AC3E}">
        <p14:creationId xmlns:p14="http://schemas.microsoft.com/office/powerpoint/2010/main" val="1100777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p:bldP spid="8" grpId="0" animBg="1"/>
      <p:bldP spid="9" grpId="0" animBg="1"/>
      <p:bldP spid="10" grpId="0" animBg="1"/>
      <p:bldP spid="11" grpId="0" animBg="1"/>
      <p:bldP spid="12" grpId="0" animBg="1"/>
      <p:bldP spid="13" grpId="0"/>
      <p:bldP spid="1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about the system call(</a:t>
            </a:r>
            <a:r>
              <a:rPr lang="en-US" b="1" dirty="0" err="1">
                <a:solidFill>
                  <a:schemeClr val="accent2">
                    <a:lumMod val="75000"/>
                  </a:schemeClr>
                </a:solidFill>
              </a:rPr>
              <a:t>syscall</a:t>
            </a:r>
            <a:r>
              <a:rPr lang="en-US" dirty="0"/>
              <a:t> in x86-64)</a:t>
            </a:r>
          </a:p>
        </p:txBody>
      </p:sp>
      <p:sp>
        <p:nvSpPr>
          <p:cNvPr id="3" name="Content Placeholder 2"/>
          <p:cNvSpPr>
            <a:spLocks noGrp="1"/>
          </p:cNvSpPr>
          <p:nvPr>
            <p:ph idx="1"/>
          </p:nvPr>
        </p:nvSpPr>
        <p:spPr>
          <a:xfrm>
            <a:off x="838200" y="1825625"/>
            <a:ext cx="10036126" cy="4351338"/>
          </a:xfrm>
        </p:spPr>
        <p:txBody>
          <a:bodyPr>
            <a:normAutofit lnSpcReduction="10000"/>
          </a:bodyPr>
          <a:lstStyle/>
          <a:p>
            <a:pPr marL="514350" indent="-514350">
              <a:buFont typeface="+mj-lt"/>
              <a:buAutoNum type="arabicPeriod"/>
            </a:pPr>
            <a:r>
              <a:rPr lang="en-US" b="1" dirty="0" err="1">
                <a:solidFill>
                  <a:schemeClr val="accent2">
                    <a:lumMod val="75000"/>
                  </a:schemeClr>
                </a:solidFill>
              </a:rPr>
              <a:t>Syscall</a:t>
            </a:r>
            <a:r>
              <a:rPr lang="en-US" dirty="0"/>
              <a:t> instruction</a:t>
            </a:r>
          </a:p>
          <a:p>
            <a:pPr marL="971550" lvl="1" indent="-514350">
              <a:buFont typeface="+mj-lt"/>
              <a:buAutoNum type="arabicPeriod"/>
            </a:pPr>
            <a:r>
              <a:rPr lang="en-US" dirty="0"/>
              <a:t>Change mode to kernel mode </a:t>
            </a:r>
          </a:p>
          <a:p>
            <a:pPr marL="971550" lvl="1" indent="-514350">
              <a:buFont typeface="+mj-lt"/>
              <a:buAutoNum type="arabicPeriod"/>
            </a:pPr>
            <a:r>
              <a:rPr lang="en-US" dirty="0"/>
              <a:t>Saves some process state</a:t>
            </a:r>
          </a:p>
          <a:p>
            <a:pPr marL="971550" lvl="1" indent="-514350">
              <a:buFont typeface="+mj-lt"/>
              <a:buAutoNum type="arabicPeriod"/>
            </a:pPr>
            <a:r>
              <a:rPr lang="en-US" dirty="0"/>
              <a:t>Starts executing the system call handler </a:t>
            </a:r>
            <a:r>
              <a:rPr lang="en-US" dirty="0">
                <a:latin typeface="Courier New" panose="02070309020205020404" pitchFamily="49" charset="0"/>
                <a:cs typeface="Courier New" panose="02070309020205020404" pitchFamily="49" charset="0"/>
              </a:rPr>
              <a:t>entry_syscall_64</a:t>
            </a:r>
          </a:p>
          <a:p>
            <a:pPr marL="514350" indent="-514350">
              <a:buFont typeface="+mj-lt"/>
              <a:buAutoNum type="arabicPeriod"/>
            </a:pPr>
            <a:r>
              <a:rPr lang="en-US" dirty="0">
                <a:latin typeface="Courier New" panose="02070309020205020404" pitchFamily="49" charset="0"/>
                <a:cs typeface="Courier New" panose="02070309020205020404" pitchFamily="49" charset="0"/>
              </a:rPr>
              <a:t>entry_syscall_64</a:t>
            </a:r>
          </a:p>
          <a:p>
            <a:pPr marL="971550" lvl="1" indent="-514350">
              <a:buFont typeface="+mj-lt"/>
              <a:buAutoNum type="arabicPeriod"/>
            </a:pPr>
            <a:r>
              <a:rPr lang="en-US" dirty="0"/>
              <a:t>Stack switches to kernel stack</a:t>
            </a:r>
          </a:p>
          <a:p>
            <a:pPr marL="971550" lvl="1" indent="-514350">
              <a:buFont typeface="+mj-lt"/>
              <a:buAutoNum type="arabicPeriod"/>
            </a:pPr>
            <a:r>
              <a:rPr lang="en-US" dirty="0"/>
              <a:t>Saves rest of process state </a:t>
            </a:r>
          </a:p>
          <a:p>
            <a:pPr marL="971550" lvl="1" indent="-514350">
              <a:buFont typeface="+mj-lt"/>
              <a:buAutoNum type="arabicPeriod"/>
            </a:pPr>
            <a:r>
              <a:rPr lang="en-US" dirty="0"/>
              <a:t>Looks up the </a:t>
            </a:r>
            <a:r>
              <a:rPr lang="en-US" dirty="0" err="1"/>
              <a:t>syscall</a:t>
            </a:r>
            <a:r>
              <a:rPr lang="en-US" dirty="0"/>
              <a:t> table and executes the specific handler code</a:t>
            </a:r>
          </a:p>
          <a:p>
            <a:pPr marL="971550" lvl="1" indent="-514350">
              <a:buFont typeface="+mj-lt"/>
              <a:buAutoNum type="arabicPeriod"/>
            </a:pPr>
            <a:r>
              <a:rPr lang="en-US" dirty="0"/>
              <a:t>On return from the </a:t>
            </a:r>
            <a:r>
              <a:rPr lang="en-US" dirty="0" err="1"/>
              <a:t>syscall</a:t>
            </a:r>
            <a:r>
              <a:rPr lang="en-US" dirty="0"/>
              <a:t> handler restore any state information</a:t>
            </a:r>
          </a:p>
          <a:p>
            <a:pPr marL="971550" lvl="1" indent="-514350">
              <a:buFont typeface="+mj-lt"/>
              <a:buAutoNum type="arabicPeriod"/>
            </a:pPr>
            <a:r>
              <a:rPr lang="en-US" dirty="0"/>
              <a:t>Execute </a:t>
            </a:r>
            <a:r>
              <a:rPr lang="en-US" b="1" dirty="0" err="1">
                <a:solidFill>
                  <a:schemeClr val="accent2">
                    <a:lumMod val="75000"/>
                  </a:schemeClr>
                </a:solidFill>
              </a:rPr>
              <a:t>sysret</a:t>
            </a:r>
            <a:r>
              <a:rPr lang="en-US" dirty="0"/>
              <a:t>  which reverses the mode and some flags and goes back to user code execution.</a:t>
            </a:r>
          </a:p>
          <a:p>
            <a:pPr marL="514350" indent="-514350">
              <a:buFont typeface="+mj-lt"/>
              <a:buAutoNum type="arabicPeriod"/>
            </a:pPr>
            <a:endParaRPr lang="en-US" dirty="0"/>
          </a:p>
        </p:txBody>
      </p:sp>
    </p:spTree>
    <p:extLst>
      <p:ext uri="{BB962C8B-B14F-4D97-AF65-F5344CB8AC3E}">
        <p14:creationId xmlns:p14="http://schemas.microsoft.com/office/powerpoint/2010/main" val="17178442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Aside: Browse Linux kernel source</a:t>
            </a:r>
          </a:p>
        </p:txBody>
      </p:sp>
      <p:sp>
        <p:nvSpPr>
          <p:cNvPr id="3" name="Content Placeholder 2"/>
          <p:cNvSpPr>
            <a:spLocks noGrp="1"/>
          </p:cNvSpPr>
          <p:nvPr>
            <p:ph idx="1"/>
          </p:nvPr>
        </p:nvSpPr>
        <p:spPr/>
        <p:txBody>
          <a:bodyPr>
            <a:normAutofit fontScale="92500"/>
          </a:bodyPr>
          <a:lstStyle/>
          <a:p>
            <a:r>
              <a:rPr lang="en-US" dirty="0"/>
              <a:t>Go to: </a:t>
            </a:r>
            <a:r>
              <a:rPr lang="en-US" dirty="0">
                <a:hlinkClick r:id="rId3"/>
              </a:rPr>
              <a:t>https://kernel.org/</a:t>
            </a:r>
            <a:endParaRPr lang="en-US" dirty="0"/>
          </a:p>
          <a:p>
            <a:r>
              <a:rPr lang="en-US" dirty="0"/>
              <a:t>There you can download the source for the kernel version you are interested in (perhaps the version you are running)</a:t>
            </a:r>
          </a:p>
          <a:p>
            <a:r>
              <a:rPr lang="en-US" dirty="0"/>
              <a:t>Alternately, just browse the code, if you know what file you are looking for.</a:t>
            </a:r>
          </a:p>
          <a:p>
            <a:r>
              <a:rPr lang="en-US" dirty="0"/>
              <a:t>As an example entry_syscall_64 is in arch/x86/entry/entry_64.S </a:t>
            </a:r>
          </a:p>
          <a:p>
            <a:r>
              <a:rPr lang="en-US" dirty="0"/>
              <a:t>You can also use the elixir online cross reference tool for </a:t>
            </a:r>
            <a:r>
              <a:rPr lang="en-US" dirty="0" err="1"/>
              <a:t>linux</a:t>
            </a:r>
            <a:r>
              <a:rPr lang="en-US" dirty="0"/>
              <a:t> source to search for symbols: </a:t>
            </a:r>
            <a:r>
              <a:rPr lang="en-US" dirty="0">
                <a:hlinkClick r:id="rId4"/>
              </a:rPr>
              <a:t>https://elixir.bootlin.com/linux/v5.15/source</a:t>
            </a:r>
            <a:r>
              <a:rPr lang="en-US" dirty="0"/>
              <a:t> (replace v5.15 by any kernel version - with the ‘v’) and search for entry_SYSCALL_64</a:t>
            </a:r>
          </a:p>
          <a:p>
            <a:r>
              <a:rPr lang="en-US" dirty="0"/>
              <a:t>See also </a:t>
            </a:r>
            <a:r>
              <a:rPr lang="en-US" dirty="0">
                <a:hlinkClick r:id="rId5"/>
              </a:rPr>
              <a:t>https://0xax.gitbooks.io/linux-insides/content/SysCall/linux-syscall-1.html</a:t>
            </a:r>
            <a:r>
              <a:rPr lang="en-US" dirty="0"/>
              <a:t> </a:t>
            </a:r>
          </a:p>
        </p:txBody>
      </p:sp>
    </p:spTree>
    <p:extLst>
      <p:ext uri="{BB962C8B-B14F-4D97-AF65-F5344CB8AC3E}">
        <p14:creationId xmlns:p14="http://schemas.microsoft.com/office/powerpoint/2010/main" val="1646433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Understanding HW-SW interface</a:t>
            </a:r>
          </a:p>
        </p:txBody>
      </p:sp>
      <p:sp>
        <p:nvSpPr>
          <p:cNvPr id="3" name="Content Placeholder 2"/>
          <p:cNvSpPr>
            <a:spLocks noGrp="1"/>
          </p:cNvSpPr>
          <p:nvPr>
            <p:ph idx="1"/>
          </p:nvPr>
        </p:nvSpPr>
        <p:spPr/>
        <p:txBody>
          <a:bodyPr/>
          <a:lstStyle/>
          <a:p>
            <a:r>
              <a:rPr lang="en-US" dirty="0"/>
              <a:t>When kernel boots up it store in a special register:</a:t>
            </a:r>
          </a:p>
          <a:p>
            <a:pPr lvl="1"/>
            <a:r>
              <a:rPr lang="en-US" dirty="0" err="1"/>
              <a:t>wrmsrl</a:t>
            </a:r>
            <a:r>
              <a:rPr lang="en-US" dirty="0"/>
              <a:t>(MSR_LSTAR, entry_SYSCALL_64);</a:t>
            </a:r>
          </a:p>
          <a:p>
            <a:r>
              <a:rPr lang="en-US" dirty="0" err="1"/>
              <a:t>Syscall</a:t>
            </a:r>
            <a:r>
              <a:rPr lang="en-US" dirty="0"/>
              <a:t> instruction jumps to that address</a:t>
            </a:r>
          </a:p>
          <a:p>
            <a:pPr lvl="1"/>
            <a:endParaRPr lang="en-US" dirty="0"/>
          </a:p>
          <a:p>
            <a:endParaRPr lang="en-US" dirty="0"/>
          </a:p>
        </p:txBody>
      </p:sp>
    </p:spTree>
    <p:extLst>
      <p:ext uri="{BB962C8B-B14F-4D97-AF65-F5344CB8AC3E}">
        <p14:creationId xmlns:p14="http://schemas.microsoft.com/office/powerpoint/2010/main" val="4139868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p:cNvGrpSpPr/>
          <p:nvPr/>
        </p:nvGrpSpPr>
        <p:grpSpPr>
          <a:xfrm>
            <a:off x="4777740" y="463743"/>
            <a:ext cx="1645920" cy="2116938"/>
            <a:chOff x="6774180" y="1883562"/>
            <a:chExt cx="1645920" cy="2116938"/>
          </a:xfrm>
        </p:grpSpPr>
        <p:sp>
          <p:nvSpPr>
            <p:cNvPr id="3" name="Rounded Rectangle 2"/>
            <p:cNvSpPr/>
            <p:nvPr/>
          </p:nvSpPr>
          <p:spPr>
            <a:xfrm>
              <a:off x="6774180" y="2152357"/>
              <a:ext cx="1645920" cy="179363"/>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6774180" y="2432070"/>
              <a:ext cx="1645920" cy="179363"/>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a:off x="6774180" y="2711783"/>
              <a:ext cx="1645920" cy="179363"/>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p:cNvSpPr/>
            <p:nvPr/>
          </p:nvSpPr>
          <p:spPr>
            <a:xfrm>
              <a:off x="6774180" y="2991496"/>
              <a:ext cx="1645920" cy="179363"/>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p:cNvSpPr/>
            <p:nvPr/>
          </p:nvSpPr>
          <p:spPr>
            <a:xfrm>
              <a:off x="6774180" y="3271209"/>
              <a:ext cx="1645920" cy="179363"/>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p:cNvSpPr/>
            <p:nvPr/>
          </p:nvSpPr>
          <p:spPr>
            <a:xfrm>
              <a:off x="6774180" y="3550920"/>
              <a:ext cx="1645920" cy="179363"/>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ounded Rectangle 1"/>
            <p:cNvSpPr/>
            <p:nvPr/>
          </p:nvSpPr>
          <p:spPr>
            <a:xfrm>
              <a:off x="6979920" y="1883562"/>
              <a:ext cx="1272540" cy="211693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CPU</a:t>
              </a:r>
            </a:p>
          </p:txBody>
        </p:sp>
      </p:grpSp>
      <p:sp>
        <p:nvSpPr>
          <p:cNvPr id="20" name="Rounded Rectangle 19"/>
          <p:cNvSpPr/>
          <p:nvPr/>
        </p:nvSpPr>
        <p:spPr>
          <a:xfrm>
            <a:off x="6131859" y="2403461"/>
            <a:ext cx="5260041" cy="5234468"/>
          </a:xfrm>
          <a:prstGeom prst="roundRect">
            <a:avLst/>
          </a:prstGeom>
          <a:gradFill flip="none" rotWithShape="1">
            <a:gsLst>
              <a:gs pos="0">
                <a:srgbClr val="FFFF00"/>
              </a:gs>
              <a:gs pos="100000">
                <a:schemeClr val="bg1">
                  <a:lumMod val="95000"/>
                </a:schemeClr>
              </a:gs>
            </a:gsLst>
            <a:lin ang="0" scaled="1"/>
            <a:tileRect/>
          </a:gra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p:cNvSpPr>
            <a:spLocks noGrp="1"/>
          </p:cNvSpPr>
          <p:nvPr>
            <p:ph type="title"/>
          </p:nvPr>
        </p:nvSpPr>
        <p:spPr>
          <a:xfrm>
            <a:off x="838200" y="365125"/>
            <a:ext cx="3771900" cy="1486265"/>
          </a:xfrm>
        </p:spPr>
        <p:txBody>
          <a:bodyPr>
            <a:normAutofit fontScale="90000"/>
          </a:bodyPr>
          <a:lstStyle/>
          <a:p>
            <a:r>
              <a:rPr lang="en-US" dirty="0"/>
              <a:t>A simplified </a:t>
            </a:r>
            <a:r>
              <a:rPr lang="en-US" dirty="0" err="1"/>
              <a:t>syscall</a:t>
            </a:r>
            <a:r>
              <a:rPr lang="en-US" dirty="0"/>
              <a:t> handling mechanism</a:t>
            </a:r>
          </a:p>
        </p:txBody>
      </p:sp>
      <p:sp>
        <p:nvSpPr>
          <p:cNvPr id="5" name="TextBox 4"/>
          <p:cNvSpPr txBox="1"/>
          <p:nvPr/>
        </p:nvSpPr>
        <p:spPr>
          <a:xfrm>
            <a:off x="1477108" y="2152357"/>
            <a:ext cx="843501" cy="1477328"/>
          </a:xfrm>
          <a:prstGeom prst="rect">
            <a:avLst/>
          </a:prstGeom>
          <a:effectLst>
            <a:glow rad="228600">
              <a:schemeClr val="accent6">
                <a:satMod val="175000"/>
                <a:alpha val="40000"/>
              </a:schemeClr>
            </a:glow>
          </a:effectLst>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dirty="0"/>
              <a:t>---P1---</a:t>
            </a:r>
          </a:p>
          <a:p>
            <a:r>
              <a:rPr lang="en-US" dirty="0"/>
              <a:t>---------</a:t>
            </a:r>
          </a:p>
          <a:p>
            <a:r>
              <a:rPr lang="en-US" dirty="0"/>
              <a:t>---------</a:t>
            </a:r>
          </a:p>
          <a:p>
            <a:r>
              <a:rPr lang="en-US" dirty="0"/>
              <a:t>---------</a:t>
            </a:r>
          </a:p>
          <a:p>
            <a:r>
              <a:rPr lang="en-US" dirty="0"/>
              <a:t>---------</a:t>
            </a:r>
          </a:p>
        </p:txBody>
      </p:sp>
      <p:sp>
        <p:nvSpPr>
          <p:cNvPr id="7" name="TextBox 6"/>
          <p:cNvSpPr txBox="1"/>
          <p:nvPr/>
        </p:nvSpPr>
        <p:spPr>
          <a:xfrm>
            <a:off x="1713914" y="4682197"/>
            <a:ext cx="843501" cy="1477328"/>
          </a:xfrm>
          <a:prstGeom prst="rect">
            <a:avLst/>
          </a:prstGeom>
          <a:noFill/>
        </p:spPr>
        <p:txBody>
          <a:bodyPr wrap="none" rtlCol="0">
            <a:spAutoFit/>
          </a:bodyPr>
          <a:lstStyle/>
          <a:p>
            <a:r>
              <a:rPr lang="en-US" dirty="0"/>
              <a:t>---P4---</a:t>
            </a:r>
          </a:p>
          <a:p>
            <a:r>
              <a:rPr lang="en-US" dirty="0"/>
              <a:t>---------</a:t>
            </a:r>
          </a:p>
          <a:p>
            <a:r>
              <a:rPr lang="en-US" dirty="0"/>
              <a:t> --------</a:t>
            </a:r>
          </a:p>
          <a:p>
            <a:r>
              <a:rPr lang="en-US" dirty="0"/>
              <a:t>---------</a:t>
            </a:r>
          </a:p>
          <a:p>
            <a:r>
              <a:rPr lang="en-US" dirty="0"/>
              <a:t>---------</a:t>
            </a:r>
          </a:p>
        </p:txBody>
      </p:sp>
      <p:sp>
        <p:nvSpPr>
          <p:cNvPr id="12" name="TextBox 11"/>
          <p:cNvSpPr txBox="1"/>
          <p:nvPr/>
        </p:nvSpPr>
        <p:spPr>
          <a:xfrm>
            <a:off x="372463" y="4682197"/>
            <a:ext cx="843501" cy="1477328"/>
          </a:xfrm>
          <a:prstGeom prst="rect">
            <a:avLst/>
          </a:prstGeom>
          <a:noFill/>
        </p:spPr>
        <p:txBody>
          <a:bodyPr wrap="none" rtlCol="0">
            <a:spAutoFit/>
          </a:bodyPr>
          <a:lstStyle/>
          <a:p>
            <a:r>
              <a:rPr lang="en-US" dirty="0"/>
              <a:t>---P2---</a:t>
            </a:r>
          </a:p>
          <a:p>
            <a:r>
              <a:rPr lang="en-US" dirty="0"/>
              <a:t>---------</a:t>
            </a:r>
          </a:p>
          <a:p>
            <a:r>
              <a:rPr lang="en-US" dirty="0"/>
              <a:t> --------</a:t>
            </a:r>
          </a:p>
          <a:p>
            <a:r>
              <a:rPr lang="en-US" dirty="0"/>
              <a:t>---------</a:t>
            </a:r>
          </a:p>
          <a:p>
            <a:r>
              <a:rPr lang="en-US" dirty="0"/>
              <a:t>---------</a:t>
            </a:r>
          </a:p>
        </p:txBody>
      </p:sp>
      <p:sp>
        <p:nvSpPr>
          <p:cNvPr id="13" name="TextBox 12"/>
          <p:cNvSpPr txBox="1"/>
          <p:nvPr/>
        </p:nvSpPr>
        <p:spPr>
          <a:xfrm>
            <a:off x="201637" y="2733822"/>
            <a:ext cx="843501" cy="1477328"/>
          </a:xfrm>
          <a:prstGeom prst="rect">
            <a:avLst/>
          </a:prstGeom>
          <a:noFill/>
        </p:spPr>
        <p:txBody>
          <a:bodyPr wrap="none" rtlCol="0">
            <a:spAutoFit/>
          </a:bodyPr>
          <a:lstStyle/>
          <a:p>
            <a:r>
              <a:rPr lang="en-US" dirty="0"/>
              <a:t>---P3---</a:t>
            </a:r>
          </a:p>
          <a:p>
            <a:r>
              <a:rPr lang="en-US" dirty="0"/>
              <a:t>---------</a:t>
            </a:r>
          </a:p>
          <a:p>
            <a:r>
              <a:rPr lang="en-US" dirty="0"/>
              <a:t> --------</a:t>
            </a:r>
          </a:p>
          <a:p>
            <a:r>
              <a:rPr lang="en-US" dirty="0"/>
              <a:t>---------</a:t>
            </a:r>
          </a:p>
          <a:p>
            <a:r>
              <a:rPr lang="en-US" dirty="0"/>
              <a:t>---------</a:t>
            </a:r>
          </a:p>
        </p:txBody>
      </p:sp>
      <p:sp>
        <p:nvSpPr>
          <p:cNvPr id="8" name="Rectangle 7"/>
          <p:cNvSpPr/>
          <p:nvPr/>
        </p:nvSpPr>
        <p:spPr>
          <a:xfrm>
            <a:off x="1418797" y="2743200"/>
            <a:ext cx="1138617" cy="467626"/>
          </a:xfrm>
          <a:prstGeom prst="rect">
            <a:avLst/>
          </a:prstGeom>
          <a:solidFill>
            <a:srgbClr val="FF0000"/>
          </a:solidFill>
          <a:ln>
            <a:noFill/>
          </a:ln>
          <a:effectLst>
            <a:glow rad="2286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err="1"/>
              <a:t>Syscall</a:t>
            </a:r>
            <a:r>
              <a:rPr lang="en-US" sz="2000" b="1" dirty="0"/>
              <a:t>  1</a:t>
            </a:r>
          </a:p>
        </p:txBody>
      </p:sp>
      <p:sp>
        <p:nvSpPr>
          <p:cNvPr id="19" name="TextBox 18"/>
          <p:cNvSpPr txBox="1"/>
          <p:nvPr/>
        </p:nvSpPr>
        <p:spPr>
          <a:xfrm>
            <a:off x="6314145" y="2734971"/>
            <a:ext cx="3038652" cy="1938992"/>
          </a:xfrm>
          <a:prstGeom prst="rect">
            <a:avLst/>
          </a:prstGeom>
          <a:noFill/>
        </p:spPr>
        <p:txBody>
          <a:bodyPr wrap="none" rtlCol="0">
            <a:spAutoFit/>
          </a:bodyPr>
          <a:lstStyle/>
          <a:p>
            <a:r>
              <a:rPr lang="en-US" sz="2400" b="1" dirty="0"/>
              <a:t>entry_syscall_64</a:t>
            </a:r>
          </a:p>
          <a:p>
            <a:r>
              <a:rPr lang="en-US" sz="2400" b="1" dirty="0"/>
              <a:t>     save</a:t>
            </a:r>
            <a:br>
              <a:rPr lang="en-US" sz="2400" b="1" dirty="0"/>
            </a:br>
            <a:r>
              <a:rPr lang="en-US" sz="2400" b="1" dirty="0"/>
              <a:t>     call refers ST</a:t>
            </a:r>
          </a:p>
          <a:p>
            <a:r>
              <a:rPr lang="en-US" sz="2400" b="1" dirty="0"/>
              <a:t>     restore</a:t>
            </a:r>
            <a:br>
              <a:rPr lang="en-US" sz="2400" b="1" dirty="0"/>
            </a:br>
            <a:r>
              <a:rPr lang="en-US" sz="2400" b="1" dirty="0"/>
              <a:t>     </a:t>
            </a:r>
            <a:r>
              <a:rPr lang="en-US" sz="2400" b="1" dirty="0" err="1"/>
              <a:t>sysret</a:t>
            </a:r>
            <a:r>
              <a:rPr lang="en-US" sz="2400" b="1" dirty="0"/>
              <a:t>                    ----</a:t>
            </a:r>
          </a:p>
        </p:txBody>
      </p:sp>
      <p:sp>
        <p:nvSpPr>
          <p:cNvPr id="21" name="TextBox 20"/>
          <p:cNvSpPr txBox="1"/>
          <p:nvPr/>
        </p:nvSpPr>
        <p:spPr>
          <a:xfrm>
            <a:off x="10271760" y="2873857"/>
            <a:ext cx="838200" cy="1384995"/>
          </a:xfrm>
          <a:prstGeom prst="rect">
            <a:avLst/>
          </a:prstGeom>
          <a:pattFill prst="lgGrid">
            <a:fgClr>
              <a:schemeClr val="bg2">
                <a:lumMod val="50000"/>
              </a:schemeClr>
            </a:fgClr>
            <a:bgClr>
              <a:schemeClr val="bg1"/>
            </a:bgClr>
          </a:pattFill>
          <a:ln>
            <a:solidFill>
              <a:schemeClr val="tx1"/>
            </a:solidFill>
          </a:ln>
        </p:spPr>
        <p:txBody>
          <a:bodyPr wrap="square" rtlCol="0">
            <a:spAutoFit/>
          </a:bodyPr>
          <a:lstStyle/>
          <a:p>
            <a:endParaRPr lang="en-US" sz="2800" b="1" dirty="0"/>
          </a:p>
          <a:p>
            <a:endParaRPr lang="en-US" sz="2800" b="1" dirty="0"/>
          </a:p>
          <a:p>
            <a:endParaRPr lang="en-US" sz="2800" b="1" dirty="0"/>
          </a:p>
        </p:txBody>
      </p:sp>
      <p:sp>
        <p:nvSpPr>
          <p:cNvPr id="22" name="TextBox 21"/>
          <p:cNvSpPr txBox="1"/>
          <p:nvPr/>
        </p:nvSpPr>
        <p:spPr>
          <a:xfrm>
            <a:off x="8296792" y="3493172"/>
            <a:ext cx="340158" cy="461665"/>
          </a:xfrm>
          <a:prstGeom prst="rect">
            <a:avLst/>
          </a:prstGeom>
          <a:noFill/>
        </p:spPr>
        <p:txBody>
          <a:bodyPr wrap="none" rtlCol="0">
            <a:spAutoFit/>
          </a:bodyPr>
          <a:lstStyle/>
          <a:p>
            <a:r>
              <a:rPr lang="en-US" sz="2400" b="1" dirty="0">
                <a:solidFill>
                  <a:srgbClr val="FF0000"/>
                </a:solidFill>
              </a:rPr>
              <a:t>1</a:t>
            </a:r>
          </a:p>
        </p:txBody>
      </p:sp>
      <p:cxnSp>
        <p:nvCxnSpPr>
          <p:cNvPr id="24" name="Straight Arrow Connector 23"/>
          <p:cNvCxnSpPr>
            <a:stCxn id="22" idx="3"/>
          </p:cNvCxnSpPr>
          <p:nvPr/>
        </p:nvCxnSpPr>
        <p:spPr>
          <a:xfrm flipV="1">
            <a:off x="8636950" y="3366975"/>
            <a:ext cx="1518059" cy="357030"/>
          </a:xfrm>
          <a:prstGeom prst="straightConnector1">
            <a:avLst/>
          </a:prstGeom>
          <a:ln>
            <a:prstDash val="lgDash"/>
            <a:headEnd type="arrow" w="med" len="med"/>
            <a:tailEnd type="arrow" w="lg" len="med"/>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6131859" y="4786148"/>
            <a:ext cx="2924659" cy="1200329"/>
          </a:xfrm>
          <a:prstGeom prst="rect">
            <a:avLst/>
          </a:prstGeom>
          <a:noFill/>
        </p:spPr>
        <p:txBody>
          <a:bodyPr wrap="square" rtlCol="0">
            <a:spAutoFit/>
          </a:bodyPr>
          <a:lstStyle/>
          <a:p>
            <a:r>
              <a:rPr lang="en-US" sz="2400" b="1" dirty="0"/>
              <a:t>System call 1 handler</a:t>
            </a:r>
          </a:p>
          <a:p>
            <a:r>
              <a:rPr lang="en-US" sz="2400" b="1" dirty="0"/>
              <a:t>          ----</a:t>
            </a:r>
          </a:p>
          <a:p>
            <a:r>
              <a:rPr lang="en-US" sz="2400" b="1" dirty="0"/>
              <a:t>          return	</a:t>
            </a:r>
          </a:p>
        </p:txBody>
      </p:sp>
      <p:sp>
        <p:nvSpPr>
          <p:cNvPr id="37" name="Freeform 36"/>
          <p:cNvSpPr/>
          <p:nvPr/>
        </p:nvSpPr>
        <p:spPr>
          <a:xfrm>
            <a:off x="2654710" y="1757410"/>
            <a:ext cx="3864077" cy="1103777"/>
          </a:xfrm>
          <a:custGeom>
            <a:avLst/>
            <a:gdLst>
              <a:gd name="connsiteX0" fmla="*/ 0 w 3864077"/>
              <a:gd name="connsiteY0" fmla="*/ 1103777 h 1103777"/>
              <a:gd name="connsiteX1" fmla="*/ 1032387 w 3864077"/>
              <a:gd name="connsiteY1" fmla="*/ 513842 h 1103777"/>
              <a:gd name="connsiteX2" fmla="*/ 3008671 w 3864077"/>
              <a:gd name="connsiteY2" fmla="*/ 12396 h 1103777"/>
              <a:gd name="connsiteX3" fmla="*/ 3864077 w 3864077"/>
              <a:gd name="connsiteY3" fmla="*/ 1044784 h 1103777"/>
            </a:gdLst>
            <a:ahLst/>
            <a:cxnLst>
              <a:cxn ang="0">
                <a:pos x="connsiteX0" y="connsiteY0"/>
              </a:cxn>
              <a:cxn ang="0">
                <a:pos x="connsiteX1" y="connsiteY1"/>
              </a:cxn>
              <a:cxn ang="0">
                <a:pos x="connsiteX2" y="connsiteY2"/>
              </a:cxn>
              <a:cxn ang="0">
                <a:pos x="connsiteX3" y="connsiteY3"/>
              </a:cxn>
            </a:cxnLst>
            <a:rect l="l" t="t" r="r" b="b"/>
            <a:pathLst>
              <a:path w="3864077" h="1103777">
                <a:moveTo>
                  <a:pt x="0" y="1103777"/>
                </a:moveTo>
                <a:cubicBezTo>
                  <a:pt x="265471" y="899758"/>
                  <a:pt x="530942" y="695739"/>
                  <a:pt x="1032387" y="513842"/>
                </a:cubicBezTo>
                <a:cubicBezTo>
                  <a:pt x="1533832" y="331945"/>
                  <a:pt x="2536723" y="-76094"/>
                  <a:pt x="3008671" y="12396"/>
                </a:cubicBezTo>
                <a:cubicBezTo>
                  <a:pt x="3480619" y="100886"/>
                  <a:pt x="3672348" y="572835"/>
                  <a:pt x="3864077" y="1044784"/>
                </a:cubicBezTo>
              </a:path>
            </a:pathLst>
          </a:custGeom>
          <a:noFill/>
          <a:ln cmpd="thickThin">
            <a:tailEnd type="arrow" w="lg"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p:cNvSpPr txBox="1"/>
          <p:nvPr/>
        </p:nvSpPr>
        <p:spPr>
          <a:xfrm>
            <a:off x="9842807" y="2476333"/>
            <a:ext cx="2054665" cy="461665"/>
          </a:xfrm>
          <a:prstGeom prst="rect">
            <a:avLst/>
          </a:prstGeom>
          <a:noFill/>
        </p:spPr>
        <p:txBody>
          <a:bodyPr wrap="none" rtlCol="0">
            <a:spAutoFit/>
          </a:bodyPr>
          <a:lstStyle/>
          <a:p>
            <a:r>
              <a:rPr lang="en-US" sz="2400" dirty="0" err="1"/>
              <a:t>Syscall</a:t>
            </a:r>
            <a:r>
              <a:rPr lang="en-US" sz="2400" dirty="0"/>
              <a:t> table ST</a:t>
            </a:r>
          </a:p>
        </p:txBody>
      </p:sp>
      <p:sp>
        <p:nvSpPr>
          <p:cNvPr id="41" name="Rounded Rectangle 40"/>
          <p:cNvSpPr/>
          <p:nvPr/>
        </p:nvSpPr>
        <p:spPr>
          <a:xfrm>
            <a:off x="10404298" y="3106482"/>
            <a:ext cx="573121" cy="114413"/>
          </a:xfrm>
          <a:prstGeom prst="round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44"/>
          <p:cNvSpPr/>
          <p:nvPr/>
        </p:nvSpPr>
        <p:spPr>
          <a:xfrm>
            <a:off x="2743200" y="3415553"/>
            <a:ext cx="3845859" cy="1401150"/>
          </a:xfrm>
          <a:custGeom>
            <a:avLst/>
            <a:gdLst>
              <a:gd name="connsiteX0" fmla="*/ 3845859 w 3845859"/>
              <a:gd name="connsiteY0" fmla="*/ 1021976 h 1401150"/>
              <a:gd name="connsiteX1" fmla="*/ 1936376 w 3845859"/>
              <a:gd name="connsiteY1" fmla="*/ 1344706 h 1401150"/>
              <a:gd name="connsiteX2" fmla="*/ 0 w 3845859"/>
              <a:gd name="connsiteY2" fmla="*/ 0 h 1401150"/>
            </a:gdLst>
            <a:ahLst/>
            <a:cxnLst>
              <a:cxn ang="0">
                <a:pos x="connsiteX0" y="connsiteY0"/>
              </a:cxn>
              <a:cxn ang="0">
                <a:pos x="connsiteX1" y="connsiteY1"/>
              </a:cxn>
              <a:cxn ang="0">
                <a:pos x="connsiteX2" y="connsiteY2"/>
              </a:cxn>
            </a:cxnLst>
            <a:rect l="l" t="t" r="r" b="b"/>
            <a:pathLst>
              <a:path w="3845859" h="1401150">
                <a:moveTo>
                  <a:pt x="3845859" y="1021976"/>
                </a:moveTo>
                <a:cubicBezTo>
                  <a:pt x="3211605" y="1268505"/>
                  <a:pt x="2577352" y="1515035"/>
                  <a:pt x="1936376" y="1344706"/>
                </a:cubicBezTo>
                <a:cubicBezTo>
                  <a:pt x="1295400" y="1174377"/>
                  <a:pt x="647700" y="587188"/>
                  <a:pt x="0" y="0"/>
                </a:cubicBezTo>
              </a:path>
            </a:pathLst>
          </a:custGeom>
          <a:noFill/>
          <a:ln>
            <a:tailEnd type="arrow" w="lg"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45"/>
          <p:cNvSpPr/>
          <p:nvPr/>
        </p:nvSpPr>
        <p:spPr>
          <a:xfrm>
            <a:off x="5952613" y="3711388"/>
            <a:ext cx="690234" cy="1156447"/>
          </a:xfrm>
          <a:custGeom>
            <a:avLst/>
            <a:gdLst>
              <a:gd name="connsiteX0" fmla="*/ 690234 w 690234"/>
              <a:gd name="connsiteY0" fmla="*/ 0 h 1156447"/>
              <a:gd name="connsiteX1" fmla="*/ 17881 w 690234"/>
              <a:gd name="connsiteY1" fmla="*/ 699247 h 1156447"/>
              <a:gd name="connsiteX2" fmla="*/ 259928 w 690234"/>
              <a:gd name="connsiteY2" fmla="*/ 1156447 h 1156447"/>
            </a:gdLst>
            <a:ahLst/>
            <a:cxnLst>
              <a:cxn ang="0">
                <a:pos x="connsiteX0" y="connsiteY0"/>
              </a:cxn>
              <a:cxn ang="0">
                <a:pos x="connsiteX1" y="connsiteY1"/>
              </a:cxn>
              <a:cxn ang="0">
                <a:pos x="connsiteX2" y="connsiteY2"/>
              </a:cxn>
            </a:cxnLst>
            <a:rect l="l" t="t" r="r" b="b"/>
            <a:pathLst>
              <a:path w="690234" h="1156447">
                <a:moveTo>
                  <a:pt x="690234" y="0"/>
                </a:moveTo>
                <a:cubicBezTo>
                  <a:pt x="389916" y="253253"/>
                  <a:pt x="89599" y="506506"/>
                  <a:pt x="17881" y="699247"/>
                </a:cubicBezTo>
                <a:cubicBezTo>
                  <a:pt x="-53837" y="891988"/>
                  <a:pt x="103045" y="1024217"/>
                  <a:pt x="259928" y="1156447"/>
                </a:cubicBezTo>
              </a:path>
            </a:pathLst>
          </a:custGeom>
          <a:noFill/>
          <a:ln>
            <a:tailEnd type="arrow" w="lg"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46"/>
          <p:cNvSpPr/>
          <p:nvPr/>
        </p:nvSpPr>
        <p:spPr>
          <a:xfrm>
            <a:off x="7632411" y="3906348"/>
            <a:ext cx="483884" cy="1842375"/>
          </a:xfrm>
          <a:custGeom>
            <a:avLst/>
            <a:gdLst>
              <a:gd name="connsiteX0" fmla="*/ 80682 w 511569"/>
              <a:gd name="connsiteY0" fmla="*/ 1721224 h 1721224"/>
              <a:gd name="connsiteX1" fmla="*/ 510988 w 511569"/>
              <a:gd name="connsiteY1" fmla="*/ 591671 h 1721224"/>
              <a:gd name="connsiteX2" fmla="*/ 0 w 511569"/>
              <a:gd name="connsiteY2" fmla="*/ 0 h 1721224"/>
            </a:gdLst>
            <a:ahLst/>
            <a:cxnLst>
              <a:cxn ang="0">
                <a:pos x="connsiteX0" y="connsiteY0"/>
              </a:cxn>
              <a:cxn ang="0">
                <a:pos x="connsiteX1" y="connsiteY1"/>
              </a:cxn>
              <a:cxn ang="0">
                <a:pos x="connsiteX2" y="connsiteY2"/>
              </a:cxn>
            </a:cxnLst>
            <a:rect l="l" t="t" r="r" b="b"/>
            <a:pathLst>
              <a:path w="511569" h="1721224">
                <a:moveTo>
                  <a:pt x="80682" y="1721224"/>
                </a:moveTo>
                <a:cubicBezTo>
                  <a:pt x="302558" y="1299883"/>
                  <a:pt x="524435" y="878542"/>
                  <a:pt x="510988" y="591671"/>
                </a:cubicBezTo>
                <a:cubicBezTo>
                  <a:pt x="497541" y="304800"/>
                  <a:pt x="248770" y="152400"/>
                  <a:pt x="0" y="0"/>
                </a:cubicBezTo>
              </a:path>
            </a:pathLst>
          </a:custGeom>
          <a:noFill/>
          <a:ln>
            <a:tailEnd type="arrow" w="lg"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p:cNvSpPr txBox="1"/>
          <p:nvPr/>
        </p:nvSpPr>
        <p:spPr>
          <a:xfrm>
            <a:off x="1149708" y="3811372"/>
            <a:ext cx="1724639" cy="369332"/>
          </a:xfrm>
          <a:prstGeom prst="rect">
            <a:avLst/>
          </a:prstGeom>
          <a:solidFill>
            <a:schemeClr val="accent6">
              <a:lumMod val="20000"/>
              <a:lumOff val="80000"/>
            </a:schemeClr>
          </a:solidFill>
          <a:effectLst>
            <a:glow rad="228600">
              <a:schemeClr val="accent6">
                <a:satMod val="175000"/>
                <a:alpha val="40000"/>
              </a:schemeClr>
            </a:glow>
          </a:effectLst>
        </p:spPr>
        <p:txBody>
          <a:bodyPr wrap="none" rtlCol="0">
            <a:spAutoFit/>
          </a:bodyPr>
          <a:lstStyle/>
          <a:p>
            <a:r>
              <a:rPr lang="en-US" dirty="0"/>
              <a:t>Running process</a:t>
            </a:r>
          </a:p>
        </p:txBody>
      </p:sp>
      <p:sp>
        <p:nvSpPr>
          <p:cNvPr id="49" name="Rounded Rectangle 48"/>
          <p:cNvSpPr/>
          <p:nvPr/>
        </p:nvSpPr>
        <p:spPr>
          <a:xfrm>
            <a:off x="6255647" y="4795287"/>
            <a:ext cx="573121" cy="114413"/>
          </a:xfrm>
          <a:prstGeom prst="round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2" name="Group 51"/>
          <p:cNvGrpSpPr/>
          <p:nvPr/>
        </p:nvGrpSpPr>
        <p:grpSpPr>
          <a:xfrm>
            <a:off x="3165666" y="1938663"/>
            <a:ext cx="1835054" cy="2735300"/>
            <a:chOff x="3165666" y="1938663"/>
            <a:chExt cx="1835054" cy="2735300"/>
          </a:xfrm>
        </p:grpSpPr>
        <p:sp>
          <p:nvSpPr>
            <p:cNvPr id="51" name="Rectangle 50"/>
            <p:cNvSpPr/>
            <p:nvPr/>
          </p:nvSpPr>
          <p:spPr>
            <a:xfrm>
              <a:off x="3862445" y="1938663"/>
              <a:ext cx="156226" cy="2735300"/>
            </a:xfrm>
            <a:prstGeom prst="rect">
              <a:avLst/>
            </a:prstGeom>
            <a:pattFill prst="dkHorz">
              <a:fgClr>
                <a:srgbClr val="FF0000"/>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p:cNvSpPr txBox="1"/>
            <p:nvPr/>
          </p:nvSpPr>
          <p:spPr>
            <a:xfrm>
              <a:off x="3165666" y="3229575"/>
              <a:ext cx="1835054" cy="707886"/>
            </a:xfrm>
            <a:prstGeom prst="rect">
              <a:avLst/>
            </a:prstGeom>
            <a:solidFill>
              <a:srgbClr val="FF0000"/>
            </a:solidFill>
            <a:effectLst>
              <a:softEdge rad="63500"/>
            </a:effectLst>
          </p:spPr>
          <p:txBody>
            <a:bodyPr wrap="none" rtlCol="0">
              <a:spAutoFit/>
            </a:bodyPr>
            <a:lstStyle/>
            <a:p>
              <a:r>
                <a:rPr lang="en-US" sz="2000" b="1" dirty="0">
                  <a:solidFill>
                    <a:schemeClr val="bg1"/>
                  </a:solidFill>
                </a:rPr>
                <a:t>HW support for</a:t>
              </a:r>
              <a:br>
                <a:rPr lang="en-US" sz="2000" b="1" dirty="0">
                  <a:solidFill>
                    <a:schemeClr val="bg1"/>
                  </a:solidFill>
                </a:rPr>
              </a:br>
              <a:r>
                <a:rPr lang="en-US" sz="2000" b="1" dirty="0">
                  <a:solidFill>
                    <a:schemeClr val="bg1"/>
                  </a:solidFill>
                </a:rPr>
                <a:t>mode change</a:t>
              </a:r>
            </a:p>
          </p:txBody>
        </p:sp>
      </p:grpSp>
    </p:spTree>
    <p:extLst>
      <p:ext uri="{BB962C8B-B14F-4D97-AF65-F5344CB8AC3E}">
        <p14:creationId xmlns:p14="http://schemas.microsoft.com/office/powerpoint/2010/main" val="1895870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1500"/>
                                  </p:stCondLst>
                                  <p:childTnLst>
                                    <p:set>
                                      <p:cBhvr>
                                        <p:cTn id="9" dur="1" fill="hold">
                                          <p:stCondLst>
                                            <p:cond delay="0"/>
                                          </p:stCondLst>
                                        </p:cTn>
                                        <p:tgtEl>
                                          <p:spTgt spid="37"/>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24"/>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2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41"/>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grpId="0" nodeType="afterEffect">
                                  <p:stCondLst>
                                    <p:cond delay="1500"/>
                                  </p:stCondLst>
                                  <p:childTnLst>
                                    <p:set>
                                      <p:cBhvr>
                                        <p:cTn id="22" dur="1" fill="hold">
                                          <p:stCondLst>
                                            <p:cond delay="0"/>
                                          </p:stCondLst>
                                        </p:cTn>
                                        <p:tgtEl>
                                          <p:spTgt spid="4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2" grpId="0"/>
      <p:bldP spid="37" grpId="0" animBg="1"/>
      <p:bldP spid="41" grpId="0" animBg="1"/>
      <p:bldP spid="45" grpId="0" animBg="1"/>
      <p:bldP spid="46" grpId="0" animBg="1"/>
      <p:bldP spid="47" grpId="0" animBg="1"/>
      <p:bldP spid="4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Context Switching</a:t>
            </a:r>
          </a:p>
        </p:txBody>
      </p:sp>
      <p:sp>
        <p:nvSpPr>
          <p:cNvPr id="17" name="Content Placeholder 16"/>
          <p:cNvSpPr>
            <a:spLocks noGrp="1"/>
          </p:cNvSpPr>
          <p:nvPr>
            <p:ph sz="half" idx="1"/>
          </p:nvPr>
        </p:nvSpPr>
        <p:spPr>
          <a:xfrm>
            <a:off x="838200" y="1825625"/>
            <a:ext cx="3368040" cy="4351338"/>
          </a:xfrm>
        </p:spPr>
        <p:txBody>
          <a:bodyPr>
            <a:normAutofit/>
          </a:bodyPr>
          <a:lstStyle/>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r>
              <a:rPr lang="en-US" sz="2000" dirty="0"/>
              <a:t>Do the </a:t>
            </a:r>
            <a:r>
              <a:rPr lang="en-US" sz="2000" dirty="0" err="1"/>
              <a:t>syscall</a:t>
            </a:r>
            <a:r>
              <a:rPr lang="en-US" sz="2000" dirty="0"/>
              <a:t>, and then do SYSRET</a:t>
            </a:r>
          </a:p>
        </p:txBody>
      </p:sp>
      <p:sp>
        <p:nvSpPr>
          <p:cNvPr id="18" name="Content Placeholder 17"/>
          <p:cNvSpPr>
            <a:spLocks noGrp="1"/>
          </p:cNvSpPr>
          <p:nvPr>
            <p:ph sz="half" idx="2"/>
          </p:nvPr>
        </p:nvSpPr>
        <p:spPr>
          <a:xfrm>
            <a:off x="8257733" y="1836518"/>
            <a:ext cx="3263705" cy="5021482"/>
          </a:xfrm>
        </p:spPr>
        <p:txBody>
          <a:bodyPr>
            <a:normAutofit/>
          </a:bodyPr>
          <a:lstStyle/>
          <a:p>
            <a:r>
              <a:rPr lang="en-US" sz="2000" dirty="0"/>
              <a:t>Process in user mode executes a </a:t>
            </a:r>
            <a:r>
              <a:rPr lang="en-US" sz="2000" dirty="0" err="1"/>
              <a:t>syscall</a:t>
            </a:r>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r>
              <a:rPr lang="en-US" sz="2000" dirty="0"/>
              <a:t>Continue executing user code</a:t>
            </a:r>
          </a:p>
        </p:txBody>
      </p:sp>
      <p:sp>
        <p:nvSpPr>
          <p:cNvPr id="19" name="TextBox 18"/>
          <p:cNvSpPr txBox="1"/>
          <p:nvPr/>
        </p:nvSpPr>
        <p:spPr>
          <a:xfrm>
            <a:off x="4600134" y="1836518"/>
            <a:ext cx="3263705" cy="4351338"/>
          </a:xfrm>
          <a:prstGeom prst="rect">
            <a:avLst/>
          </a:prstGeom>
        </p:spPr>
        <p:txBody>
          <a:bodyPr vert="horz" lIns="91440" tIns="45720" rIns="91440" bIns="45720" rtlCol="0">
            <a:normAutofit lnSpcReduction="10000"/>
          </a:bodyPr>
          <a:lstStyle>
            <a:lvl1pPr marL="228600" indent="-228600">
              <a:lnSpc>
                <a:spcPct val="90000"/>
              </a:lnSpc>
              <a:spcBef>
                <a:spcPts val="1000"/>
              </a:spcBef>
              <a:buFont typeface="Arial" panose="020B0604020202020204" pitchFamily="34" charset="0"/>
              <a:buChar char="•"/>
              <a:defRPr sz="2800"/>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buNone/>
            </a:pPr>
            <a:endParaRPr lang="en-US" sz="2000" dirty="0"/>
          </a:p>
          <a:p>
            <a:endParaRPr lang="en-US" sz="2000" dirty="0"/>
          </a:p>
          <a:p>
            <a:r>
              <a:rPr lang="en-US" sz="2000" dirty="0"/>
              <a:t>Context is stored in kernel stack, </a:t>
            </a:r>
            <a:r>
              <a:rPr lang="en-US" sz="2000" b="1" dirty="0"/>
              <a:t>set to ‘kernel’ mode, </a:t>
            </a:r>
            <a:r>
              <a:rPr lang="en-US" sz="2000" dirty="0"/>
              <a:t>jump to address in kernel </a:t>
            </a:r>
            <a:r>
              <a:rPr lang="en-US" sz="2000" dirty="0" err="1"/>
              <a:t>syscall</a:t>
            </a:r>
            <a:r>
              <a:rPr lang="en-US" sz="2000" dirty="0"/>
              <a:t> handler</a:t>
            </a:r>
          </a:p>
          <a:p>
            <a:endParaRPr lang="en-US" sz="2000" dirty="0"/>
          </a:p>
          <a:p>
            <a:endParaRPr lang="en-US" sz="2000" dirty="0"/>
          </a:p>
          <a:p>
            <a:endParaRPr lang="en-US" sz="2000" dirty="0"/>
          </a:p>
          <a:p>
            <a:endParaRPr lang="en-US" sz="2000" dirty="0"/>
          </a:p>
          <a:p>
            <a:r>
              <a:rPr lang="en-US" sz="2000" dirty="0"/>
              <a:t>Restore context,</a:t>
            </a:r>
            <a:r>
              <a:rPr lang="en-US" sz="2000" b="1" dirty="0"/>
              <a:t> set mode to ‘user</a:t>
            </a:r>
            <a:r>
              <a:rPr lang="en-US" sz="2000" dirty="0"/>
              <a:t>’,  jump to the user code</a:t>
            </a:r>
          </a:p>
        </p:txBody>
      </p:sp>
      <p:sp>
        <p:nvSpPr>
          <p:cNvPr id="3" name="TextBox 2"/>
          <p:cNvSpPr txBox="1"/>
          <p:nvPr/>
        </p:nvSpPr>
        <p:spPr>
          <a:xfrm>
            <a:off x="838200" y="1352600"/>
            <a:ext cx="10282558" cy="400110"/>
          </a:xfrm>
          <a:prstGeom prst="rect">
            <a:avLst/>
          </a:prstGeom>
          <a:noFill/>
        </p:spPr>
        <p:txBody>
          <a:bodyPr wrap="none" rtlCol="0">
            <a:spAutoFit/>
          </a:bodyPr>
          <a:lstStyle/>
          <a:p>
            <a:r>
              <a:rPr lang="en-US" sz="2000" dirty="0"/>
              <a:t>Kernel code                                             Hardware support                                     User code(user mode)</a:t>
            </a:r>
          </a:p>
        </p:txBody>
      </p:sp>
      <p:cxnSp>
        <p:nvCxnSpPr>
          <p:cNvPr id="5" name="Straight Connector 4"/>
          <p:cNvCxnSpPr/>
          <p:nvPr/>
        </p:nvCxnSpPr>
        <p:spPr>
          <a:xfrm flipV="1">
            <a:off x="618978" y="1836518"/>
            <a:ext cx="10396025"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11353800" y="1836518"/>
            <a:ext cx="0" cy="4351338"/>
          </a:xfrm>
          <a:prstGeom prst="straightConnector1">
            <a:avLst/>
          </a:prstGeom>
          <a:ln w="38100">
            <a:tailEnd type="stealth"/>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8257732" y="581891"/>
            <a:ext cx="3371500" cy="369332"/>
          </a:xfrm>
          <a:prstGeom prst="rect">
            <a:avLst/>
          </a:prstGeom>
          <a:noFill/>
        </p:spPr>
        <p:txBody>
          <a:bodyPr wrap="none" rtlCol="0">
            <a:spAutoFit/>
          </a:bodyPr>
          <a:lstStyle/>
          <a:p>
            <a:r>
              <a:rPr lang="en-US" dirty="0"/>
              <a:t>Ref: </a:t>
            </a:r>
            <a:r>
              <a:rPr lang="en-US" dirty="0">
                <a:hlinkClick r:id="rId2"/>
              </a:rPr>
              <a:t>www.ostep.org</a:t>
            </a:r>
            <a:r>
              <a:rPr lang="en-US" dirty="0"/>
              <a:t> (</a:t>
            </a:r>
            <a:r>
              <a:rPr lang="en-US" dirty="0" err="1"/>
              <a:t>Ch</a:t>
            </a:r>
            <a:r>
              <a:rPr lang="en-US" dirty="0"/>
              <a:t> 6 Fig 6.2)</a:t>
            </a:r>
          </a:p>
        </p:txBody>
      </p:sp>
    </p:spTree>
    <p:extLst>
      <p:ext uri="{BB962C8B-B14F-4D97-AF65-F5344CB8AC3E}">
        <p14:creationId xmlns:p14="http://schemas.microsoft.com/office/powerpoint/2010/main" val="3014685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Context Switching</a:t>
            </a:r>
          </a:p>
        </p:txBody>
      </p:sp>
      <p:sp>
        <p:nvSpPr>
          <p:cNvPr id="17" name="Content Placeholder 16"/>
          <p:cNvSpPr>
            <a:spLocks noGrp="1"/>
          </p:cNvSpPr>
          <p:nvPr>
            <p:ph sz="half" idx="1"/>
          </p:nvPr>
        </p:nvSpPr>
        <p:spPr>
          <a:xfrm>
            <a:off x="838200" y="1825625"/>
            <a:ext cx="3368040" cy="4351338"/>
          </a:xfrm>
        </p:spPr>
        <p:txBody>
          <a:bodyPr>
            <a:normAutofit/>
          </a:bodyPr>
          <a:lstStyle/>
          <a:p>
            <a:endParaRPr lang="en-US" sz="2000" dirty="0"/>
          </a:p>
          <a:p>
            <a:endParaRPr lang="en-US" sz="2000" dirty="0"/>
          </a:p>
          <a:p>
            <a:endParaRPr lang="en-US" sz="2000" dirty="0"/>
          </a:p>
          <a:p>
            <a:endParaRPr lang="en-US" sz="2000" dirty="0"/>
          </a:p>
          <a:p>
            <a:endParaRPr lang="en-US" sz="2000" dirty="0"/>
          </a:p>
          <a:p>
            <a:endParaRPr lang="en-US" sz="2000" dirty="0"/>
          </a:p>
          <a:p>
            <a:r>
              <a:rPr lang="en-US" sz="2000" dirty="0"/>
              <a:t>Do the elaborate context and find the right process to switch() to… say B</a:t>
            </a:r>
          </a:p>
        </p:txBody>
      </p:sp>
      <p:sp>
        <p:nvSpPr>
          <p:cNvPr id="18" name="Content Placeholder 17"/>
          <p:cNvSpPr>
            <a:spLocks noGrp="1"/>
          </p:cNvSpPr>
          <p:nvPr>
            <p:ph sz="half" idx="2"/>
          </p:nvPr>
        </p:nvSpPr>
        <p:spPr>
          <a:xfrm>
            <a:off x="8257733" y="1836518"/>
            <a:ext cx="3263705" cy="5021482"/>
          </a:xfrm>
        </p:spPr>
        <p:txBody>
          <a:bodyPr>
            <a:normAutofit/>
          </a:bodyPr>
          <a:lstStyle/>
          <a:p>
            <a:r>
              <a:rPr lang="en-US" sz="2000" dirty="0"/>
              <a:t>Process A in user mode doing some computation</a:t>
            </a:r>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r>
              <a:rPr lang="en-US" sz="2000" dirty="0"/>
              <a:t>Process B continues from it left off</a:t>
            </a:r>
          </a:p>
        </p:txBody>
      </p:sp>
      <p:sp>
        <p:nvSpPr>
          <p:cNvPr id="19" name="TextBox 18"/>
          <p:cNvSpPr txBox="1"/>
          <p:nvPr/>
        </p:nvSpPr>
        <p:spPr>
          <a:xfrm>
            <a:off x="4600134" y="1836518"/>
            <a:ext cx="3263705" cy="4351338"/>
          </a:xfrm>
          <a:prstGeom prst="rect">
            <a:avLst/>
          </a:prstGeom>
        </p:spPr>
        <p:txBody>
          <a:bodyPr vert="horz" lIns="91440" tIns="45720" rIns="91440" bIns="45720" rtlCol="0">
            <a:normAutofit lnSpcReduction="10000"/>
          </a:bodyPr>
          <a:lstStyle>
            <a:lvl1pPr marL="228600" indent="-228600">
              <a:lnSpc>
                <a:spcPct val="90000"/>
              </a:lnSpc>
              <a:spcBef>
                <a:spcPts val="1000"/>
              </a:spcBef>
              <a:buFont typeface="Arial" panose="020B0604020202020204" pitchFamily="34" charset="0"/>
              <a:buChar char="•"/>
              <a:defRPr sz="2800"/>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buNone/>
            </a:pPr>
            <a:endParaRPr lang="en-US" sz="2000" dirty="0"/>
          </a:p>
          <a:p>
            <a:endParaRPr lang="en-US" sz="2000" dirty="0"/>
          </a:p>
          <a:p>
            <a:r>
              <a:rPr lang="en-US" sz="2000" dirty="0"/>
              <a:t>Timer interrupt – Kernel mode - Save A’s context (</a:t>
            </a:r>
            <a:r>
              <a:rPr lang="en-US" sz="2000" dirty="0" err="1"/>
              <a:t>PC,regs</a:t>
            </a:r>
            <a:r>
              <a:rPr lang="en-US" sz="2000" dirty="0"/>
              <a:t>,…), execute kernel handler</a:t>
            </a:r>
          </a:p>
          <a:p>
            <a:endParaRPr lang="en-US" sz="2000" dirty="0"/>
          </a:p>
          <a:p>
            <a:endParaRPr lang="en-US" sz="2000" dirty="0"/>
          </a:p>
          <a:p>
            <a:endParaRPr lang="en-US" sz="2000" dirty="0"/>
          </a:p>
          <a:p>
            <a:endParaRPr lang="en-US" sz="2000" dirty="0"/>
          </a:p>
          <a:p>
            <a:r>
              <a:rPr lang="en-US" sz="2000" dirty="0"/>
              <a:t>Restore B’s context – go to user mode - jump to the user code</a:t>
            </a:r>
          </a:p>
        </p:txBody>
      </p:sp>
      <p:sp>
        <p:nvSpPr>
          <p:cNvPr id="3" name="TextBox 2"/>
          <p:cNvSpPr txBox="1"/>
          <p:nvPr/>
        </p:nvSpPr>
        <p:spPr>
          <a:xfrm>
            <a:off x="838200" y="1352600"/>
            <a:ext cx="10343473" cy="400110"/>
          </a:xfrm>
          <a:prstGeom prst="rect">
            <a:avLst/>
          </a:prstGeom>
          <a:noFill/>
        </p:spPr>
        <p:txBody>
          <a:bodyPr wrap="none" rtlCol="0">
            <a:spAutoFit/>
          </a:bodyPr>
          <a:lstStyle/>
          <a:p>
            <a:r>
              <a:rPr lang="en-US" sz="2000" dirty="0"/>
              <a:t>Kernel code - scheduling                     Hardware support                                     User code (user mode)</a:t>
            </a:r>
          </a:p>
        </p:txBody>
      </p:sp>
      <p:cxnSp>
        <p:nvCxnSpPr>
          <p:cNvPr id="5" name="Straight Connector 4"/>
          <p:cNvCxnSpPr/>
          <p:nvPr/>
        </p:nvCxnSpPr>
        <p:spPr>
          <a:xfrm flipV="1">
            <a:off x="618978" y="1836518"/>
            <a:ext cx="10396025"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11353800" y="1836518"/>
            <a:ext cx="0" cy="4351338"/>
          </a:xfrm>
          <a:prstGeom prst="straightConnector1">
            <a:avLst/>
          </a:prstGeom>
          <a:ln w="38100">
            <a:tailEnd type="stealth"/>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3882260" y="4007804"/>
            <a:ext cx="550237" cy="511293"/>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2060"/>
                </a:solidFill>
              </a:rPr>
              <a:t>CTX</a:t>
            </a:r>
          </a:p>
        </p:txBody>
      </p:sp>
      <p:sp>
        <p:nvSpPr>
          <p:cNvPr id="4" name="TextBox 3"/>
          <p:cNvSpPr txBox="1"/>
          <p:nvPr/>
        </p:nvSpPr>
        <p:spPr>
          <a:xfrm>
            <a:off x="8257732" y="581891"/>
            <a:ext cx="3305713" cy="369332"/>
          </a:xfrm>
          <a:prstGeom prst="rect">
            <a:avLst/>
          </a:prstGeom>
          <a:noFill/>
        </p:spPr>
        <p:txBody>
          <a:bodyPr wrap="none" rtlCol="0">
            <a:spAutoFit/>
          </a:bodyPr>
          <a:lstStyle/>
          <a:p>
            <a:r>
              <a:rPr lang="en-US" dirty="0"/>
              <a:t>Ref: </a:t>
            </a:r>
            <a:r>
              <a:rPr lang="en-US" dirty="0">
                <a:hlinkClick r:id="rId2"/>
              </a:rPr>
              <a:t>www.ostep.org</a:t>
            </a:r>
            <a:r>
              <a:rPr lang="en-US" dirty="0"/>
              <a:t> (</a:t>
            </a:r>
            <a:r>
              <a:rPr lang="en-US" dirty="0" err="1"/>
              <a:t>Ch</a:t>
            </a:r>
            <a:r>
              <a:rPr lang="en-US" dirty="0"/>
              <a:t> 6 Fig 6.3)</a:t>
            </a:r>
          </a:p>
        </p:txBody>
      </p:sp>
    </p:spTree>
    <p:extLst>
      <p:ext uri="{BB962C8B-B14F-4D97-AF65-F5344CB8AC3E}">
        <p14:creationId xmlns:p14="http://schemas.microsoft.com/office/powerpoint/2010/main" val="1926979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INT or older alternate to </a:t>
            </a:r>
            <a:r>
              <a:rPr lang="en-US"/>
              <a:t>syscall</a:t>
            </a:r>
            <a:endParaRPr lang="en-US" dirty="0"/>
          </a:p>
        </p:txBody>
      </p:sp>
      <p:sp>
        <p:nvSpPr>
          <p:cNvPr id="5" name="TextBox 4"/>
          <p:cNvSpPr txBox="1"/>
          <p:nvPr/>
        </p:nvSpPr>
        <p:spPr>
          <a:xfrm>
            <a:off x="622506" y="2695264"/>
            <a:ext cx="2060500" cy="1569660"/>
          </a:xfrm>
          <a:prstGeom prst="rect">
            <a:avLst/>
          </a:prstGeom>
          <a:noFill/>
        </p:spPr>
        <p:txBody>
          <a:bodyPr wrap="none" rtlCol="0">
            <a:spAutoFit/>
          </a:bodyPr>
          <a:lstStyle/>
          <a:p>
            <a:r>
              <a:rPr lang="en-US" sz="2400" dirty="0"/>
              <a:t>..</a:t>
            </a:r>
          </a:p>
          <a:p>
            <a:r>
              <a:rPr lang="en-US" sz="2400" dirty="0"/>
              <a:t>..</a:t>
            </a:r>
          </a:p>
          <a:p>
            <a:r>
              <a:rPr lang="en-US" sz="2400" dirty="0" err="1"/>
              <a:t>mov</a:t>
            </a:r>
            <a:r>
              <a:rPr lang="en-US" sz="2400" dirty="0"/>
              <a:t>	</a:t>
            </a:r>
            <a:r>
              <a:rPr lang="en-US" sz="2400" b="1" dirty="0">
                <a:solidFill>
                  <a:srgbClr val="00B0F0"/>
                </a:solidFill>
              </a:rPr>
              <a:t>2</a:t>
            </a:r>
            <a:r>
              <a:rPr lang="en-US" sz="2400" dirty="0"/>
              <a:t>, %</a:t>
            </a:r>
            <a:r>
              <a:rPr lang="en-US" sz="2400" dirty="0" err="1"/>
              <a:t>eax</a:t>
            </a:r>
            <a:endParaRPr lang="en-US" sz="2400" dirty="0"/>
          </a:p>
          <a:p>
            <a:r>
              <a:rPr lang="en-US" sz="2400" dirty="0"/>
              <a:t>INT            </a:t>
            </a:r>
            <a:r>
              <a:rPr lang="en-US" sz="2400" b="1" dirty="0">
                <a:solidFill>
                  <a:schemeClr val="accent6"/>
                </a:solidFill>
              </a:rPr>
              <a:t>0x80</a:t>
            </a:r>
          </a:p>
        </p:txBody>
      </p:sp>
      <p:cxnSp>
        <p:nvCxnSpPr>
          <p:cNvPr id="19" name="Elbow Connector 18"/>
          <p:cNvCxnSpPr/>
          <p:nvPr/>
        </p:nvCxnSpPr>
        <p:spPr>
          <a:xfrm>
            <a:off x="2307102" y="4038148"/>
            <a:ext cx="1785382" cy="74486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27" name="Group 26"/>
          <p:cNvGrpSpPr/>
          <p:nvPr/>
        </p:nvGrpSpPr>
        <p:grpSpPr>
          <a:xfrm>
            <a:off x="4092484" y="1870364"/>
            <a:ext cx="1961952" cy="4228046"/>
            <a:chOff x="4092484" y="1870364"/>
            <a:chExt cx="1961952" cy="4228046"/>
          </a:xfrm>
        </p:grpSpPr>
        <p:sp>
          <p:nvSpPr>
            <p:cNvPr id="6" name="TextBox 5"/>
            <p:cNvSpPr txBox="1"/>
            <p:nvPr/>
          </p:nvSpPr>
          <p:spPr>
            <a:xfrm>
              <a:off x="4558146" y="1870364"/>
              <a:ext cx="1454728" cy="646331"/>
            </a:xfrm>
            <a:prstGeom prst="rect">
              <a:avLst/>
            </a:prstGeom>
            <a:noFill/>
          </p:spPr>
          <p:txBody>
            <a:bodyPr wrap="square" rtlCol="0">
              <a:spAutoFit/>
            </a:bodyPr>
            <a:lstStyle/>
            <a:p>
              <a:r>
                <a:rPr lang="en-US" dirty="0"/>
                <a:t>Hardware IDT</a:t>
              </a:r>
            </a:p>
            <a:p>
              <a:endParaRPr lang="en-US" dirty="0"/>
            </a:p>
          </p:txBody>
        </p:sp>
        <p:sp>
          <p:nvSpPr>
            <p:cNvPr id="8" name="Rectangle 7"/>
            <p:cNvSpPr/>
            <p:nvPr/>
          </p:nvSpPr>
          <p:spPr>
            <a:xfrm>
              <a:off x="4558145" y="2660073"/>
              <a:ext cx="1496291" cy="3435927"/>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p:cNvSpPr txBox="1"/>
            <p:nvPr/>
          </p:nvSpPr>
          <p:spPr>
            <a:xfrm>
              <a:off x="4092484" y="2682090"/>
              <a:ext cx="535788" cy="3416320"/>
            </a:xfrm>
            <a:prstGeom prst="rect">
              <a:avLst/>
            </a:prstGeom>
            <a:noFill/>
          </p:spPr>
          <p:txBody>
            <a:bodyPr wrap="none" rtlCol="0">
              <a:spAutoFit/>
            </a:bodyPr>
            <a:lstStyle/>
            <a:p>
              <a:pPr algn="r"/>
              <a:r>
                <a:rPr lang="en-US" dirty="0"/>
                <a:t>0</a:t>
              </a:r>
            </a:p>
            <a:p>
              <a:pPr algn="r"/>
              <a:r>
                <a:rPr lang="en-US" dirty="0"/>
                <a:t>1</a:t>
              </a:r>
            </a:p>
            <a:p>
              <a:pPr algn="r"/>
              <a:r>
                <a:rPr lang="en-US" dirty="0"/>
                <a:t>2</a:t>
              </a:r>
            </a:p>
            <a:p>
              <a:pPr algn="r"/>
              <a:r>
                <a:rPr lang="en-US" dirty="0"/>
                <a:t>3</a:t>
              </a:r>
            </a:p>
            <a:p>
              <a:pPr algn="r"/>
              <a:r>
                <a:rPr lang="en-US" dirty="0"/>
                <a:t>.</a:t>
              </a:r>
            </a:p>
            <a:p>
              <a:pPr algn="r"/>
              <a:r>
                <a:rPr lang="en-US" dirty="0"/>
                <a:t>.</a:t>
              </a:r>
            </a:p>
            <a:p>
              <a:pPr algn="r"/>
              <a:endParaRPr lang="en-US" dirty="0"/>
            </a:p>
            <a:p>
              <a:pPr algn="r"/>
              <a:r>
                <a:rPr lang="en-US" dirty="0"/>
                <a:t>128</a:t>
              </a:r>
            </a:p>
            <a:p>
              <a:pPr algn="r"/>
              <a:endParaRPr lang="en-US" dirty="0"/>
            </a:p>
            <a:p>
              <a:pPr algn="r"/>
              <a:endParaRPr lang="en-US" dirty="0"/>
            </a:p>
            <a:p>
              <a:pPr algn="r"/>
              <a:endParaRPr lang="en-US" dirty="0"/>
            </a:p>
            <a:p>
              <a:pPr algn="r"/>
              <a:r>
                <a:rPr lang="en-US" dirty="0"/>
                <a:t>255</a:t>
              </a:r>
            </a:p>
          </p:txBody>
        </p:sp>
        <p:cxnSp>
          <p:nvCxnSpPr>
            <p:cNvPr id="11" name="Straight Connector 10"/>
            <p:cNvCxnSpPr/>
            <p:nvPr/>
          </p:nvCxnSpPr>
          <p:spPr>
            <a:xfrm>
              <a:off x="4558145" y="2922040"/>
              <a:ext cx="1496291" cy="23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558145" y="3201067"/>
              <a:ext cx="1496291" cy="23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4558145" y="3480094"/>
              <a:ext cx="1496291" cy="23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4558145" y="3759121"/>
              <a:ext cx="1496291" cy="23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4558145" y="4038148"/>
              <a:ext cx="1496291" cy="23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4537364" y="4317175"/>
              <a:ext cx="1496291" cy="23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6" name="Group 25"/>
          <p:cNvGrpSpPr/>
          <p:nvPr/>
        </p:nvGrpSpPr>
        <p:grpSpPr>
          <a:xfrm>
            <a:off x="5669047" y="4598349"/>
            <a:ext cx="3365175" cy="369332"/>
            <a:chOff x="5522743" y="4598349"/>
            <a:chExt cx="3365175" cy="369332"/>
          </a:xfrm>
        </p:grpSpPr>
        <p:sp>
          <p:nvSpPr>
            <p:cNvPr id="21" name="TextBox 20"/>
            <p:cNvSpPr txBox="1"/>
            <p:nvPr/>
          </p:nvSpPr>
          <p:spPr>
            <a:xfrm>
              <a:off x="6096000" y="4598349"/>
              <a:ext cx="2791918" cy="369332"/>
            </a:xfrm>
            <a:prstGeom prst="rect">
              <a:avLst/>
            </a:prstGeom>
            <a:noFill/>
          </p:spPr>
          <p:txBody>
            <a:bodyPr wrap="none" rtlCol="0">
              <a:spAutoFit/>
            </a:bodyPr>
            <a:lstStyle/>
            <a:p>
              <a:r>
                <a:rPr lang="en-US" dirty="0"/>
                <a:t>IDT entry for all system calls</a:t>
              </a:r>
            </a:p>
          </p:txBody>
        </p:sp>
        <p:cxnSp>
          <p:nvCxnSpPr>
            <p:cNvPr id="23" name="Straight Arrow Connector 22"/>
            <p:cNvCxnSpPr>
              <a:stCxn id="21" idx="1"/>
            </p:cNvCxnSpPr>
            <p:nvPr/>
          </p:nvCxnSpPr>
          <p:spPr>
            <a:xfrm flipH="1">
              <a:off x="5522743" y="4783015"/>
              <a:ext cx="57325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24" name="Oval 23"/>
          <p:cNvSpPr/>
          <p:nvPr/>
        </p:nvSpPr>
        <p:spPr>
          <a:xfrm>
            <a:off x="1505243" y="3186999"/>
            <a:ext cx="1191831" cy="723819"/>
          </a:xfrm>
          <a:prstGeom prst="ellipse">
            <a:avLst/>
          </a:prstGeom>
          <a:noFill/>
          <a:ln w="41275" cmpd="sng">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8" name="Group 27"/>
          <p:cNvGrpSpPr/>
          <p:nvPr/>
        </p:nvGrpSpPr>
        <p:grpSpPr>
          <a:xfrm>
            <a:off x="9222090" y="1870364"/>
            <a:ext cx="1961952" cy="4228046"/>
            <a:chOff x="4092484" y="1870364"/>
            <a:chExt cx="1961952" cy="4228046"/>
          </a:xfrm>
        </p:grpSpPr>
        <p:sp>
          <p:nvSpPr>
            <p:cNvPr id="29" name="TextBox 28"/>
            <p:cNvSpPr txBox="1"/>
            <p:nvPr/>
          </p:nvSpPr>
          <p:spPr>
            <a:xfrm>
              <a:off x="4558146" y="1870364"/>
              <a:ext cx="1454728" cy="923330"/>
            </a:xfrm>
            <a:prstGeom prst="rect">
              <a:avLst/>
            </a:prstGeom>
            <a:noFill/>
          </p:spPr>
          <p:txBody>
            <a:bodyPr wrap="square" rtlCol="0">
              <a:spAutoFit/>
            </a:bodyPr>
            <a:lstStyle/>
            <a:p>
              <a:r>
                <a:rPr lang="en-US" dirty="0"/>
                <a:t>System call table</a:t>
              </a:r>
            </a:p>
            <a:p>
              <a:endParaRPr lang="en-US" dirty="0"/>
            </a:p>
          </p:txBody>
        </p:sp>
        <p:sp>
          <p:nvSpPr>
            <p:cNvPr id="30" name="Rectangle 29"/>
            <p:cNvSpPr/>
            <p:nvPr/>
          </p:nvSpPr>
          <p:spPr>
            <a:xfrm>
              <a:off x="4558145" y="2660073"/>
              <a:ext cx="1496291" cy="3435927"/>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TextBox 30"/>
            <p:cNvSpPr txBox="1"/>
            <p:nvPr/>
          </p:nvSpPr>
          <p:spPr>
            <a:xfrm>
              <a:off x="4092484" y="2682090"/>
              <a:ext cx="535788" cy="3416320"/>
            </a:xfrm>
            <a:prstGeom prst="rect">
              <a:avLst/>
            </a:prstGeom>
            <a:noFill/>
          </p:spPr>
          <p:txBody>
            <a:bodyPr wrap="none" rtlCol="0">
              <a:spAutoFit/>
            </a:bodyPr>
            <a:lstStyle/>
            <a:p>
              <a:pPr algn="r"/>
              <a:r>
                <a:rPr lang="en-US" dirty="0"/>
                <a:t>0</a:t>
              </a:r>
            </a:p>
            <a:p>
              <a:pPr algn="r"/>
              <a:r>
                <a:rPr lang="en-US" dirty="0"/>
                <a:t>1</a:t>
              </a:r>
            </a:p>
            <a:p>
              <a:pPr algn="r"/>
              <a:r>
                <a:rPr lang="en-US" dirty="0"/>
                <a:t>2</a:t>
              </a:r>
            </a:p>
            <a:p>
              <a:pPr algn="r"/>
              <a:endParaRPr lang="en-US" dirty="0"/>
            </a:p>
            <a:p>
              <a:pPr algn="r"/>
              <a:r>
                <a:rPr lang="en-US" dirty="0"/>
                <a:t>.</a:t>
              </a:r>
            </a:p>
            <a:p>
              <a:pPr algn="r"/>
              <a:r>
                <a:rPr lang="en-US" dirty="0"/>
                <a:t>.</a:t>
              </a:r>
            </a:p>
            <a:p>
              <a:pPr algn="r"/>
              <a:r>
                <a:rPr lang="en-US" dirty="0"/>
                <a:t>.</a:t>
              </a:r>
            </a:p>
            <a:p>
              <a:pPr algn="r"/>
              <a:r>
                <a:rPr lang="en-US" dirty="0"/>
                <a:t>.</a:t>
              </a:r>
            </a:p>
            <a:p>
              <a:pPr algn="r"/>
              <a:endParaRPr lang="en-US" dirty="0"/>
            </a:p>
            <a:p>
              <a:pPr algn="r"/>
              <a:endParaRPr lang="en-US" dirty="0"/>
            </a:p>
            <a:p>
              <a:pPr algn="r"/>
              <a:endParaRPr lang="en-US" dirty="0"/>
            </a:p>
            <a:p>
              <a:pPr algn="r"/>
              <a:r>
                <a:rPr lang="en-US" dirty="0"/>
                <a:t>350</a:t>
              </a:r>
            </a:p>
          </p:txBody>
        </p:sp>
        <p:cxnSp>
          <p:nvCxnSpPr>
            <p:cNvPr id="32" name="Straight Connector 31"/>
            <p:cNvCxnSpPr/>
            <p:nvPr/>
          </p:nvCxnSpPr>
          <p:spPr>
            <a:xfrm>
              <a:off x="4558145" y="2922040"/>
              <a:ext cx="1496291" cy="23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4558145" y="3201067"/>
              <a:ext cx="1496291" cy="23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4558145" y="3480094"/>
              <a:ext cx="1496291" cy="23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4558145" y="3759121"/>
              <a:ext cx="1496291" cy="23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4558145" y="4038148"/>
              <a:ext cx="1496291" cy="23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4537364" y="4317175"/>
              <a:ext cx="1496291" cy="23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8" name="TextBox 37"/>
          <p:cNvSpPr txBox="1"/>
          <p:nvPr/>
        </p:nvSpPr>
        <p:spPr>
          <a:xfrm>
            <a:off x="9682232" y="3193517"/>
            <a:ext cx="2076951" cy="369332"/>
          </a:xfrm>
          <a:prstGeom prst="rect">
            <a:avLst/>
          </a:prstGeom>
          <a:solidFill>
            <a:schemeClr val="accent1">
              <a:lumMod val="60000"/>
              <a:lumOff val="40000"/>
            </a:schemeClr>
          </a:solidFill>
        </p:spPr>
        <p:txBody>
          <a:bodyPr wrap="square" rtlCol="0">
            <a:spAutoFit/>
          </a:bodyPr>
          <a:lstStyle/>
          <a:p>
            <a:r>
              <a:rPr lang="en-US" dirty="0" err="1"/>
              <a:t>ptr</a:t>
            </a:r>
            <a:r>
              <a:rPr lang="en-US" dirty="0"/>
              <a:t> to handler </a:t>
            </a:r>
            <a:r>
              <a:rPr lang="en-US" dirty="0" err="1"/>
              <a:t>func</a:t>
            </a:r>
            <a:r>
              <a:rPr lang="en-US" dirty="0"/>
              <a:t> </a:t>
            </a:r>
          </a:p>
        </p:txBody>
      </p:sp>
      <p:sp>
        <p:nvSpPr>
          <p:cNvPr id="39" name="TextBox 38"/>
          <p:cNvSpPr txBox="1"/>
          <p:nvPr/>
        </p:nvSpPr>
        <p:spPr>
          <a:xfrm>
            <a:off x="4568437" y="4586333"/>
            <a:ext cx="1481028" cy="369332"/>
          </a:xfrm>
          <a:prstGeom prst="rect">
            <a:avLst/>
          </a:prstGeom>
          <a:solidFill>
            <a:schemeClr val="accent6">
              <a:lumMod val="40000"/>
              <a:lumOff val="60000"/>
            </a:schemeClr>
          </a:solidFill>
        </p:spPr>
        <p:txBody>
          <a:bodyPr wrap="square" rtlCol="0">
            <a:spAutoFit/>
          </a:bodyPr>
          <a:lstStyle/>
          <a:p>
            <a:r>
              <a:rPr lang="en-US" dirty="0"/>
              <a:t>Linux sys calls</a:t>
            </a:r>
          </a:p>
        </p:txBody>
      </p:sp>
      <p:sp>
        <p:nvSpPr>
          <p:cNvPr id="40" name="Left Brace 39"/>
          <p:cNvSpPr/>
          <p:nvPr/>
        </p:nvSpPr>
        <p:spPr>
          <a:xfrm>
            <a:off x="8961070" y="2660073"/>
            <a:ext cx="576904" cy="3457944"/>
          </a:xfrm>
          <a:prstGeom prst="leftBrace">
            <a:avLst>
              <a:gd name="adj1" fmla="val 74039"/>
              <a:gd name="adj2" fmla="val 61059"/>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205894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38" grpId="0" animBg="1"/>
      <p:bldP spid="39" grpId="0" animBg="1"/>
      <p:bldP spid="40" grpId="0" animBg="1"/>
    </p:bld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err="1"/>
              <a:t>Syscall</a:t>
            </a:r>
            <a:r>
              <a:rPr lang="en-US" dirty="0"/>
              <a:t> table in Linux</a:t>
            </a:r>
          </a:p>
        </p:txBody>
      </p:sp>
      <p:graphicFrame>
        <p:nvGraphicFramePr>
          <p:cNvPr id="6" name="Table 5"/>
          <p:cNvGraphicFramePr>
            <a:graphicFrameLocks noGrp="1"/>
          </p:cNvGraphicFramePr>
          <p:nvPr>
            <p:extLst>
              <p:ext uri="{D42A27DB-BD31-4B8C-83A1-F6EECF244321}">
                <p14:modId xmlns:p14="http://schemas.microsoft.com/office/powerpoint/2010/main" val="1907005966"/>
              </p:ext>
            </p:extLst>
          </p:nvPr>
        </p:nvGraphicFramePr>
        <p:xfrm>
          <a:off x="1830832" y="2525823"/>
          <a:ext cx="5246624" cy="3183605"/>
        </p:xfrm>
        <a:graphic>
          <a:graphicData uri="http://schemas.openxmlformats.org/drawingml/2006/table">
            <a:tbl>
              <a:tblPr firstRow="1" bandRow="1">
                <a:tableStyleId>{5C22544A-7EE6-4342-B048-85BDC9FD1C3A}</a:tableStyleId>
              </a:tblPr>
              <a:tblGrid>
                <a:gridCol w="1643888">
                  <a:extLst>
                    <a:ext uri="{9D8B030D-6E8A-4147-A177-3AD203B41FA5}">
                      <a16:colId xmlns:a16="http://schemas.microsoft.com/office/drawing/2014/main" val="215481286"/>
                    </a:ext>
                  </a:extLst>
                </a:gridCol>
                <a:gridCol w="3602736">
                  <a:extLst>
                    <a:ext uri="{9D8B030D-6E8A-4147-A177-3AD203B41FA5}">
                      <a16:colId xmlns:a16="http://schemas.microsoft.com/office/drawing/2014/main" val="535910694"/>
                    </a:ext>
                  </a:extLst>
                </a:gridCol>
              </a:tblGrid>
              <a:tr h="976305">
                <a:tc>
                  <a:txBody>
                    <a:bodyPr/>
                    <a:lstStyle/>
                    <a:p>
                      <a:r>
                        <a:rPr lang="en-US" sz="2400" dirty="0"/>
                        <a:t>INT</a:t>
                      </a:r>
                      <a:r>
                        <a:rPr lang="en-US" sz="2400" baseline="0" dirty="0"/>
                        <a:t> code</a:t>
                      </a:r>
                      <a:endParaRPr lang="en-US" sz="2400" dirty="0"/>
                    </a:p>
                  </a:txBody>
                  <a:tcPr/>
                </a:tc>
                <a:tc>
                  <a:txBody>
                    <a:bodyPr/>
                    <a:lstStyle/>
                    <a:p>
                      <a:r>
                        <a:rPr lang="en-US" sz="2400" dirty="0"/>
                        <a:t> Handler address for</a:t>
                      </a:r>
                      <a:r>
                        <a:rPr lang="en-US" sz="2400" baseline="0" dirty="0"/>
                        <a:t> (kernel)</a:t>
                      </a:r>
                      <a:endParaRPr lang="en-US" sz="2400" dirty="0"/>
                    </a:p>
                  </a:txBody>
                  <a:tcPr/>
                </a:tc>
                <a:extLst>
                  <a:ext uri="{0D108BD9-81ED-4DB2-BD59-A6C34878D82A}">
                    <a16:rowId xmlns:a16="http://schemas.microsoft.com/office/drawing/2014/main" val="127240977"/>
                  </a:ext>
                </a:extLst>
              </a:tr>
              <a:tr h="551825">
                <a:tc>
                  <a:txBody>
                    <a:bodyPr/>
                    <a:lstStyle/>
                    <a:p>
                      <a:r>
                        <a:rPr lang="en-US" sz="2400" dirty="0"/>
                        <a:t>0</a:t>
                      </a:r>
                    </a:p>
                  </a:txBody>
                  <a:tcPr/>
                </a:tc>
                <a:tc>
                  <a:txBody>
                    <a:bodyPr/>
                    <a:lstStyle/>
                    <a:p>
                      <a:r>
                        <a:rPr lang="en-US" sz="2400" dirty="0"/>
                        <a:t>read()</a:t>
                      </a:r>
                    </a:p>
                  </a:txBody>
                  <a:tcPr/>
                </a:tc>
                <a:extLst>
                  <a:ext uri="{0D108BD9-81ED-4DB2-BD59-A6C34878D82A}">
                    <a16:rowId xmlns:a16="http://schemas.microsoft.com/office/drawing/2014/main" val="2730896992"/>
                  </a:ext>
                </a:extLst>
              </a:tr>
              <a:tr h="551825">
                <a:tc>
                  <a:txBody>
                    <a:bodyPr/>
                    <a:lstStyle/>
                    <a:p>
                      <a:r>
                        <a:rPr lang="en-US" sz="2400" dirty="0"/>
                        <a:t>1</a:t>
                      </a:r>
                    </a:p>
                  </a:txBody>
                  <a:tcPr/>
                </a:tc>
                <a:tc>
                  <a:txBody>
                    <a:bodyPr/>
                    <a:lstStyle/>
                    <a:p>
                      <a:r>
                        <a:rPr lang="en-US" sz="2400" dirty="0"/>
                        <a:t>write()</a:t>
                      </a:r>
                    </a:p>
                  </a:txBody>
                  <a:tcPr/>
                </a:tc>
                <a:extLst>
                  <a:ext uri="{0D108BD9-81ED-4DB2-BD59-A6C34878D82A}">
                    <a16:rowId xmlns:a16="http://schemas.microsoft.com/office/drawing/2014/main" val="654874537"/>
                  </a:ext>
                </a:extLst>
              </a:tr>
              <a:tr h="551825">
                <a:tc>
                  <a:txBody>
                    <a:bodyPr/>
                    <a:lstStyle/>
                    <a:p>
                      <a:r>
                        <a:rPr lang="en-US" sz="2400" dirty="0"/>
                        <a:t>2</a:t>
                      </a:r>
                    </a:p>
                  </a:txBody>
                  <a:tcPr/>
                </a:tc>
                <a:tc>
                  <a:txBody>
                    <a:bodyPr/>
                    <a:lstStyle/>
                    <a:p>
                      <a:r>
                        <a:rPr lang="en-US" sz="2400" dirty="0"/>
                        <a:t>open()</a:t>
                      </a:r>
                    </a:p>
                  </a:txBody>
                  <a:tcPr/>
                </a:tc>
                <a:extLst>
                  <a:ext uri="{0D108BD9-81ED-4DB2-BD59-A6C34878D82A}">
                    <a16:rowId xmlns:a16="http://schemas.microsoft.com/office/drawing/2014/main" val="2864068819"/>
                  </a:ext>
                </a:extLst>
              </a:tr>
              <a:tr h="551825">
                <a:tc>
                  <a:txBody>
                    <a:bodyPr/>
                    <a:lstStyle/>
                    <a:p>
                      <a:r>
                        <a:rPr lang="en-US" sz="2400" dirty="0"/>
                        <a:t>3</a:t>
                      </a:r>
                    </a:p>
                  </a:txBody>
                  <a:tcPr/>
                </a:tc>
                <a:tc>
                  <a:txBody>
                    <a:bodyPr/>
                    <a:lstStyle/>
                    <a:p>
                      <a:r>
                        <a:rPr lang="en-US" sz="2400" dirty="0"/>
                        <a:t>close()</a:t>
                      </a:r>
                    </a:p>
                  </a:txBody>
                  <a:tcPr/>
                </a:tc>
                <a:extLst>
                  <a:ext uri="{0D108BD9-81ED-4DB2-BD59-A6C34878D82A}">
                    <a16:rowId xmlns:a16="http://schemas.microsoft.com/office/drawing/2014/main" val="1769332780"/>
                  </a:ext>
                </a:extLst>
              </a:tr>
            </a:tbl>
          </a:graphicData>
        </a:graphic>
      </p:graphicFrame>
      <p:sp>
        <p:nvSpPr>
          <p:cNvPr id="2" name="TextBox 1"/>
          <p:cNvSpPr txBox="1"/>
          <p:nvPr/>
        </p:nvSpPr>
        <p:spPr>
          <a:xfrm>
            <a:off x="5070764" y="5898232"/>
            <a:ext cx="6522363" cy="646331"/>
          </a:xfrm>
          <a:prstGeom prst="rect">
            <a:avLst/>
          </a:prstGeom>
          <a:noFill/>
        </p:spPr>
        <p:txBody>
          <a:bodyPr wrap="none" rtlCol="0">
            <a:spAutoFit/>
          </a:bodyPr>
          <a:lstStyle/>
          <a:p>
            <a:r>
              <a:rPr lang="en-US" dirty="0"/>
              <a:t>See </a:t>
            </a:r>
            <a:r>
              <a:rPr lang="en-US" dirty="0" err="1"/>
              <a:t>unistd.h</a:t>
            </a:r>
            <a:r>
              <a:rPr lang="en-US" dirty="0"/>
              <a:t>:  300+ </a:t>
            </a:r>
            <a:r>
              <a:rPr lang="en-US" dirty="0" err="1"/>
              <a:t>syscalls</a:t>
            </a:r>
            <a:r>
              <a:rPr lang="en-US" dirty="0"/>
              <a:t> are defined</a:t>
            </a:r>
            <a:br>
              <a:rPr lang="en-US" dirty="0"/>
            </a:br>
            <a:r>
              <a:rPr lang="en-US" dirty="0" err="1"/>
              <a:t>eg</a:t>
            </a:r>
            <a:r>
              <a:rPr lang="en-US" dirty="0"/>
              <a:t> </a:t>
            </a:r>
            <a:r>
              <a:rPr lang="en-US" dirty="0">
                <a:hlinkClick r:id="rId2"/>
              </a:rPr>
              <a:t>http://lxr.linux.no/linux+v3.2/arch/x86/include/asm/unistd_64.h</a:t>
            </a:r>
            <a:r>
              <a:rPr lang="en-US" dirty="0"/>
              <a:t> </a:t>
            </a:r>
          </a:p>
        </p:txBody>
      </p:sp>
    </p:spTree>
    <p:extLst>
      <p:ext uri="{BB962C8B-B14F-4D97-AF65-F5344CB8AC3E}">
        <p14:creationId xmlns:p14="http://schemas.microsoft.com/office/powerpoint/2010/main" val="2054440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Recall PCB: Process information and process context of a running process</a:t>
            </a:r>
          </a:p>
        </p:txBody>
      </p:sp>
      <p:sp>
        <p:nvSpPr>
          <p:cNvPr id="3" name="Content Placeholder 2"/>
          <p:cNvSpPr>
            <a:spLocks noGrp="1"/>
          </p:cNvSpPr>
          <p:nvPr>
            <p:ph idx="1"/>
          </p:nvPr>
        </p:nvSpPr>
        <p:spPr/>
        <p:txBody>
          <a:bodyPr vert="horz" lIns="91440" tIns="45720" rIns="91440" bIns="45720" rtlCol="0">
            <a:normAutofit lnSpcReduction="10000"/>
          </a:bodyPr>
          <a:lstStyle/>
          <a:p>
            <a:r>
              <a:rPr lang="en-US" dirty="0"/>
              <a:t>A process has some attributes – stored as part of the PCB structure:</a:t>
            </a:r>
          </a:p>
          <a:p>
            <a:pPr lvl="1"/>
            <a:r>
              <a:rPr lang="en-US" dirty="0"/>
              <a:t>Process id, parent process information</a:t>
            </a:r>
          </a:p>
          <a:p>
            <a:pPr lvl="1"/>
            <a:r>
              <a:rPr lang="en-US" dirty="0"/>
              <a:t>List of open files</a:t>
            </a:r>
          </a:p>
          <a:p>
            <a:pPr lvl="1"/>
            <a:r>
              <a:rPr lang="en-US" dirty="0"/>
              <a:t>Info on memory occupied</a:t>
            </a:r>
          </a:p>
          <a:p>
            <a:pPr lvl="1"/>
            <a:r>
              <a:rPr lang="en-US" dirty="0"/>
              <a:t>Register values, including PC, flags etc.  - called </a:t>
            </a:r>
            <a:r>
              <a:rPr lang="en-US" b="1" dirty="0"/>
              <a:t>Context</a:t>
            </a:r>
            <a:r>
              <a:rPr lang="en-US" dirty="0"/>
              <a:t> of a process</a:t>
            </a:r>
          </a:p>
          <a:p>
            <a:pPr lvl="1"/>
            <a:r>
              <a:rPr lang="en-US" dirty="0"/>
              <a:t>Scheduling information – time used and scheduling parameters (priority </a:t>
            </a:r>
            <a:r>
              <a:rPr lang="en-US" dirty="0" err="1"/>
              <a:t>etc</a:t>
            </a:r>
            <a:r>
              <a:rPr lang="en-US" dirty="0"/>
              <a:t>)</a:t>
            </a:r>
          </a:p>
          <a:p>
            <a:pPr lvl="1"/>
            <a:r>
              <a:rPr lang="en-US" dirty="0"/>
              <a:t>- PCB = “</a:t>
            </a:r>
            <a:r>
              <a:rPr lang="en-US" b="1" dirty="0"/>
              <a:t>Process Control Block</a:t>
            </a:r>
            <a:r>
              <a:rPr lang="en-US" dirty="0"/>
              <a:t>” </a:t>
            </a:r>
          </a:p>
          <a:p>
            <a:r>
              <a:rPr lang="en-US" dirty="0"/>
              <a:t>Context is stored in the PCB when task is not running, </a:t>
            </a:r>
            <a:r>
              <a:rPr lang="en-US" dirty="0" err="1"/>
              <a:t>eg</a:t>
            </a:r>
            <a:r>
              <a:rPr lang="en-US" dirty="0"/>
              <a:t> when switching from one task to another.</a:t>
            </a:r>
          </a:p>
          <a:p>
            <a:r>
              <a:rPr lang="en-US" dirty="0"/>
              <a:t>Context helps to restore a process when it has to rerun.</a:t>
            </a:r>
          </a:p>
          <a:p>
            <a:r>
              <a:rPr lang="en-US" b="1" dirty="0"/>
              <a:t>Process table </a:t>
            </a:r>
            <a:r>
              <a:rPr lang="en-US" dirty="0"/>
              <a:t>stores a mapping </a:t>
            </a:r>
            <a:r>
              <a:rPr lang="en-US" i="1" dirty="0" err="1"/>
              <a:t>pid</a:t>
            </a:r>
            <a:r>
              <a:rPr lang="en-US" i="1" dirty="0"/>
              <a:t> </a:t>
            </a:r>
            <a:r>
              <a:rPr lang="en-US" i="1" dirty="0">
                <a:sym typeface="Wingdings" panose="05000000000000000000" pitchFamily="2" charset="2"/>
              </a:rPr>
              <a:t> PCB</a:t>
            </a:r>
            <a:endParaRPr lang="en-US" dirty="0"/>
          </a:p>
          <a:p>
            <a:endParaRPr lang="en-US" dirty="0"/>
          </a:p>
          <a:p>
            <a:pPr lvl="1"/>
            <a:endParaRPr lang="en-US" dirty="0"/>
          </a:p>
        </p:txBody>
      </p:sp>
      <p:sp>
        <p:nvSpPr>
          <p:cNvPr id="4" name="Rectangle 3"/>
          <p:cNvSpPr/>
          <p:nvPr/>
        </p:nvSpPr>
        <p:spPr>
          <a:xfrm>
            <a:off x="11353800" y="5255233"/>
            <a:ext cx="706581" cy="1056667"/>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2060"/>
                </a:solidFill>
              </a:rPr>
              <a:t>CTX</a:t>
            </a:r>
          </a:p>
        </p:txBody>
      </p:sp>
      <p:sp>
        <p:nvSpPr>
          <p:cNvPr id="5" name="Rectangle 4"/>
          <p:cNvSpPr/>
          <p:nvPr/>
        </p:nvSpPr>
        <p:spPr>
          <a:xfrm>
            <a:off x="11291455" y="1690688"/>
            <a:ext cx="706581" cy="1056667"/>
          </a:xfrm>
          <a:prstGeom prst="rect">
            <a:avLst/>
          </a:prstGeom>
          <a:pattFill prst="lgGrid">
            <a:fgClr>
              <a:schemeClr val="accent1">
                <a:lumMod val="20000"/>
                <a:lumOff val="80000"/>
              </a:schemeClr>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PCB</a:t>
            </a:r>
          </a:p>
        </p:txBody>
      </p:sp>
      <p:sp>
        <p:nvSpPr>
          <p:cNvPr id="6" name="Rounded Rectangle 5"/>
          <p:cNvSpPr/>
          <p:nvPr/>
        </p:nvSpPr>
        <p:spPr>
          <a:xfrm>
            <a:off x="11707090" y="2414846"/>
            <a:ext cx="263236" cy="332509"/>
          </a:xfrm>
          <a:prstGeom prst="round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2060"/>
              </a:solidFill>
            </a:endParaRPr>
          </a:p>
        </p:txBody>
      </p:sp>
      <p:cxnSp>
        <p:nvCxnSpPr>
          <p:cNvPr id="8" name="Straight Connector 7"/>
          <p:cNvCxnSpPr>
            <a:stCxn id="6" idx="1"/>
          </p:cNvCxnSpPr>
          <p:nvPr/>
        </p:nvCxnSpPr>
        <p:spPr>
          <a:xfrm flipH="1">
            <a:off x="11353801" y="2581101"/>
            <a:ext cx="353289" cy="26741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6" idx="3"/>
          </p:cNvCxnSpPr>
          <p:nvPr/>
        </p:nvCxnSpPr>
        <p:spPr>
          <a:xfrm>
            <a:off x="11970326" y="2581101"/>
            <a:ext cx="90053" cy="267413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79408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Kernel and user mode context</a:t>
            </a:r>
          </a:p>
        </p:txBody>
      </p:sp>
      <p:sp>
        <p:nvSpPr>
          <p:cNvPr id="3" name="Content Placeholder 2"/>
          <p:cNvSpPr>
            <a:spLocks noGrp="1"/>
          </p:cNvSpPr>
          <p:nvPr>
            <p:ph idx="1"/>
          </p:nvPr>
        </p:nvSpPr>
        <p:spPr/>
        <p:txBody>
          <a:bodyPr/>
          <a:lstStyle/>
          <a:p>
            <a:r>
              <a:rPr lang="en-US" b="1" dirty="0"/>
              <a:t>User stack </a:t>
            </a:r>
            <a:r>
              <a:rPr lang="en-US" dirty="0"/>
              <a:t>is used to hold  all the </a:t>
            </a:r>
            <a:r>
              <a:rPr lang="en-US" b="1" dirty="0"/>
              <a:t>call information/local variables </a:t>
            </a:r>
            <a:r>
              <a:rPr lang="en-US" dirty="0" err="1"/>
              <a:t>etc</a:t>
            </a:r>
            <a:r>
              <a:rPr lang="en-US" dirty="0"/>
              <a:t> of the call (Activation record). </a:t>
            </a:r>
          </a:p>
          <a:p>
            <a:r>
              <a:rPr lang="en-US" dirty="0"/>
              <a:t>However this user stack </a:t>
            </a:r>
            <a:r>
              <a:rPr lang="en-US" u="sng" dirty="0"/>
              <a:t>is not used </a:t>
            </a:r>
            <a:r>
              <a:rPr lang="en-US" dirty="0"/>
              <a:t>when executing in kernel mode. Instead a per process </a:t>
            </a:r>
            <a:r>
              <a:rPr lang="en-US" b="1" dirty="0"/>
              <a:t>kernel stack </a:t>
            </a:r>
            <a:r>
              <a:rPr lang="en-US" dirty="0"/>
              <a:t>is used.</a:t>
            </a:r>
          </a:p>
          <a:p>
            <a:pPr lvl="1"/>
            <a:r>
              <a:rPr lang="en-US" dirty="0"/>
              <a:t>However the kernel </a:t>
            </a:r>
            <a:r>
              <a:rPr lang="en-US" i="1" dirty="0"/>
              <a:t>still knows the currently running process</a:t>
            </a:r>
            <a:r>
              <a:rPr lang="en-US" dirty="0"/>
              <a:t>, so it knows the which process, when executing in kernel mode.</a:t>
            </a:r>
          </a:p>
          <a:p>
            <a:pPr lvl="1"/>
            <a:r>
              <a:rPr lang="en-US" dirty="0"/>
              <a:t>When a </a:t>
            </a:r>
            <a:r>
              <a:rPr lang="en-US" b="1" dirty="0" err="1"/>
              <a:t>syscall</a:t>
            </a:r>
            <a:r>
              <a:rPr lang="en-US" dirty="0"/>
              <a:t> is made the context of the currently executing process is stored in this kernel stack of that process.</a:t>
            </a:r>
          </a:p>
          <a:p>
            <a:r>
              <a:rPr lang="en-US" dirty="0"/>
              <a:t>BTW, Kernel stack could optionally hold the PCB.</a:t>
            </a:r>
          </a:p>
          <a:p>
            <a:endParaRPr lang="en-US" dirty="0"/>
          </a:p>
        </p:txBody>
      </p:sp>
    </p:spTree>
    <p:extLst>
      <p:ext uri="{BB962C8B-B14F-4D97-AF65-F5344CB8AC3E}">
        <p14:creationId xmlns:p14="http://schemas.microsoft.com/office/powerpoint/2010/main" val="32015789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Context Switching</a:t>
            </a:r>
          </a:p>
        </p:txBody>
      </p:sp>
      <p:sp>
        <p:nvSpPr>
          <p:cNvPr id="17" name="Content Placeholder 16"/>
          <p:cNvSpPr>
            <a:spLocks noGrp="1"/>
          </p:cNvSpPr>
          <p:nvPr>
            <p:ph sz="half" idx="1"/>
          </p:nvPr>
        </p:nvSpPr>
        <p:spPr>
          <a:xfrm>
            <a:off x="838200" y="1825625"/>
            <a:ext cx="3368040" cy="4351338"/>
          </a:xfrm>
        </p:spPr>
        <p:txBody>
          <a:bodyPr>
            <a:normAutofit/>
          </a:bodyPr>
          <a:lstStyle/>
          <a:p>
            <a:r>
              <a:rPr lang="en-US" sz="2000" dirty="0"/>
              <a:t>@ Boot OS initializer IDT</a:t>
            </a:r>
          </a:p>
          <a:p>
            <a:pPr marL="0" indent="0">
              <a:buNone/>
            </a:pPr>
            <a:r>
              <a:rPr lang="en-US" sz="2000" dirty="0"/>
              <a:t>…..</a:t>
            </a:r>
          </a:p>
          <a:p>
            <a:r>
              <a:rPr lang="en-US" sz="2000" dirty="0"/>
              <a:t>@ new process creation </a:t>
            </a:r>
            <a:br>
              <a:rPr lang="en-US" sz="2000" dirty="0"/>
            </a:br>
            <a:r>
              <a:rPr lang="en-US" sz="2000" dirty="0"/>
              <a:t>create a PCB, load the process and craft a ‘first kernel stack content’ with initial context for </a:t>
            </a:r>
            <a:br>
              <a:rPr lang="en-US" sz="2000" dirty="0"/>
            </a:br>
            <a:r>
              <a:rPr lang="en-US" sz="2000" dirty="0"/>
              <a:t>process</a:t>
            </a:r>
          </a:p>
          <a:p>
            <a:pPr marL="0" indent="0">
              <a:buNone/>
            </a:pPr>
            <a:r>
              <a:rPr lang="en-US" sz="2000" dirty="0"/>
              <a:t>   Then execute an    IRET</a:t>
            </a:r>
          </a:p>
        </p:txBody>
      </p:sp>
      <p:sp>
        <p:nvSpPr>
          <p:cNvPr id="18" name="Content Placeholder 17"/>
          <p:cNvSpPr>
            <a:spLocks noGrp="1"/>
          </p:cNvSpPr>
          <p:nvPr>
            <p:ph sz="half" idx="2"/>
          </p:nvPr>
        </p:nvSpPr>
        <p:spPr>
          <a:xfrm>
            <a:off x="8257733" y="1836518"/>
            <a:ext cx="3263705" cy="5021482"/>
          </a:xfrm>
        </p:spPr>
        <p:txBody>
          <a:bodyPr>
            <a:normAutofit/>
          </a:bodyPr>
          <a:lstStyle/>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r>
              <a:rPr lang="en-US" sz="2000" dirty="0"/>
              <a:t>Start executing program</a:t>
            </a:r>
          </a:p>
        </p:txBody>
      </p:sp>
      <p:sp>
        <p:nvSpPr>
          <p:cNvPr id="19" name="TextBox 18"/>
          <p:cNvSpPr txBox="1"/>
          <p:nvPr/>
        </p:nvSpPr>
        <p:spPr>
          <a:xfrm>
            <a:off x="4600134" y="1836518"/>
            <a:ext cx="3263705" cy="4351338"/>
          </a:xfrm>
          <a:prstGeom prst="rect">
            <a:avLst/>
          </a:prstGeom>
        </p:spPr>
        <p:txBody>
          <a:bodyPr vert="horz" lIns="91440" tIns="45720" rIns="91440" bIns="45720" rtlCol="0">
            <a:normAutofit/>
          </a:bodyPr>
          <a:lstStyle>
            <a:lvl1pPr marL="228600" indent="-228600">
              <a:lnSpc>
                <a:spcPct val="90000"/>
              </a:lnSpc>
              <a:spcBef>
                <a:spcPts val="1000"/>
              </a:spcBef>
              <a:buFont typeface="Arial" panose="020B0604020202020204" pitchFamily="34" charset="0"/>
              <a:buChar char="•"/>
              <a:defRPr sz="2800"/>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buNone/>
            </a:pPr>
            <a:endParaRPr lang="en-US" sz="2000" dirty="0"/>
          </a:p>
          <a:p>
            <a:endParaRPr lang="en-US" sz="2000" dirty="0"/>
          </a:p>
          <a:p>
            <a:endParaRPr lang="en-US" sz="2000" dirty="0"/>
          </a:p>
          <a:p>
            <a:endParaRPr lang="en-US" sz="2000" dirty="0"/>
          </a:p>
          <a:p>
            <a:pPr marL="0" indent="0">
              <a:buNone/>
            </a:pPr>
            <a:endParaRPr lang="en-US" sz="2000" dirty="0"/>
          </a:p>
          <a:p>
            <a:endParaRPr lang="en-US" sz="2000" dirty="0"/>
          </a:p>
          <a:p>
            <a:endParaRPr lang="en-US" sz="2000" dirty="0"/>
          </a:p>
          <a:p>
            <a:r>
              <a:rPr lang="en-US" sz="2000" dirty="0"/>
              <a:t>Restore context, set mode to ‘user’,  jump to the user code (in this case main())</a:t>
            </a:r>
          </a:p>
        </p:txBody>
      </p:sp>
      <p:sp>
        <p:nvSpPr>
          <p:cNvPr id="3" name="TextBox 2"/>
          <p:cNvSpPr txBox="1"/>
          <p:nvPr/>
        </p:nvSpPr>
        <p:spPr>
          <a:xfrm>
            <a:off x="838200" y="1352600"/>
            <a:ext cx="9089924" cy="400110"/>
          </a:xfrm>
          <a:prstGeom prst="rect">
            <a:avLst/>
          </a:prstGeom>
          <a:noFill/>
        </p:spPr>
        <p:txBody>
          <a:bodyPr wrap="none" rtlCol="0">
            <a:spAutoFit/>
          </a:bodyPr>
          <a:lstStyle/>
          <a:p>
            <a:r>
              <a:rPr lang="en-US" sz="2000" dirty="0"/>
              <a:t>Kernel code                                             Hardware support                                     User code</a:t>
            </a:r>
          </a:p>
        </p:txBody>
      </p:sp>
      <p:cxnSp>
        <p:nvCxnSpPr>
          <p:cNvPr id="5" name="Straight Connector 4"/>
          <p:cNvCxnSpPr/>
          <p:nvPr/>
        </p:nvCxnSpPr>
        <p:spPr>
          <a:xfrm flipV="1">
            <a:off x="618978" y="1836518"/>
            <a:ext cx="10396025"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11353800" y="1836518"/>
            <a:ext cx="0" cy="4351338"/>
          </a:xfrm>
          <a:prstGeom prst="straightConnector1">
            <a:avLst/>
          </a:prstGeom>
          <a:ln w="38100">
            <a:tailEnd type="stealth"/>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7735396" y="4865379"/>
            <a:ext cx="550237" cy="511293"/>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2060"/>
                </a:solidFill>
              </a:rPr>
              <a:t>CTX</a:t>
            </a:r>
          </a:p>
        </p:txBody>
      </p:sp>
      <p:sp>
        <p:nvSpPr>
          <p:cNvPr id="10" name="Rectangle 9"/>
          <p:cNvSpPr/>
          <p:nvPr/>
        </p:nvSpPr>
        <p:spPr>
          <a:xfrm>
            <a:off x="3739821" y="3722920"/>
            <a:ext cx="550237" cy="511293"/>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2060"/>
                </a:solidFill>
              </a:rPr>
              <a:t>CTX</a:t>
            </a:r>
          </a:p>
        </p:txBody>
      </p:sp>
    </p:spTree>
    <p:extLst>
      <p:ext uri="{BB962C8B-B14F-4D97-AF65-F5344CB8AC3E}">
        <p14:creationId xmlns:p14="http://schemas.microsoft.com/office/powerpoint/2010/main" val="314502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Process states</a:t>
            </a:r>
          </a:p>
        </p:txBody>
      </p:sp>
      <p:sp>
        <p:nvSpPr>
          <p:cNvPr id="6" name="Text Placeholder 5"/>
          <p:cNvSpPr>
            <a:spLocks noGrp="1"/>
          </p:cNvSpPr>
          <p:nvPr>
            <p:ph type="body" idx="1"/>
          </p:nvPr>
        </p:nvSpPr>
        <p:spPr/>
        <p:txBody>
          <a:bodyPr/>
          <a:lstStyle/>
          <a:p>
            <a:endParaRPr lang="en-US"/>
          </a:p>
        </p:txBody>
      </p:sp>
    </p:spTree>
    <p:extLst>
      <p:ext uri="{BB962C8B-B14F-4D97-AF65-F5344CB8AC3E}">
        <p14:creationId xmlns:p14="http://schemas.microsoft.com/office/powerpoint/2010/main" val="37670998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Process states</a:t>
            </a:r>
          </a:p>
        </p:txBody>
      </p:sp>
      <p:sp>
        <p:nvSpPr>
          <p:cNvPr id="5" name="Content Placeholder 4"/>
          <p:cNvSpPr>
            <a:spLocks noGrp="1"/>
          </p:cNvSpPr>
          <p:nvPr>
            <p:ph idx="1"/>
          </p:nvPr>
        </p:nvSpPr>
        <p:spPr/>
        <p:txBody>
          <a:bodyPr/>
          <a:lstStyle/>
          <a:p>
            <a:r>
              <a:rPr lang="en-US" dirty="0"/>
              <a:t>At any time many processes are “executing” on the system. See</a:t>
            </a:r>
            <a:br>
              <a:rPr lang="en-US" dirty="0"/>
            </a:br>
            <a:r>
              <a:rPr lang="en-US" dirty="0">
                <a:latin typeface="Courier New" panose="02070309020205020404" pitchFamily="49" charset="0"/>
                <a:cs typeface="Courier New" panose="02070309020205020404" pitchFamily="49" charset="0"/>
              </a:rPr>
              <a:t> ps –ax </a:t>
            </a:r>
            <a:r>
              <a:rPr lang="en-US" dirty="0"/>
              <a:t> for instance. </a:t>
            </a:r>
          </a:p>
          <a:p>
            <a:pPr lvl="1"/>
            <a:r>
              <a:rPr lang="en-US" dirty="0"/>
              <a:t>All the PCBs exist in the kernel.</a:t>
            </a:r>
          </a:p>
          <a:p>
            <a:r>
              <a:rPr lang="en-US" dirty="0"/>
              <a:t>Only one of them is for a process running on the CPU (assume single CPU). That process is said to be in ‘RUNNING’ state.</a:t>
            </a:r>
          </a:p>
          <a:p>
            <a:r>
              <a:rPr lang="en-US" dirty="0"/>
              <a:t>Most processes are waiting for something to happen.</a:t>
            </a:r>
          </a:p>
          <a:p>
            <a:r>
              <a:rPr lang="en-US" dirty="0"/>
              <a:t>Explore </a:t>
            </a:r>
            <a:r>
              <a:rPr lang="en-US" sz="2400" dirty="0">
                <a:latin typeface="Courier New" panose="02070309020205020404" pitchFamily="49" charset="0"/>
                <a:cs typeface="Courier New" panose="02070309020205020404" pitchFamily="49" charset="0"/>
              </a:rPr>
              <a:t>ps -ax -o </a:t>
            </a:r>
            <a:r>
              <a:rPr lang="en-US" sz="2400" dirty="0" err="1">
                <a:latin typeface="Courier New" panose="02070309020205020404" pitchFamily="49" charset="0"/>
                <a:cs typeface="Courier New" panose="02070309020205020404" pitchFamily="49" charset="0"/>
              </a:rPr>
              <a:t>pid,comm,stat,wchan</a:t>
            </a:r>
            <a:endParaRPr lang="en-US" sz="2400" dirty="0">
              <a:latin typeface="Courier New" panose="02070309020205020404" pitchFamily="49" charset="0"/>
              <a:cs typeface="Courier New" panose="02070309020205020404" pitchFamily="49" charset="0"/>
            </a:endParaRPr>
          </a:p>
          <a:p>
            <a:pPr lvl="1"/>
            <a:r>
              <a:rPr lang="en-US" dirty="0"/>
              <a:t>See the </a:t>
            </a:r>
            <a:r>
              <a:rPr lang="en-US" dirty="0">
                <a:latin typeface="Courier New" panose="02070309020205020404" pitchFamily="49" charset="0"/>
                <a:cs typeface="Courier New" panose="02070309020205020404" pitchFamily="49" charset="0"/>
              </a:rPr>
              <a:t>stat</a:t>
            </a:r>
            <a:r>
              <a:rPr lang="en-US" dirty="0"/>
              <a:t> and </a:t>
            </a:r>
            <a:r>
              <a:rPr lang="en-US" dirty="0" err="1">
                <a:latin typeface="Courier New" panose="02070309020205020404" pitchFamily="49" charset="0"/>
                <a:cs typeface="Courier New" panose="02070309020205020404" pitchFamily="49" charset="0"/>
              </a:rPr>
              <a:t>wchan</a:t>
            </a:r>
            <a:r>
              <a:rPr lang="en-US" dirty="0"/>
              <a:t> columns</a:t>
            </a:r>
          </a:p>
          <a:p>
            <a:pPr lvl="1"/>
            <a:r>
              <a:rPr lang="en-US" dirty="0"/>
              <a:t>For processes waiting on something the </a:t>
            </a:r>
            <a:r>
              <a:rPr lang="en-US" dirty="0" err="1">
                <a:latin typeface="Courier New" panose="02070309020205020404" pitchFamily="49" charset="0"/>
                <a:cs typeface="Courier New" panose="02070309020205020404" pitchFamily="49" charset="0"/>
              </a:rPr>
              <a:t>wchan</a:t>
            </a:r>
            <a:r>
              <a:rPr lang="en-US" dirty="0"/>
              <a:t> column says where in the kernel the wait is happening</a:t>
            </a:r>
          </a:p>
        </p:txBody>
      </p:sp>
    </p:spTree>
    <p:extLst>
      <p:ext uri="{BB962C8B-B14F-4D97-AF65-F5344CB8AC3E}">
        <p14:creationId xmlns:p14="http://schemas.microsoft.com/office/powerpoint/2010/main" val="14904335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Process states and transitions</a:t>
            </a:r>
          </a:p>
        </p:txBody>
      </p:sp>
      <p:sp>
        <p:nvSpPr>
          <p:cNvPr id="8" name="Oval 7"/>
          <p:cNvSpPr/>
          <p:nvPr/>
        </p:nvSpPr>
        <p:spPr>
          <a:xfrm>
            <a:off x="6991386" y="2779909"/>
            <a:ext cx="1554480" cy="1426464"/>
          </a:xfrm>
          <a:prstGeom prst="ellipse">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Running</a:t>
            </a:r>
          </a:p>
        </p:txBody>
      </p:sp>
      <p:grpSp>
        <p:nvGrpSpPr>
          <p:cNvPr id="64" name="Group 63"/>
          <p:cNvGrpSpPr/>
          <p:nvPr/>
        </p:nvGrpSpPr>
        <p:grpSpPr>
          <a:xfrm>
            <a:off x="5090160" y="3997472"/>
            <a:ext cx="2652008" cy="2464288"/>
            <a:chOff x="5090160" y="3997472"/>
            <a:chExt cx="2652008" cy="2464288"/>
          </a:xfrm>
        </p:grpSpPr>
        <p:sp>
          <p:nvSpPr>
            <p:cNvPr id="10" name="Oval 9"/>
            <p:cNvSpPr/>
            <p:nvPr/>
          </p:nvSpPr>
          <p:spPr>
            <a:xfrm>
              <a:off x="5090160" y="5035296"/>
              <a:ext cx="1554480" cy="1426464"/>
            </a:xfrm>
            <a:prstGeom prst="ellipse">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Blocked</a:t>
              </a:r>
            </a:p>
          </p:txBody>
        </p:sp>
        <p:cxnSp>
          <p:nvCxnSpPr>
            <p:cNvPr id="18" name="Straight Arrow Connector 17"/>
            <p:cNvCxnSpPr>
              <a:stCxn id="8" idx="3"/>
              <a:endCxn id="10" idx="7"/>
            </p:cNvCxnSpPr>
            <p:nvPr/>
          </p:nvCxnSpPr>
          <p:spPr>
            <a:xfrm flipH="1">
              <a:off x="6416992" y="3997472"/>
              <a:ext cx="802042" cy="12467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5959501" y="4393678"/>
              <a:ext cx="1782667" cy="369332"/>
            </a:xfrm>
            <a:prstGeom prst="rect">
              <a:avLst/>
            </a:prstGeom>
            <a:noFill/>
          </p:spPr>
          <p:txBody>
            <a:bodyPr wrap="none" rtlCol="0">
              <a:spAutoFit/>
            </a:bodyPr>
            <a:lstStyle/>
            <a:p>
              <a:r>
                <a:rPr lang="en-US" dirty="0"/>
                <a:t>Blocking Request</a:t>
              </a:r>
            </a:p>
          </p:txBody>
        </p:sp>
      </p:grpSp>
      <p:sp>
        <p:nvSpPr>
          <p:cNvPr id="9" name="Oval 8"/>
          <p:cNvSpPr/>
          <p:nvPr/>
        </p:nvSpPr>
        <p:spPr>
          <a:xfrm>
            <a:off x="3074706" y="2779909"/>
            <a:ext cx="1554480" cy="1426464"/>
          </a:xfrm>
          <a:prstGeom prst="ellipse">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Ready</a:t>
            </a:r>
          </a:p>
        </p:txBody>
      </p:sp>
      <p:cxnSp>
        <p:nvCxnSpPr>
          <p:cNvPr id="21" name="Straight Arrow Connector 20"/>
          <p:cNvCxnSpPr/>
          <p:nvPr/>
        </p:nvCxnSpPr>
        <p:spPr>
          <a:xfrm flipH="1" flipV="1">
            <a:off x="4401538" y="3936760"/>
            <a:ext cx="916270" cy="12467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4402419" y="4243822"/>
            <a:ext cx="1236236" cy="646331"/>
          </a:xfrm>
          <a:prstGeom prst="rect">
            <a:avLst/>
          </a:prstGeom>
          <a:noFill/>
        </p:spPr>
        <p:txBody>
          <a:bodyPr wrap="none" rtlCol="0">
            <a:spAutoFit/>
          </a:bodyPr>
          <a:lstStyle/>
          <a:p>
            <a:r>
              <a:rPr lang="en-US" dirty="0"/>
              <a:t>Unblocking</a:t>
            </a:r>
            <a:br>
              <a:rPr lang="en-US" dirty="0"/>
            </a:br>
            <a:r>
              <a:rPr lang="en-US" dirty="0"/>
              <a:t>event</a:t>
            </a:r>
          </a:p>
        </p:txBody>
      </p:sp>
      <p:grpSp>
        <p:nvGrpSpPr>
          <p:cNvPr id="67" name="Group 66"/>
          <p:cNvGrpSpPr/>
          <p:nvPr/>
        </p:nvGrpSpPr>
        <p:grpSpPr>
          <a:xfrm>
            <a:off x="4587240" y="2909296"/>
            <a:ext cx="2453640" cy="583845"/>
            <a:chOff x="4587240" y="2909296"/>
            <a:chExt cx="2453640" cy="583845"/>
          </a:xfrm>
        </p:grpSpPr>
        <p:cxnSp>
          <p:nvCxnSpPr>
            <p:cNvPr id="24" name="Straight Arrow Connector 23"/>
            <p:cNvCxnSpPr>
              <a:stCxn id="9" idx="6"/>
              <a:endCxn id="8" idx="2"/>
            </p:cNvCxnSpPr>
            <p:nvPr/>
          </p:nvCxnSpPr>
          <p:spPr>
            <a:xfrm>
              <a:off x="4629186" y="3493141"/>
              <a:ext cx="23622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H="1" flipV="1">
              <a:off x="4587240" y="3236976"/>
              <a:ext cx="2453640" cy="182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4997328" y="2909296"/>
              <a:ext cx="1917380" cy="383943"/>
            </a:xfrm>
            <a:prstGeom prst="rect">
              <a:avLst/>
            </a:prstGeom>
            <a:noFill/>
          </p:spPr>
          <p:txBody>
            <a:bodyPr wrap="square" rtlCol="0">
              <a:spAutoFit/>
            </a:bodyPr>
            <a:lstStyle/>
            <a:p>
              <a:r>
                <a:rPr lang="en-US" dirty="0"/>
                <a:t>CPU Scheduler</a:t>
              </a:r>
            </a:p>
          </p:txBody>
        </p:sp>
      </p:grpSp>
      <p:grpSp>
        <p:nvGrpSpPr>
          <p:cNvPr id="68" name="Group 67"/>
          <p:cNvGrpSpPr/>
          <p:nvPr/>
        </p:nvGrpSpPr>
        <p:grpSpPr>
          <a:xfrm>
            <a:off x="8286141" y="1192512"/>
            <a:ext cx="2589848" cy="1794651"/>
            <a:chOff x="8318218" y="1197698"/>
            <a:chExt cx="2589848" cy="1794651"/>
          </a:xfrm>
        </p:grpSpPr>
        <p:sp>
          <p:nvSpPr>
            <p:cNvPr id="29" name="Oval 28"/>
            <p:cNvSpPr/>
            <p:nvPr/>
          </p:nvSpPr>
          <p:spPr>
            <a:xfrm>
              <a:off x="9353586" y="1197698"/>
              <a:ext cx="1554480" cy="1426464"/>
            </a:xfrm>
            <a:prstGeom prst="ellipse">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Running (U)</a:t>
              </a:r>
            </a:p>
          </p:txBody>
        </p:sp>
        <p:cxnSp>
          <p:nvCxnSpPr>
            <p:cNvPr id="36" name="Straight Arrow Connector 35"/>
            <p:cNvCxnSpPr/>
            <p:nvPr/>
          </p:nvCxnSpPr>
          <p:spPr>
            <a:xfrm flipH="1">
              <a:off x="8318218" y="2022672"/>
              <a:ext cx="1035368" cy="9696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12" name="Group 11"/>
          <p:cNvGrpSpPr/>
          <p:nvPr/>
        </p:nvGrpSpPr>
        <p:grpSpPr>
          <a:xfrm>
            <a:off x="8082938" y="2095864"/>
            <a:ext cx="1570572" cy="1116728"/>
            <a:chOff x="8114256" y="2069550"/>
            <a:chExt cx="1570572" cy="1116728"/>
          </a:xfrm>
        </p:grpSpPr>
        <p:cxnSp>
          <p:nvCxnSpPr>
            <p:cNvPr id="3" name="Straight Arrow Connector 2"/>
            <p:cNvCxnSpPr/>
            <p:nvPr/>
          </p:nvCxnSpPr>
          <p:spPr>
            <a:xfrm flipV="1">
              <a:off x="8426548" y="2213713"/>
              <a:ext cx="1055077" cy="9725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8114256" y="2069550"/>
              <a:ext cx="956352" cy="369332"/>
            </a:xfrm>
            <a:prstGeom prst="rect">
              <a:avLst/>
            </a:prstGeom>
            <a:noFill/>
          </p:spPr>
          <p:txBody>
            <a:bodyPr wrap="none" rtlCol="0">
              <a:spAutoFit/>
            </a:bodyPr>
            <a:lstStyle/>
            <a:p>
              <a:r>
                <a:rPr lang="en-US" dirty="0"/>
                <a:t>SYSCALL</a:t>
              </a:r>
            </a:p>
          </p:txBody>
        </p:sp>
        <p:sp>
          <p:nvSpPr>
            <p:cNvPr id="31" name="TextBox 30"/>
            <p:cNvSpPr txBox="1"/>
            <p:nvPr/>
          </p:nvSpPr>
          <p:spPr>
            <a:xfrm>
              <a:off x="8831068" y="2620920"/>
              <a:ext cx="853760" cy="369332"/>
            </a:xfrm>
            <a:prstGeom prst="rect">
              <a:avLst/>
            </a:prstGeom>
            <a:noFill/>
          </p:spPr>
          <p:txBody>
            <a:bodyPr wrap="none" rtlCol="0">
              <a:spAutoFit/>
            </a:bodyPr>
            <a:lstStyle/>
            <a:p>
              <a:pPr algn="ctr"/>
              <a:r>
                <a:rPr lang="en-US" dirty="0"/>
                <a:t>SYSRET</a:t>
              </a:r>
            </a:p>
          </p:txBody>
        </p:sp>
      </p:grpSp>
      <p:grpSp>
        <p:nvGrpSpPr>
          <p:cNvPr id="5" name="Group 4"/>
          <p:cNvGrpSpPr/>
          <p:nvPr/>
        </p:nvGrpSpPr>
        <p:grpSpPr>
          <a:xfrm>
            <a:off x="8273009" y="3978647"/>
            <a:ext cx="3543469" cy="2060190"/>
            <a:chOff x="8273009" y="3978647"/>
            <a:chExt cx="3543469" cy="2060190"/>
          </a:xfrm>
        </p:grpSpPr>
        <p:sp>
          <p:nvSpPr>
            <p:cNvPr id="30" name="Oval 29"/>
            <p:cNvSpPr/>
            <p:nvPr/>
          </p:nvSpPr>
          <p:spPr>
            <a:xfrm>
              <a:off x="10261998" y="4612373"/>
              <a:ext cx="1554480" cy="1426464"/>
            </a:xfrm>
            <a:prstGeom prst="ellipse">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Terminal</a:t>
              </a:r>
            </a:p>
          </p:txBody>
        </p:sp>
        <p:cxnSp>
          <p:nvCxnSpPr>
            <p:cNvPr id="32" name="Straight Arrow Connector 31"/>
            <p:cNvCxnSpPr>
              <a:stCxn id="8" idx="5"/>
              <a:endCxn id="30" idx="2"/>
            </p:cNvCxnSpPr>
            <p:nvPr/>
          </p:nvCxnSpPr>
          <p:spPr>
            <a:xfrm>
              <a:off x="8318218" y="3997472"/>
              <a:ext cx="1943780" cy="13281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8273009" y="3978647"/>
              <a:ext cx="2107052" cy="646331"/>
            </a:xfrm>
            <a:prstGeom prst="rect">
              <a:avLst/>
            </a:prstGeom>
            <a:noFill/>
          </p:spPr>
          <p:txBody>
            <a:bodyPr wrap="none" rtlCol="0">
              <a:spAutoFit/>
            </a:bodyPr>
            <a:lstStyle/>
            <a:p>
              <a:r>
                <a:rPr lang="en-US" dirty="0"/>
                <a:t>Process terminated, </a:t>
              </a:r>
              <a:br>
                <a:rPr lang="en-US" dirty="0"/>
              </a:br>
              <a:r>
                <a:rPr lang="en-US" dirty="0" err="1"/>
                <a:t>eg</a:t>
              </a:r>
              <a:r>
                <a:rPr lang="en-US" dirty="0"/>
                <a:t> by exit()</a:t>
              </a:r>
            </a:p>
          </p:txBody>
        </p:sp>
      </p:grpSp>
      <p:sp>
        <p:nvSpPr>
          <p:cNvPr id="6" name="TextBox 5"/>
          <p:cNvSpPr txBox="1"/>
          <p:nvPr/>
        </p:nvSpPr>
        <p:spPr>
          <a:xfrm>
            <a:off x="3734787" y="2392442"/>
            <a:ext cx="309700"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none" rtlCol="0">
            <a:spAutoFit/>
          </a:bodyPr>
          <a:lstStyle/>
          <a:p>
            <a:r>
              <a:rPr lang="en-US" dirty="0"/>
              <a:t>R</a:t>
            </a:r>
          </a:p>
        </p:txBody>
      </p:sp>
      <p:sp>
        <p:nvSpPr>
          <p:cNvPr id="33" name="TextBox 32"/>
          <p:cNvSpPr txBox="1"/>
          <p:nvPr/>
        </p:nvSpPr>
        <p:spPr>
          <a:xfrm>
            <a:off x="6643897" y="5617073"/>
            <a:ext cx="290464" cy="369332"/>
          </a:xfrm>
          <a:prstGeom prst="rect">
            <a:avLst/>
          </a:prstGeom>
        </p:spPr>
        <p:style>
          <a:lnRef idx="2">
            <a:schemeClr val="dk1">
              <a:shade val="50000"/>
            </a:schemeClr>
          </a:lnRef>
          <a:fillRef idx="1">
            <a:schemeClr val="dk1"/>
          </a:fillRef>
          <a:effectRef idx="0">
            <a:schemeClr val="dk1"/>
          </a:effectRef>
          <a:fontRef idx="minor">
            <a:schemeClr val="lt1"/>
          </a:fontRef>
        </p:style>
        <p:txBody>
          <a:bodyPr wrap="none" rtlCol="0">
            <a:spAutoFit/>
          </a:bodyPr>
          <a:lstStyle/>
          <a:p>
            <a:r>
              <a:rPr lang="en-US" dirty="0"/>
              <a:t>S</a:t>
            </a:r>
          </a:p>
        </p:txBody>
      </p:sp>
      <p:sp>
        <p:nvSpPr>
          <p:cNvPr id="34" name="TextBox 33"/>
          <p:cNvSpPr txBox="1"/>
          <p:nvPr/>
        </p:nvSpPr>
        <p:spPr>
          <a:xfrm>
            <a:off x="7605127" y="2439620"/>
            <a:ext cx="309700"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none" rtlCol="0">
            <a:spAutoFit/>
          </a:bodyPr>
          <a:lstStyle>
            <a:defPPr>
              <a:defRPr lang="en-US"/>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R</a:t>
            </a:r>
          </a:p>
        </p:txBody>
      </p:sp>
      <p:sp>
        <p:nvSpPr>
          <p:cNvPr id="35" name="TextBox 34"/>
          <p:cNvSpPr txBox="1"/>
          <p:nvPr/>
        </p:nvSpPr>
        <p:spPr>
          <a:xfrm>
            <a:off x="9972277" y="5454384"/>
            <a:ext cx="292068" cy="369332"/>
          </a:xfrm>
          <a:prstGeom prst="rect">
            <a:avLst/>
          </a:prstGeom>
        </p:spPr>
        <p:style>
          <a:lnRef idx="2">
            <a:schemeClr val="dk1">
              <a:shade val="50000"/>
            </a:schemeClr>
          </a:lnRef>
          <a:fillRef idx="1">
            <a:schemeClr val="dk1"/>
          </a:fillRef>
          <a:effectRef idx="0">
            <a:schemeClr val="dk1"/>
          </a:effectRef>
          <a:fontRef idx="minor">
            <a:schemeClr val="lt1"/>
          </a:fontRef>
        </p:style>
        <p:txBody>
          <a:bodyPr wrap="none" rtlCol="0">
            <a:spAutoFit/>
          </a:bodyPr>
          <a:lstStyle/>
          <a:p>
            <a:r>
              <a:rPr lang="en-US" dirty="0"/>
              <a:t>Z</a:t>
            </a:r>
          </a:p>
        </p:txBody>
      </p:sp>
      <p:grpSp>
        <p:nvGrpSpPr>
          <p:cNvPr id="14" name="Group 13"/>
          <p:cNvGrpSpPr/>
          <p:nvPr/>
        </p:nvGrpSpPr>
        <p:grpSpPr>
          <a:xfrm>
            <a:off x="213502" y="4138609"/>
            <a:ext cx="2904063" cy="2585323"/>
            <a:chOff x="213502" y="4138609"/>
            <a:chExt cx="2904063" cy="2585323"/>
          </a:xfrm>
        </p:grpSpPr>
        <p:sp>
          <p:nvSpPr>
            <p:cNvPr id="13" name="TextBox 12"/>
            <p:cNvSpPr txBox="1"/>
            <p:nvPr/>
          </p:nvSpPr>
          <p:spPr>
            <a:xfrm>
              <a:off x="213502" y="4138609"/>
              <a:ext cx="2904063" cy="2585323"/>
            </a:xfrm>
            <a:prstGeom prst="rect">
              <a:avLst/>
            </a:prstGeom>
            <a:noFill/>
            <a:ln>
              <a:solidFill>
                <a:schemeClr val="tx2"/>
              </a:solidFill>
              <a:prstDash val="dash"/>
            </a:ln>
          </p:spPr>
          <p:txBody>
            <a:bodyPr wrap="square" rtlCol="0">
              <a:spAutoFit/>
            </a:bodyPr>
            <a:lstStyle/>
            <a:p>
              <a:r>
                <a:rPr lang="en-US" dirty="0"/>
                <a:t>        Running or runnable</a:t>
              </a:r>
              <a:br>
                <a:rPr lang="en-US" dirty="0"/>
              </a:br>
              <a:br>
                <a:rPr lang="en-US" dirty="0"/>
              </a:br>
              <a:r>
                <a:rPr lang="en-US" dirty="0"/>
                <a:t>        Sleeping</a:t>
              </a:r>
              <a:br>
                <a:rPr lang="en-US" dirty="0"/>
              </a:br>
              <a:br>
                <a:rPr lang="en-US" dirty="0"/>
              </a:br>
              <a:r>
                <a:rPr lang="en-US" dirty="0"/>
                <a:t>        Zombie</a:t>
              </a:r>
            </a:p>
            <a:p>
              <a:endParaRPr lang="en-US" dirty="0"/>
            </a:p>
            <a:p>
              <a:r>
                <a:rPr lang="en-US" dirty="0"/>
                <a:t>Indicate as seen on</a:t>
              </a:r>
              <a:br>
                <a:rPr lang="en-US" dirty="0"/>
              </a:br>
              <a:r>
                <a:rPr lang="en-US" dirty="0"/>
                <a:t>Linux</a:t>
              </a:r>
              <a:r>
                <a:rPr lang="en-US" dirty="0">
                  <a:latin typeface="Courier New" panose="02070309020205020404" pitchFamily="49" charset="0"/>
                  <a:cs typeface="Courier New" panose="02070309020205020404" pitchFamily="49" charset="0"/>
                </a:rPr>
                <a:t> ps </a:t>
              </a:r>
              <a:r>
                <a:rPr lang="en-US" dirty="0"/>
                <a:t>command output</a:t>
              </a:r>
              <a:br>
                <a:rPr lang="en-US" dirty="0"/>
              </a:br>
              <a:r>
                <a:rPr lang="en-US" dirty="0"/>
                <a:t>(just a sample!)</a:t>
              </a:r>
            </a:p>
          </p:txBody>
        </p:sp>
        <p:sp>
          <p:nvSpPr>
            <p:cNvPr id="37" name="TextBox 36"/>
            <p:cNvSpPr txBox="1"/>
            <p:nvPr/>
          </p:nvSpPr>
          <p:spPr>
            <a:xfrm>
              <a:off x="365612" y="4146823"/>
              <a:ext cx="309700"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none" rtlCol="0">
              <a:spAutoFit/>
            </a:bodyPr>
            <a:lstStyle/>
            <a:p>
              <a:r>
                <a:rPr lang="en-US" dirty="0"/>
                <a:t>R</a:t>
              </a:r>
            </a:p>
          </p:txBody>
        </p:sp>
        <p:sp>
          <p:nvSpPr>
            <p:cNvPr id="38" name="TextBox 37"/>
            <p:cNvSpPr txBox="1"/>
            <p:nvPr/>
          </p:nvSpPr>
          <p:spPr>
            <a:xfrm>
              <a:off x="365612" y="4674134"/>
              <a:ext cx="290464" cy="369332"/>
            </a:xfrm>
            <a:prstGeom prst="rect">
              <a:avLst/>
            </a:prstGeom>
          </p:spPr>
          <p:style>
            <a:lnRef idx="2">
              <a:schemeClr val="dk1">
                <a:shade val="50000"/>
              </a:schemeClr>
            </a:lnRef>
            <a:fillRef idx="1">
              <a:schemeClr val="dk1"/>
            </a:fillRef>
            <a:effectRef idx="0">
              <a:schemeClr val="dk1"/>
            </a:effectRef>
            <a:fontRef idx="minor">
              <a:schemeClr val="lt1"/>
            </a:fontRef>
          </p:style>
          <p:txBody>
            <a:bodyPr wrap="none" rtlCol="0">
              <a:spAutoFit/>
            </a:bodyPr>
            <a:lstStyle/>
            <a:p>
              <a:r>
                <a:rPr lang="en-US" dirty="0"/>
                <a:t>S</a:t>
              </a:r>
            </a:p>
          </p:txBody>
        </p:sp>
        <p:sp>
          <p:nvSpPr>
            <p:cNvPr id="39" name="TextBox 38"/>
            <p:cNvSpPr txBox="1"/>
            <p:nvPr/>
          </p:nvSpPr>
          <p:spPr>
            <a:xfrm>
              <a:off x="365612" y="5213512"/>
              <a:ext cx="292068" cy="369332"/>
            </a:xfrm>
            <a:prstGeom prst="rect">
              <a:avLst/>
            </a:prstGeom>
          </p:spPr>
          <p:style>
            <a:lnRef idx="2">
              <a:schemeClr val="dk1">
                <a:shade val="50000"/>
              </a:schemeClr>
            </a:lnRef>
            <a:fillRef idx="1">
              <a:schemeClr val="dk1"/>
            </a:fillRef>
            <a:effectRef idx="0">
              <a:schemeClr val="dk1"/>
            </a:effectRef>
            <a:fontRef idx="minor">
              <a:schemeClr val="lt1"/>
            </a:fontRef>
          </p:style>
          <p:txBody>
            <a:bodyPr wrap="none" rtlCol="0">
              <a:spAutoFit/>
            </a:bodyPr>
            <a:lstStyle/>
            <a:p>
              <a:r>
                <a:rPr lang="en-US" dirty="0"/>
                <a:t>Z</a:t>
              </a:r>
            </a:p>
          </p:txBody>
        </p:sp>
      </p:grpSp>
    </p:spTree>
    <p:extLst>
      <p:ext uri="{BB962C8B-B14F-4D97-AF65-F5344CB8AC3E}">
        <p14:creationId xmlns:p14="http://schemas.microsoft.com/office/powerpoint/2010/main" val="2903277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wipe(left)">
                                      <p:cBhvr>
                                        <p:cTn id="39" dur="500"/>
                                        <p:tgtEl>
                                          <p:spTgt spid="14"/>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wipe(left)">
                                      <p:cBhvr>
                                        <p:cTn id="42" dur="500"/>
                                        <p:tgtEl>
                                          <p:spTgt spid="6"/>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34"/>
                                        </p:tgtEl>
                                        <p:attrNameLst>
                                          <p:attrName>style.visibility</p:attrName>
                                        </p:attrNameLst>
                                      </p:cBhvr>
                                      <p:to>
                                        <p:strVal val="visible"/>
                                      </p:to>
                                    </p:set>
                                    <p:animEffect transition="in" filter="wipe(left)">
                                      <p:cBhvr>
                                        <p:cTn id="45" dur="500"/>
                                        <p:tgtEl>
                                          <p:spTgt spid="34"/>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33"/>
                                        </p:tgtEl>
                                        <p:attrNameLst>
                                          <p:attrName>style.visibility</p:attrName>
                                        </p:attrNameLst>
                                      </p:cBhvr>
                                      <p:to>
                                        <p:strVal val="visible"/>
                                      </p:to>
                                    </p:set>
                                    <p:animEffect transition="in" filter="wipe(left)">
                                      <p:cBhvr>
                                        <p:cTn id="48" dur="500"/>
                                        <p:tgtEl>
                                          <p:spTgt spid="33"/>
                                        </p:tgtEl>
                                      </p:cBhvr>
                                    </p:animEffect>
                                  </p:childTnLst>
                                </p:cTn>
                              </p:par>
                              <p:par>
                                <p:cTn id="49" presetID="22" presetClass="entr" presetSubtype="8" fill="hold" grpId="0" nodeType="withEffect">
                                  <p:stCondLst>
                                    <p:cond delay="0"/>
                                  </p:stCondLst>
                                  <p:childTnLst>
                                    <p:set>
                                      <p:cBhvr>
                                        <p:cTn id="50" dur="1" fill="hold">
                                          <p:stCondLst>
                                            <p:cond delay="0"/>
                                          </p:stCondLst>
                                        </p:cTn>
                                        <p:tgtEl>
                                          <p:spTgt spid="35"/>
                                        </p:tgtEl>
                                        <p:attrNameLst>
                                          <p:attrName>style.visibility</p:attrName>
                                        </p:attrNameLst>
                                      </p:cBhvr>
                                      <p:to>
                                        <p:strVal val="visible"/>
                                      </p:to>
                                    </p:set>
                                    <p:animEffect transition="in" filter="wipe(left)">
                                      <p:cBhvr>
                                        <p:cTn id="51"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22" grpId="0"/>
      <p:bldP spid="6" grpId="0" animBg="1"/>
      <p:bldP spid="33" grpId="0" animBg="1"/>
      <p:bldP spid="34" grpId="0" animBg="1"/>
      <p:bldP spid="3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Terminated state and zombie processes</a:t>
            </a:r>
          </a:p>
        </p:txBody>
      </p:sp>
      <p:sp>
        <p:nvSpPr>
          <p:cNvPr id="3" name="Content Placeholder 2"/>
          <p:cNvSpPr>
            <a:spLocks noGrp="1"/>
          </p:cNvSpPr>
          <p:nvPr>
            <p:ph idx="1"/>
          </p:nvPr>
        </p:nvSpPr>
        <p:spPr/>
        <p:txBody>
          <a:bodyPr/>
          <a:lstStyle/>
          <a:p>
            <a:r>
              <a:rPr lang="en-US" dirty="0"/>
              <a:t>It is not unusual that the child process terminates before the parent</a:t>
            </a:r>
          </a:p>
          <a:p>
            <a:r>
              <a:rPr lang="en-US" dirty="0"/>
              <a:t>When the child terminates, the parent is expected to issue a wait() system call to get the child information.</a:t>
            </a:r>
          </a:p>
          <a:p>
            <a:r>
              <a:rPr lang="en-US" dirty="0"/>
              <a:t>Therefore in Linux the child enters the terminated state. In this state it is no longer schedulable. It simply waits for its parent to read its exit status. Once parent has read the exit status, the child PCB is removed.</a:t>
            </a:r>
          </a:p>
          <a:p>
            <a:r>
              <a:rPr lang="en-US" dirty="0"/>
              <a:t>This state is also called zombie state</a:t>
            </a:r>
          </a:p>
          <a:p>
            <a:r>
              <a:rPr lang="en-US" dirty="0"/>
              <a:t>See </a:t>
            </a:r>
            <a:r>
              <a:rPr lang="en-US" dirty="0" err="1">
                <a:latin typeface="Courier New" panose="02070309020205020404" pitchFamily="49" charset="0"/>
                <a:cs typeface="Courier New" panose="02070309020205020404" pitchFamily="49" charset="0"/>
              </a:rPr>
              <a:t>fork_and_termC.c</a:t>
            </a:r>
            <a:endParaRPr lang="en-US" dirty="0"/>
          </a:p>
        </p:txBody>
      </p:sp>
    </p:spTree>
    <p:extLst>
      <p:ext uri="{BB962C8B-B14F-4D97-AF65-F5344CB8AC3E}">
        <p14:creationId xmlns:p14="http://schemas.microsoft.com/office/powerpoint/2010/main" val="25136946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Orphaned processes</a:t>
            </a:r>
          </a:p>
        </p:txBody>
      </p:sp>
      <p:sp>
        <p:nvSpPr>
          <p:cNvPr id="3" name="Content Placeholder 2"/>
          <p:cNvSpPr>
            <a:spLocks noGrp="1"/>
          </p:cNvSpPr>
          <p:nvPr>
            <p:ph idx="1"/>
          </p:nvPr>
        </p:nvSpPr>
        <p:spPr/>
        <p:txBody>
          <a:bodyPr/>
          <a:lstStyle/>
          <a:p>
            <a:r>
              <a:rPr lang="en-US" dirty="0"/>
              <a:t>It is possible for the parent to exit early and the child to continue to run.</a:t>
            </a:r>
          </a:p>
          <a:p>
            <a:r>
              <a:rPr lang="en-US" dirty="0"/>
              <a:t>Such processes are called ‘orphaned processes’ – i.e., it is alive, but its parent has terminated.</a:t>
            </a:r>
          </a:p>
          <a:p>
            <a:r>
              <a:rPr lang="en-US" dirty="0"/>
              <a:t>How they are dealt with:</a:t>
            </a:r>
          </a:p>
          <a:p>
            <a:pPr lvl="1"/>
            <a:r>
              <a:rPr lang="en-US" dirty="0"/>
              <a:t>On Linux the process is allowed to run;  however, its parent is changed</a:t>
            </a:r>
          </a:p>
          <a:p>
            <a:pPr lvl="2"/>
            <a:r>
              <a:rPr lang="en-US" dirty="0"/>
              <a:t>This is called </a:t>
            </a:r>
            <a:r>
              <a:rPr lang="en-US" b="1" dirty="0" err="1"/>
              <a:t>reparenting</a:t>
            </a:r>
            <a:r>
              <a:rPr lang="en-US" dirty="0"/>
              <a:t> the process.</a:t>
            </a:r>
          </a:p>
          <a:p>
            <a:pPr lvl="2"/>
            <a:r>
              <a:rPr lang="en-US" dirty="0"/>
              <a:t>A specific process such as </a:t>
            </a:r>
            <a:r>
              <a:rPr lang="en-US" b="1" dirty="0" err="1"/>
              <a:t>systemd</a:t>
            </a:r>
            <a:r>
              <a:rPr lang="en-US" dirty="0"/>
              <a:t> is assigned as the new parent process.</a:t>
            </a:r>
          </a:p>
          <a:p>
            <a:pPr lvl="2"/>
            <a:r>
              <a:rPr lang="en-US" dirty="0"/>
              <a:t>Example: See </a:t>
            </a:r>
            <a:r>
              <a:rPr lang="en-US" dirty="0" err="1">
                <a:latin typeface="Courier New" panose="02070309020205020404" pitchFamily="49" charset="0"/>
                <a:cs typeface="Courier New" panose="02070309020205020404" pitchFamily="49" charset="0"/>
              </a:rPr>
              <a:t>fork_and_termP.c</a:t>
            </a:r>
            <a:endParaRPr lang="en-US" dirty="0"/>
          </a:p>
          <a:p>
            <a:endParaRPr lang="en-US" dirty="0"/>
          </a:p>
        </p:txBody>
      </p:sp>
    </p:spTree>
    <p:extLst>
      <p:ext uri="{BB962C8B-B14F-4D97-AF65-F5344CB8AC3E}">
        <p14:creationId xmlns:p14="http://schemas.microsoft.com/office/powerpoint/2010/main" val="31785546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6A398-CC83-5AA8-9706-A3C634F87CD8}"/>
              </a:ext>
            </a:extLst>
          </p:cNvPr>
          <p:cNvSpPr>
            <a:spLocks noGrp="1"/>
          </p:cNvSpPr>
          <p:nvPr>
            <p:ph type="title"/>
          </p:nvPr>
        </p:nvSpPr>
        <p:spPr/>
        <p:txBody>
          <a:bodyPr/>
          <a:lstStyle/>
          <a:p>
            <a:r>
              <a:rPr lang="en-US" dirty="0"/>
              <a:t>Exploring processes in Linux</a:t>
            </a:r>
          </a:p>
        </p:txBody>
      </p:sp>
      <p:sp>
        <p:nvSpPr>
          <p:cNvPr id="3" name="Content Placeholder 2">
            <a:extLst>
              <a:ext uri="{FF2B5EF4-FFF2-40B4-BE49-F238E27FC236}">
                <a16:creationId xmlns:a16="http://schemas.microsoft.com/office/drawing/2014/main" id="{56552D1F-D95E-9C96-FCDD-45C833BF4AD2}"/>
              </a:ext>
            </a:extLst>
          </p:cNvPr>
          <p:cNvSpPr>
            <a:spLocks noGrp="1"/>
          </p:cNvSpPr>
          <p:nvPr>
            <p:ph idx="1"/>
          </p:nvPr>
        </p:nvSpPr>
        <p:spPr>
          <a:xfrm>
            <a:off x="381000" y="1825625"/>
            <a:ext cx="11811000" cy="4351338"/>
          </a:xfrm>
        </p:spPr>
        <p:txBody>
          <a:bodyPr/>
          <a:lstStyle/>
          <a:p>
            <a:r>
              <a:rPr lang="en-US" dirty="0"/>
              <a:t>Here are some aliases that are quite helpful:</a:t>
            </a:r>
          </a:p>
          <a:p>
            <a:pPr marL="457200" lvl="1" indent="0">
              <a:buNone/>
            </a:pPr>
            <a:r>
              <a:rPr lang="en-US" b="0" i="0" dirty="0">
                <a:solidFill>
                  <a:srgbClr val="212529"/>
                </a:solidFill>
                <a:effectLst/>
                <a:latin typeface="courier new" panose="02070309020205020404" pitchFamily="49" charset="0"/>
              </a:rPr>
              <a:t># to see info including </a:t>
            </a:r>
            <a:r>
              <a:rPr lang="en-US" b="0" i="0" dirty="0" err="1">
                <a:solidFill>
                  <a:srgbClr val="212529"/>
                </a:solidFill>
                <a:effectLst/>
                <a:latin typeface="courier new" panose="02070309020205020404" pitchFamily="49" charset="0"/>
              </a:rPr>
              <a:t>uid,gif,pgid,sid</a:t>
            </a:r>
            <a:br>
              <a:rPr lang="en-US" dirty="0"/>
            </a:br>
            <a:r>
              <a:rPr lang="en-US" b="0" i="0" dirty="0">
                <a:solidFill>
                  <a:srgbClr val="212529"/>
                </a:solidFill>
                <a:effectLst/>
                <a:latin typeface="courier new" panose="02070309020205020404" pitchFamily="49" charset="0"/>
              </a:rPr>
              <a:t>alias </a:t>
            </a:r>
            <a:r>
              <a:rPr lang="en-US" b="1" i="0" dirty="0">
                <a:solidFill>
                  <a:srgbClr val="212529"/>
                </a:solidFill>
                <a:effectLst/>
                <a:latin typeface="courier new" panose="02070309020205020404" pitchFamily="49" charset="0"/>
              </a:rPr>
              <a:t>psids</a:t>
            </a:r>
            <a:r>
              <a:rPr lang="en-US" b="0" i="0" dirty="0">
                <a:solidFill>
                  <a:srgbClr val="212529"/>
                </a:solidFill>
                <a:effectLst/>
                <a:latin typeface="courier new" panose="02070309020205020404" pitchFamily="49" charset="0"/>
              </a:rPr>
              <a:t>='</a:t>
            </a:r>
            <a:r>
              <a:rPr lang="en-US" b="0" i="0" dirty="0" err="1">
                <a:solidFill>
                  <a:srgbClr val="212529"/>
                </a:solidFill>
                <a:effectLst/>
                <a:latin typeface="courier new" panose="02070309020205020404" pitchFamily="49" charset="0"/>
              </a:rPr>
              <a:t>ps</a:t>
            </a:r>
            <a:r>
              <a:rPr lang="en-US" b="0" i="0" dirty="0">
                <a:solidFill>
                  <a:srgbClr val="212529"/>
                </a:solidFill>
                <a:effectLst/>
                <a:latin typeface="courier new" panose="02070309020205020404" pitchFamily="49" charset="0"/>
              </a:rPr>
              <a:t> </a:t>
            </a:r>
            <a:r>
              <a:rPr lang="en-US" b="0" i="0" dirty="0" err="1">
                <a:solidFill>
                  <a:srgbClr val="212529"/>
                </a:solidFill>
                <a:effectLst/>
                <a:latin typeface="courier new" panose="02070309020205020404" pitchFamily="49" charset="0"/>
              </a:rPr>
              <a:t>ao</a:t>
            </a:r>
            <a:r>
              <a:rPr lang="en-US" b="0" i="0" dirty="0">
                <a:solidFill>
                  <a:srgbClr val="212529"/>
                </a:solidFill>
                <a:effectLst/>
                <a:latin typeface="courier new" panose="02070309020205020404" pitchFamily="49" charset="0"/>
              </a:rPr>
              <a:t> </a:t>
            </a:r>
            <a:r>
              <a:rPr lang="en-US" b="0" i="0" dirty="0" err="1">
                <a:solidFill>
                  <a:srgbClr val="212529"/>
                </a:solidFill>
                <a:effectLst/>
                <a:latin typeface="courier new" panose="02070309020205020404" pitchFamily="49" charset="0"/>
              </a:rPr>
              <a:t>pid,ppid,comm,tty,stat,uid,gid,pgid,sid</a:t>
            </a:r>
            <a:r>
              <a:rPr lang="en-US" b="0" i="0" dirty="0">
                <a:solidFill>
                  <a:srgbClr val="212529"/>
                </a:solidFill>
                <a:effectLst/>
                <a:latin typeface="courier new" panose="02070309020205020404" pitchFamily="49" charset="0"/>
              </a:rPr>
              <a:t>’</a:t>
            </a:r>
          </a:p>
          <a:p>
            <a:pPr marL="457200" lvl="1" indent="0">
              <a:buNone/>
            </a:pPr>
            <a:endParaRPr lang="en-US" dirty="0">
              <a:solidFill>
                <a:srgbClr val="212529"/>
              </a:solidFill>
              <a:latin typeface="courier new" panose="02070309020205020404" pitchFamily="49" charset="0"/>
            </a:endParaRPr>
          </a:p>
          <a:p>
            <a:pPr marL="457200" lvl="1" indent="0">
              <a:buNone/>
            </a:pPr>
            <a:r>
              <a:rPr lang="en-US" b="0" i="0" dirty="0">
                <a:solidFill>
                  <a:srgbClr val="212529"/>
                </a:solidFill>
                <a:effectLst/>
                <a:latin typeface="courier new" panose="02070309020205020404" pitchFamily="49" charset="0"/>
              </a:rPr>
              <a:t># to see waiting/blocked and status info</a:t>
            </a:r>
            <a:br>
              <a:rPr lang="en-US" dirty="0"/>
            </a:br>
            <a:r>
              <a:rPr lang="en-US" b="0" i="0" dirty="0">
                <a:solidFill>
                  <a:srgbClr val="212529"/>
                </a:solidFill>
                <a:effectLst/>
                <a:latin typeface="courier new" panose="02070309020205020404" pitchFamily="49" charset="0"/>
              </a:rPr>
              <a:t>alias </a:t>
            </a:r>
            <a:r>
              <a:rPr lang="en-US" b="1" i="0" dirty="0" err="1">
                <a:solidFill>
                  <a:srgbClr val="212529"/>
                </a:solidFill>
                <a:effectLst/>
                <a:latin typeface="courier new" panose="02070309020205020404" pitchFamily="49" charset="0"/>
              </a:rPr>
              <a:t>pschan</a:t>
            </a:r>
            <a:r>
              <a:rPr lang="en-US" b="0" i="0" dirty="0">
                <a:solidFill>
                  <a:srgbClr val="212529"/>
                </a:solidFill>
                <a:effectLst/>
                <a:latin typeface="courier new" panose="02070309020205020404" pitchFamily="49" charset="0"/>
              </a:rPr>
              <a:t>="</a:t>
            </a:r>
            <a:r>
              <a:rPr lang="en-US" b="0" i="0" dirty="0" err="1">
                <a:solidFill>
                  <a:srgbClr val="212529"/>
                </a:solidFill>
                <a:effectLst/>
                <a:latin typeface="courier new" panose="02070309020205020404" pitchFamily="49" charset="0"/>
              </a:rPr>
              <a:t>ps</a:t>
            </a:r>
            <a:r>
              <a:rPr lang="en-US" b="0" i="0" dirty="0">
                <a:solidFill>
                  <a:srgbClr val="212529"/>
                </a:solidFill>
                <a:effectLst/>
                <a:latin typeface="courier new" panose="02070309020205020404" pitchFamily="49" charset="0"/>
              </a:rPr>
              <a:t> -ax -o </a:t>
            </a:r>
            <a:r>
              <a:rPr lang="en-US" b="0" i="0" dirty="0" err="1">
                <a:solidFill>
                  <a:srgbClr val="212529"/>
                </a:solidFill>
                <a:effectLst/>
                <a:latin typeface="courier new" panose="02070309020205020404" pitchFamily="49" charset="0"/>
              </a:rPr>
              <a:t>pid,stat,comm,wchan</a:t>
            </a:r>
            <a:r>
              <a:rPr lang="en-US" b="0" i="0" dirty="0">
                <a:solidFill>
                  <a:srgbClr val="212529"/>
                </a:solidFill>
                <a:effectLst/>
                <a:latin typeface="courier new" panose="02070309020205020404" pitchFamily="49" charset="0"/>
              </a:rPr>
              <a:t>"</a:t>
            </a:r>
            <a:endParaRPr lang="en-US" dirty="0"/>
          </a:p>
        </p:txBody>
      </p:sp>
    </p:spTree>
    <p:extLst>
      <p:ext uri="{BB962C8B-B14F-4D97-AF65-F5344CB8AC3E}">
        <p14:creationId xmlns:p14="http://schemas.microsoft.com/office/powerpoint/2010/main" val="40298701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Exploring processes in Linux- state and IDs(1)</a:t>
            </a:r>
          </a:p>
        </p:txBody>
      </p:sp>
      <p:sp>
        <p:nvSpPr>
          <p:cNvPr id="4" name="Content Placeholder 3"/>
          <p:cNvSpPr>
            <a:spLocks noGrp="1"/>
          </p:cNvSpPr>
          <p:nvPr>
            <p:ph idx="1"/>
          </p:nvPr>
        </p:nvSpPr>
        <p:spPr/>
        <p:txBody>
          <a:bodyPr/>
          <a:lstStyle/>
          <a:p>
            <a:r>
              <a:rPr lang="en-US" dirty="0"/>
              <a:t>Use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pschan</a:t>
            </a:r>
            <a:r>
              <a:rPr lang="en-US" dirty="0">
                <a:latin typeface="Courier New" panose="02070309020205020404" pitchFamily="49" charset="0"/>
                <a:cs typeface="Courier New" panose="02070309020205020404" pitchFamily="49" charset="0"/>
              </a:rPr>
              <a:t> </a:t>
            </a:r>
            <a:r>
              <a:rPr lang="en-US" dirty="0">
                <a:cs typeface="Courier New" panose="02070309020205020404" pitchFamily="49" charset="0"/>
              </a:rPr>
              <a:t>to see process state and perhaps what it is waiting on.</a:t>
            </a:r>
          </a:p>
          <a:p>
            <a:r>
              <a:rPr lang="en-US" dirty="0">
                <a:cs typeface="Courier New" panose="02070309020205020404" pitchFamily="49" charset="0"/>
              </a:rPr>
              <a:t>Run loopy , use  </a:t>
            </a:r>
            <a:r>
              <a:rPr lang="en-US" dirty="0">
                <a:latin typeface="Courier New" panose="02070309020205020404" pitchFamily="49" charset="0"/>
                <a:cs typeface="Courier New" panose="02070309020205020404" pitchFamily="49" charset="0"/>
              </a:rPr>
              <a:t>^Z  </a:t>
            </a:r>
            <a:r>
              <a:rPr lang="en-US" dirty="0">
                <a:cs typeface="Courier New" panose="02070309020205020404" pitchFamily="49" charset="0"/>
              </a:rPr>
              <a:t>and </a:t>
            </a:r>
            <a:r>
              <a:rPr lang="en-US" dirty="0" err="1">
                <a:latin typeface="Courier New" panose="02070309020205020404" pitchFamily="49" charset="0"/>
                <a:cs typeface="Courier New" panose="02070309020205020404" pitchFamily="49" charset="0"/>
              </a:rPr>
              <a:t>fg</a:t>
            </a:r>
            <a:r>
              <a:rPr lang="en-US" dirty="0">
                <a:cs typeface="Courier New" panose="02070309020205020404" pitchFamily="49" charset="0"/>
              </a:rPr>
              <a:t>  to toggle states and observe states</a:t>
            </a:r>
          </a:p>
          <a:p>
            <a:r>
              <a:rPr lang="en-US" dirty="0">
                <a:cs typeface="Courier New" panose="02070309020205020404" pitchFamily="49" charset="0"/>
              </a:rPr>
              <a:t>See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fork_and_termC.c</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fork_and_termP.c</a:t>
            </a:r>
            <a:r>
              <a:rPr lang="en-US" dirty="0">
                <a:latin typeface="Courier New" panose="02070309020205020404" pitchFamily="49" charset="0"/>
                <a:cs typeface="Courier New" panose="02070309020205020404" pitchFamily="49" charset="0"/>
              </a:rPr>
              <a:t>  </a:t>
            </a:r>
            <a:r>
              <a:rPr lang="en-US" dirty="0">
                <a:cs typeface="Courier New" panose="02070309020205020404" pitchFamily="49" charset="0"/>
              </a:rPr>
              <a:t>and   </a:t>
            </a:r>
            <a:r>
              <a:rPr lang="en-US" dirty="0" err="1">
                <a:latin typeface="Courier New" panose="02070309020205020404" pitchFamily="49" charset="0"/>
                <a:cs typeface="Courier New" panose="02070309020205020404" pitchFamily="49" charset="0"/>
              </a:rPr>
              <a:t>zomB.c</a:t>
            </a:r>
            <a:r>
              <a:rPr lang="en-US" dirty="0">
                <a:cs typeface="Courier New" panose="02070309020205020404" pitchFamily="49" charset="0"/>
              </a:rPr>
              <a:t>  to see state changes with </a:t>
            </a:r>
            <a:r>
              <a:rPr lang="en-US" dirty="0" err="1">
                <a:latin typeface="Courier New" panose="02070309020205020404" pitchFamily="49" charset="0"/>
                <a:cs typeface="Courier New" panose="02070309020205020404" pitchFamily="49" charset="0"/>
              </a:rPr>
              <a:t>pschan</a:t>
            </a:r>
            <a:r>
              <a:rPr lang="en-US" dirty="0">
                <a:cs typeface="Courier New" panose="02070309020205020404" pitchFamily="49" charset="0"/>
              </a:rPr>
              <a:t>, also use </a:t>
            </a:r>
            <a:r>
              <a:rPr lang="en-US" dirty="0">
                <a:latin typeface="Courier New" panose="02070309020205020404" pitchFamily="49" charset="0"/>
                <a:cs typeface="Courier New" panose="02070309020205020404" pitchFamily="49" charset="0"/>
              </a:rPr>
              <a:t>psids</a:t>
            </a:r>
            <a:r>
              <a:rPr lang="en-US" dirty="0">
                <a:cs typeface="Courier New" panose="02070309020205020404" pitchFamily="49" charset="0"/>
              </a:rPr>
              <a:t> to see process parent IDs </a:t>
            </a:r>
            <a:r>
              <a:rPr lang="en-US" dirty="0" err="1">
                <a:cs typeface="Courier New" panose="02070309020205020404" pitchFamily="49" charset="0"/>
              </a:rPr>
              <a:t>etc</a:t>
            </a:r>
            <a:r>
              <a:rPr lang="en-US" dirty="0">
                <a:cs typeface="Courier New" panose="02070309020205020404" pitchFamily="49" charset="0"/>
              </a:rPr>
              <a:t> change for orphaned process</a:t>
            </a:r>
          </a:p>
          <a:p>
            <a:r>
              <a:rPr lang="en-US" dirty="0"/>
              <a:t>Note the Ids shown by </a:t>
            </a:r>
            <a:r>
              <a:rPr lang="en-US" dirty="0">
                <a:latin typeface="Courier New" panose="02070309020205020404" pitchFamily="49" charset="0"/>
                <a:cs typeface="Courier New" panose="02070309020205020404" pitchFamily="49" charset="0"/>
              </a:rPr>
              <a:t>psids - </a:t>
            </a:r>
            <a:r>
              <a:rPr lang="en-US" dirty="0"/>
              <a:t>notion of session ID and process group ID  </a:t>
            </a:r>
          </a:p>
        </p:txBody>
      </p:sp>
    </p:spTree>
    <p:extLst>
      <p:ext uri="{BB962C8B-B14F-4D97-AF65-F5344CB8AC3E}">
        <p14:creationId xmlns:p14="http://schemas.microsoft.com/office/powerpoint/2010/main" val="36077414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Exploring processes in Linux- state and IDs(2)</a:t>
            </a:r>
          </a:p>
        </p:txBody>
      </p:sp>
      <p:sp>
        <p:nvSpPr>
          <p:cNvPr id="4" name="Content Placeholder 3"/>
          <p:cNvSpPr>
            <a:spLocks noGrp="1"/>
          </p:cNvSpPr>
          <p:nvPr>
            <p:ph idx="1"/>
          </p:nvPr>
        </p:nvSpPr>
        <p:spPr/>
        <p:txBody>
          <a:bodyPr/>
          <a:lstStyle/>
          <a:p>
            <a:r>
              <a:rPr lang="en-US" dirty="0"/>
              <a:t>Note the Ids shown by </a:t>
            </a:r>
            <a:r>
              <a:rPr lang="en-US" dirty="0">
                <a:latin typeface="Courier New" panose="02070309020205020404" pitchFamily="49" charset="0"/>
                <a:cs typeface="Courier New" panose="02070309020205020404" pitchFamily="49" charset="0"/>
              </a:rPr>
              <a:t>psids - </a:t>
            </a:r>
            <a:r>
              <a:rPr lang="en-US" dirty="0"/>
              <a:t>notion of session ID and process group ID </a:t>
            </a:r>
          </a:p>
          <a:p>
            <a:pPr lvl="1"/>
            <a:r>
              <a:rPr lang="en-US" dirty="0"/>
              <a:t>By default all process under a shell (on a separate terminal) are one session.</a:t>
            </a:r>
          </a:p>
          <a:p>
            <a:pPr lvl="2"/>
            <a:r>
              <a:rPr lang="en-US" dirty="0"/>
              <a:t>Closing a terminal normally terminates all processes in that session</a:t>
            </a:r>
          </a:p>
          <a:p>
            <a:pPr lvl="2"/>
            <a:r>
              <a:rPr lang="en-US" dirty="0"/>
              <a:t>The shell is then called the session leader and denoted by an s in the state. Its PID is then called the </a:t>
            </a:r>
            <a:r>
              <a:rPr lang="en-US" b="1" u="sng" dirty="0"/>
              <a:t>session ID</a:t>
            </a:r>
          </a:p>
          <a:p>
            <a:pPr lvl="1"/>
            <a:r>
              <a:rPr lang="en-US" dirty="0"/>
              <a:t>A command like cat filename | grep “hello”   is two processes that are on the same line – we call this a job – it is also called a process group. They share a </a:t>
            </a:r>
            <a:r>
              <a:rPr lang="en-US" b="1" dirty="0"/>
              <a:t>process group ID</a:t>
            </a:r>
            <a:r>
              <a:rPr lang="en-US" dirty="0"/>
              <a:t>.</a:t>
            </a:r>
          </a:p>
          <a:p>
            <a:pPr lvl="2"/>
            <a:r>
              <a:rPr lang="en-US" dirty="0"/>
              <a:t>When we do a </a:t>
            </a:r>
            <a:r>
              <a:rPr lang="en-US" dirty="0" err="1"/>
              <a:t>fg</a:t>
            </a:r>
            <a:r>
              <a:rPr lang="en-US" dirty="0"/>
              <a:t>,  </a:t>
            </a:r>
            <a:r>
              <a:rPr lang="en-US" dirty="0" err="1"/>
              <a:t>bg</a:t>
            </a:r>
            <a:r>
              <a:rPr lang="en-US" dirty="0"/>
              <a:t>  or a ^C, that happens for all processes in the process group.</a:t>
            </a:r>
          </a:p>
          <a:p>
            <a:pPr lvl="2"/>
            <a:endParaRPr lang="en-US" dirty="0"/>
          </a:p>
        </p:txBody>
      </p:sp>
    </p:spTree>
    <p:extLst>
      <p:ext uri="{BB962C8B-B14F-4D97-AF65-F5344CB8AC3E}">
        <p14:creationId xmlns:p14="http://schemas.microsoft.com/office/powerpoint/2010/main" val="31770394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894EE-C154-C729-0406-1FDD3D3C26B2}"/>
              </a:ext>
            </a:extLst>
          </p:cNvPr>
          <p:cNvSpPr>
            <a:spLocks noGrp="1"/>
          </p:cNvSpPr>
          <p:nvPr>
            <p:ph type="title"/>
          </p:nvPr>
        </p:nvSpPr>
        <p:spPr/>
        <p:txBody>
          <a:bodyPr/>
          <a:lstStyle/>
          <a:p>
            <a:r>
              <a:rPr lang="en-US" dirty="0"/>
              <a:t>Exploring processes in Linux- state and IDs(3)</a:t>
            </a:r>
          </a:p>
        </p:txBody>
      </p:sp>
      <p:sp>
        <p:nvSpPr>
          <p:cNvPr id="3" name="Content Placeholder 2">
            <a:extLst>
              <a:ext uri="{FF2B5EF4-FFF2-40B4-BE49-F238E27FC236}">
                <a16:creationId xmlns:a16="http://schemas.microsoft.com/office/drawing/2014/main" id="{51D74DE0-98BB-5A9A-2723-4DA9BE57FC47}"/>
              </a:ext>
            </a:extLst>
          </p:cNvPr>
          <p:cNvSpPr>
            <a:spLocks noGrp="1"/>
          </p:cNvSpPr>
          <p:nvPr>
            <p:ph idx="1"/>
          </p:nvPr>
        </p:nvSpPr>
        <p:spPr>
          <a:xfrm>
            <a:off x="838200" y="1690688"/>
            <a:ext cx="10515600" cy="5167312"/>
          </a:xfrm>
        </p:spPr>
        <p:txBody>
          <a:bodyPr>
            <a:normAutofit/>
          </a:bodyPr>
          <a:lstStyle/>
          <a:p>
            <a:r>
              <a:rPr lang="en-US" sz="2400" dirty="0"/>
              <a:t>Here is a sample output from psids run on pts/0 after running cat | grep “Hello” on pts/1</a:t>
            </a:r>
          </a:p>
          <a:p>
            <a:endParaRPr lang="en-US" sz="2400" dirty="0"/>
          </a:p>
          <a:p>
            <a:endParaRPr lang="en-US" sz="2400" dirty="0"/>
          </a:p>
          <a:p>
            <a:endParaRPr lang="en-US" sz="2400" dirty="0"/>
          </a:p>
          <a:p>
            <a:endParaRPr lang="en-US" sz="2400" dirty="0"/>
          </a:p>
          <a:p>
            <a:endParaRPr lang="en-US" sz="2400" dirty="0"/>
          </a:p>
          <a:p>
            <a:endParaRPr lang="en-US" sz="2400" dirty="0"/>
          </a:p>
          <a:p>
            <a:r>
              <a:rPr lang="en-US" sz="2400" dirty="0"/>
              <a:t>Observe processes on pts/0  and  pts/1:</a:t>
            </a:r>
          </a:p>
          <a:p>
            <a:pPr lvl="1"/>
            <a:r>
              <a:rPr lang="en-US" sz="2000" dirty="0"/>
              <a:t>How many session IDs (SIDs) are there in these jobs, which process have those session IDs</a:t>
            </a:r>
          </a:p>
          <a:p>
            <a:pPr lvl="1"/>
            <a:r>
              <a:rPr lang="en-US" sz="2000" dirty="0"/>
              <a:t>Which among these share PGIDs (Process Group IDs) – can you explain why. Also notice the state. Why do you think you see T in the STAT column</a:t>
            </a:r>
          </a:p>
        </p:txBody>
      </p:sp>
      <p:pic>
        <p:nvPicPr>
          <p:cNvPr id="7" name="Picture 6">
            <a:extLst>
              <a:ext uri="{FF2B5EF4-FFF2-40B4-BE49-F238E27FC236}">
                <a16:creationId xmlns:a16="http://schemas.microsoft.com/office/drawing/2014/main" id="{2AEC8918-7646-3DBD-1E00-6B5E02F5AD7D}"/>
              </a:ext>
            </a:extLst>
          </p:cNvPr>
          <p:cNvPicPr>
            <a:picLocks noChangeAspect="1"/>
          </p:cNvPicPr>
          <p:nvPr/>
        </p:nvPicPr>
        <p:blipFill>
          <a:blip r:embed="rId2">
            <a:extLst>
              <a:ext uri="{BEBA8EAE-BF5A-486C-A8C5-ECC9F3942E4B}">
                <a14:imgProps xmlns:a14="http://schemas.microsoft.com/office/drawing/2010/main">
                  <a14:imgLayer r:embed="rId3">
                    <a14:imgEffect>
                      <a14:saturation sat="61000"/>
                    </a14:imgEffect>
                  </a14:imgLayer>
                </a14:imgProps>
              </a:ext>
            </a:extLst>
          </a:blip>
          <a:stretch>
            <a:fillRect/>
          </a:stretch>
        </p:blipFill>
        <p:spPr>
          <a:xfrm>
            <a:off x="983210" y="2482924"/>
            <a:ext cx="10225579" cy="2684388"/>
          </a:xfrm>
          <a:prstGeom prst="rect">
            <a:avLst/>
          </a:prstGeom>
          <a:ln>
            <a:solidFill>
              <a:schemeClr val="tx1"/>
            </a:solidFill>
          </a:ln>
          <a:effectLst>
            <a:softEdge rad="12700"/>
          </a:effectLst>
        </p:spPr>
      </p:pic>
    </p:spTree>
    <p:extLst>
      <p:ext uri="{BB962C8B-B14F-4D97-AF65-F5344CB8AC3E}">
        <p14:creationId xmlns:p14="http://schemas.microsoft.com/office/powerpoint/2010/main" val="10201956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have we learnt ?</a:t>
            </a:r>
          </a:p>
        </p:txBody>
      </p:sp>
      <p:sp>
        <p:nvSpPr>
          <p:cNvPr id="3" name="Content Placeholder 2"/>
          <p:cNvSpPr>
            <a:spLocks noGrp="1"/>
          </p:cNvSpPr>
          <p:nvPr>
            <p:ph idx="1"/>
          </p:nvPr>
        </p:nvSpPr>
        <p:spPr/>
        <p:txBody>
          <a:bodyPr>
            <a:normAutofit fontScale="92500" lnSpcReduction="10000"/>
          </a:bodyPr>
          <a:lstStyle/>
          <a:p>
            <a:r>
              <a:rPr lang="en-US" dirty="0"/>
              <a:t>Processes can be managed (created, destroyed) using system calls</a:t>
            </a:r>
          </a:p>
          <a:p>
            <a:r>
              <a:rPr lang="en-US" dirty="0"/>
              <a:t>Process details can be discovered using </a:t>
            </a:r>
            <a:r>
              <a:rPr lang="en-US" dirty="0">
                <a:latin typeface="Courier New" panose="02070309020205020404" pitchFamily="49" charset="0"/>
                <a:cs typeface="Courier New" panose="02070309020205020404" pitchFamily="49" charset="0"/>
              </a:rPr>
              <a:t> ps </a:t>
            </a:r>
            <a:r>
              <a:rPr lang="en-US" dirty="0"/>
              <a:t> on Linux</a:t>
            </a:r>
          </a:p>
          <a:p>
            <a:r>
              <a:rPr lang="en-US" dirty="0"/>
              <a:t>Processes have a priority that can be changed</a:t>
            </a:r>
          </a:p>
          <a:p>
            <a:r>
              <a:rPr lang="en-US" dirty="0"/>
              <a:t>CPU has two modes (user and kernel) mode, </a:t>
            </a:r>
          </a:p>
          <a:p>
            <a:r>
              <a:rPr lang="en-US" dirty="0"/>
              <a:t>System calls, exceptions and hardware interrupts takes us between these modes  -  </a:t>
            </a:r>
            <a:r>
              <a:rPr lang="en-US" i="1" dirty="0"/>
              <a:t> context switch</a:t>
            </a:r>
          </a:p>
          <a:p>
            <a:r>
              <a:rPr lang="en-US" dirty="0"/>
              <a:t>We understand how a system call works</a:t>
            </a:r>
          </a:p>
          <a:p>
            <a:r>
              <a:rPr lang="en-US" dirty="0"/>
              <a:t>We know that a process can be in one of </a:t>
            </a:r>
            <a:r>
              <a:rPr lang="en-US"/>
              <a:t>these states: </a:t>
            </a:r>
            <a:r>
              <a:rPr lang="en-US" dirty="0"/>
              <a:t>Ready, Running, Blocked, Terminated.</a:t>
            </a:r>
          </a:p>
          <a:p>
            <a:r>
              <a:rPr lang="en-US" dirty="0"/>
              <a:t>We saw some programming experiments to understand these concepts.</a:t>
            </a:r>
          </a:p>
          <a:p>
            <a:endParaRPr lang="en-US" dirty="0"/>
          </a:p>
        </p:txBody>
      </p:sp>
    </p:spTree>
    <p:extLst>
      <p:ext uri="{BB962C8B-B14F-4D97-AF65-F5344CB8AC3E}">
        <p14:creationId xmlns:p14="http://schemas.microsoft.com/office/powerpoint/2010/main" val="19066990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22477</TotalTime>
  <Words>3191</Words>
  <Application>Microsoft Office PowerPoint</Application>
  <PresentationFormat>Widescreen</PresentationFormat>
  <Paragraphs>462</Paragraphs>
  <Slides>37</Slides>
  <Notes>4</Notes>
  <HiddenSlides>5</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37</vt:i4>
      </vt:variant>
    </vt:vector>
  </HeadingPairs>
  <TitlesOfParts>
    <vt:vector size="46" baseType="lpstr">
      <vt:lpstr>Arial</vt:lpstr>
      <vt:lpstr>Calibri</vt:lpstr>
      <vt:lpstr>Calibri Light</vt:lpstr>
      <vt:lpstr>courier new</vt:lpstr>
      <vt:lpstr>courier new</vt:lpstr>
      <vt:lpstr>Garamond</vt:lpstr>
      <vt:lpstr>Times New Roman</vt:lpstr>
      <vt:lpstr>Wingdings</vt:lpstr>
      <vt:lpstr>Office Theme</vt:lpstr>
      <vt:lpstr>Process Management</vt:lpstr>
      <vt:lpstr>What we will cover</vt:lpstr>
      <vt:lpstr>Examining a process</vt:lpstr>
      <vt:lpstr>General Concept: Policy vs Mechanism</vt:lpstr>
      <vt:lpstr>Process management APIs</vt:lpstr>
      <vt:lpstr>Process management APIs (more) </vt:lpstr>
      <vt:lpstr>Linux: Processes, Process Groups, session, session leader, tty, foreground process-group etc.</vt:lpstr>
      <vt:lpstr>Process priority – in Linux all regular processes have a ‘nice value’</vt:lpstr>
      <vt:lpstr>Kernel and user mode</vt:lpstr>
      <vt:lpstr>Experiment: Forcing a program to spend more time in User mode or kernel mode</vt:lpstr>
      <vt:lpstr>A little experiment</vt:lpstr>
      <vt:lpstr>Mechanism:   Kernel and User mode CPU states</vt:lpstr>
      <vt:lpstr>Why programs make system calls?</vt:lpstr>
      <vt:lpstr>Switching between kernel and user mode</vt:lpstr>
      <vt:lpstr>About system calls (syscall in x86-64)</vt:lpstr>
      <vt:lpstr>How are multiple system calls handled (Linux)</vt:lpstr>
      <vt:lpstr>More about the system call(syscall in x86-64)</vt:lpstr>
      <vt:lpstr>Aside: Browse Linux kernel source</vt:lpstr>
      <vt:lpstr>Understanding HW-SW interface</vt:lpstr>
      <vt:lpstr>A simplified syscall handling mechanism</vt:lpstr>
      <vt:lpstr>Context Switching</vt:lpstr>
      <vt:lpstr>Context Switching</vt:lpstr>
      <vt:lpstr>INT or older alternate to syscall</vt:lpstr>
      <vt:lpstr>Syscall table in Linux</vt:lpstr>
      <vt:lpstr>Recall PCB: Process information and process context of a running process</vt:lpstr>
      <vt:lpstr>Kernel and user mode context</vt:lpstr>
      <vt:lpstr>Context Switching</vt:lpstr>
      <vt:lpstr>Process states</vt:lpstr>
      <vt:lpstr>Process states</vt:lpstr>
      <vt:lpstr>Process states and transitions</vt:lpstr>
      <vt:lpstr>Terminated state and zombie processes</vt:lpstr>
      <vt:lpstr>Orphaned processes</vt:lpstr>
      <vt:lpstr>Exploring processes in Linux</vt:lpstr>
      <vt:lpstr>Exploring processes in Linux- state and IDs(1)</vt:lpstr>
      <vt:lpstr>Exploring processes in Linux- state and IDs(2)</vt:lpstr>
      <vt:lpstr>Exploring processes in Linux- state and IDs(3)</vt:lpstr>
      <vt:lpstr>What have we learnt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Process Management</dc:title>
  <dc:creator>Badrinath R</dc:creator>
  <cp:lastModifiedBy>Badrinath R</cp:lastModifiedBy>
  <cp:revision>133</cp:revision>
  <dcterms:created xsi:type="dcterms:W3CDTF">2022-02-02T12:58:27Z</dcterms:created>
  <dcterms:modified xsi:type="dcterms:W3CDTF">2026-01-29T07:24:31Z</dcterms:modified>
</cp:coreProperties>
</file>